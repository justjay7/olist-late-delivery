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media/image10.svg" ContentType="image/svg+xml"/>
  <Override PartName="/ppt/media/image14.svg" ContentType="image/svg+xml"/>
  <Override PartName="/ppt/media/image16.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18"/>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Lst>
  <p:sldSz cx="18288000" cy="10287000"/>
  <p:notesSz cx="6858000" cy="9144000"/>
  <p:embeddedFontLst>
    <p:embeddedFont>
      <p:font typeface="Berthold Block" charset="1" panose="02000506040000020004"/>
      <p:regular r:id="rId16"/>
    </p:embeddedFont>
    <p:embeddedFont>
      <p:font typeface="Asap Condensed" charset="1" panose="020F0506030202060203"/>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1–2★ share</c:v>
                </c:pt>
              </c:strCache>
            </c:strRef>
          </c:tx>
          <c:spPr>
            <a:solidFill>
              <a:srgbClr val="69D6B6"/>
            </a:solidFill>
            <a:ln>
              <a:noFill/>
            </a:ln>
          </c:spPr>
          <c:dPt>
            <c:idx val="1"/>
            <c:spPr>
              <a:solidFill>
                <a:srgbClr val="3669E8"/>
              </a:solidFill>
            </c:spPr>
          </c:dPt>
          <c:dLbls>
            <c:numFmt formatCode="0.0%" sourceLinked="0"/>
            <c:txPr>
              <a:bodyPr/>
              <a:lstStyle/>
              <a:p>
                <a:pPr>
                  <a:defRPr sz="2600" b="1">
                    <a:solidFill>
                      <a:srgbClr val="111111"/>
                    </a:solidFill>
                  </a:defRPr>
                </a:pPr>
              </a:p>
            </c:txPr>
            <c:dLblPos val="outEnd"/>
            <c:showLegendKey val="0"/>
            <c:showVal val="1"/>
            <c:showCatName val="0"/>
            <c:showSerName val="0"/>
            <c:showPercent val="0"/>
            <c:showBubbleSize val="0"/>
            <c:showLeaderLines val="1"/>
          </c:dLbls>
          <c:cat>
            <c:strRef>
              <c:f>Sheet1!$A$2:$A$3</c:f>
              <c:strCache>
                <c:ptCount val="2"/>
                <c:pt idx="0">
                  <c:v>On time</c:v>
                </c:pt>
                <c:pt idx="1">
                  <c:v>Late</c:v>
                </c:pt>
              </c:strCache>
            </c:strRef>
          </c:cat>
          <c:val>
            <c:numRef>
              <c:f>Sheet1!$B$2:$B$3</c:f>
              <c:numCache>
                <c:formatCode>General</c:formatCode>
                <c:ptCount val="2"/>
                <c:pt idx="0">
                  <c:v>0.093</c:v>
                </c:pt>
                <c:pt idx="1">
                  <c:v>0.625</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2000" b="1"/>
            </a:pPr>
          </a:p>
        </c:txPr>
        <c:crossAx val="-2113994440"/>
        <c:crosses val="autoZero"/>
        <c:auto val="1"/>
        <c:lblAlgn val="ctr"/>
        <c:lblOffset val="100"/>
        <c:noMultiLvlLbl val="0"/>
      </c:catAx>
      <c:valAx>
        <c:axId val="-2113994440"/>
        <c:scaling>
          <c:max val="0.75"/>
          <c:min val="0.0"/>
        </c:scaling>
        <c:delete/>
        <c:axPos val="l"/>
        <c:majorTickMark val="out"/>
        <c:minorTickMark val="none"/>
        <c:tickLblPos val="nextTo"/>
        <c:spPr>
          <a:ln>
            <a:noFill/>
          </a:ln>
        </c:spPr>
        <c:crossAx val="-2068027336"/>
        <c:crosses val="autoZero"/>
      </c:valAx>
    </c:plotArea>
    <c:dispBlanksAs val="gap"/>
  </c:chart>
  <c:txPr>
    <a:bodyPr/>
    <a:lstStyle/>
    <a:p>
      <a:pPr>
        <a:defRPr sz="1800">
          <a:solidFill>
            <a:srgbClr val="11111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Training period</c:v>
                </c:pt>
              </c:strCache>
            </c:strRef>
          </c:tx>
          <c:spPr>
            <a:ln w="44450">
              <a:solidFill>
                <a:srgbClr val="3669E8"/>
              </a:solidFill>
            </a:ln>
          </c:spPr>
          <c:marker>
            <c:symbol val="circle"/>
            <c:size val="9"/>
            <c:spPr>
              <a:solidFill>
                <a:srgbClr val="3669E8"/>
              </a:solidFill>
              <a:ln>
                <a:solidFill>
                  <a:srgbClr val="3669E8"/>
                </a:solidFill>
              </a:ln>
            </c:spPr>
          </c:marker>
          <c:dLbls>
            <c:dLbl>
              <c:idx val="10"/>
              <c:tx>
                <c:rich>
                  <a:bodyPr/>
                  <a:lstStyle/>
                  <a:p>
                    <a:r>
                      <a:rPr sz="1800" b="1">
                        <a:solidFill>
                          <a:srgbClr val="111111"/>
                        </a:solidFill>
                      </a:rPr>
                      <a:t>12.4%</a:t>
                    </a:r>
                  </a:p>
                </c:rich>
              </c:tx>
              <c:dLblPos val="t"/>
              <c:showLegendKey val="0"/>
              <c:showVal val="1"/>
              <c:showCatName val="0"/>
              <c:showSerName val="0"/>
              <c:showPercent val="0"/>
              <c:showBubbleSize val="0"/>
            </c:dLbl>
            <c:dLbl>
              <c:idx val="13"/>
              <c:tx>
                <c:rich>
                  <a:bodyPr/>
                  <a:lstStyle/>
                  <a:p>
                    <a:r>
                      <a:rPr sz="1800" b="1">
                        <a:solidFill>
                          <a:srgbClr val="111111"/>
                        </a:solidFill>
                      </a:rPr>
                      <a:t>14.1%</a:t>
                    </a:r>
                  </a:p>
                </c:rich>
              </c:tx>
              <c:dLblPos val="l"/>
              <c:showLegendKey val="0"/>
              <c:showVal val="1"/>
              <c:showCatName val="0"/>
              <c:showSerName val="0"/>
              <c:showPercent val="0"/>
              <c:showBubbleSize val="0"/>
            </c:dLbl>
            <c:dLbl>
              <c:idx val="14"/>
              <c:tx>
                <c:rich>
                  <a:bodyPr/>
                  <a:lstStyle/>
                  <a:p>
                    <a:r>
                      <a:rPr sz="1800" b="1">
                        <a:solidFill>
                          <a:srgbClr val="111111"/>
                        </a:solidFill>
                      </a:rPr>
                      <a:t>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Sheet1!$B$2:$B$20</c:f>
              <c:numCache>
                <c:formatCode>General</c:formatCode>
                <c:ptCount val="19"/>
                <c:pt idx="0">
                  <c:v>0.0294</c:v>
                </c:pt>
                <c:pt idx="1">
                  <c:v>0.0299</c:v>
                </c:pt>
                <c:pt idx="2">
                  <c:v>0.0456</c:v>
                </c:pt>
                <c:pt idx="3">
                  <c:v>0.0656</c:v>
                </c:pt>
                <c:pt idx="4">
                  <c:v>0.0299</c:v>
                </c:pt>
                <c:pt idx="5">
                  <c:v>0.0303</c:v>
                </c:pt>
                <c:pt idx="6">
                  <c:v>0.0279</c:v>
                </c:pt>
                <c:pt idx="7">
                  <c:v>0.0291</c:v>
                </c:pt>
                <c:pt idx="8">
                  <c:v>0.0439</c:v>
                </c:pt>
                <c:pt idx="9">
                  <c:v>0.0418</c:v>
                </c:pt>
                <c:pt idx="10">
                  <c:v>0.124</c:v>
                </c:pt>
                <c:pt idx="11">
                  <c:v>0.0746</c:v>
                </c:pt>
                <c:pt idx="12">
                  <c:v>0.057</c:v>
                </c:pt>
                <c:pt idx="13">
                  <c:v>0.1413</c:v>
                </c:pt>
                <c:pt idx="14">
                  <c:v>0.1897</c:v>
                </c:pt>
              </c:numCache>
            </c:numRef>
          </c:val>
          <c:smooth val="0"/>
        </c:ser>
        <c:ser>
          <c:idx val="1"/>
          <c:order val="1"/>
          <c:tx>
            <c:strRef>
              <c:f>Sheet1!$C$1</c:f>
              <c:strCache>
                <c:ptCount val="1"/>
                <c:pt idx="0">
                  <c:v>Test period</c:v>
                </c:pt>
              </c:strCache>
            </c:strRef>
          </c:tx>
          <c:spPr>
            <a:ln w="44450">
              <a:solidFill>
                <a:srgbClr val="69D6B6"/>
              </a:solidFill>
            </a:ln>
          </c:spPr>
          <c:marker>
            <c:symbol val="circle"/>
            <c:size val="9"/>
            <c:spPr>
              <a:solidFill>
                <a:srgbClr val="69D6B6"/>
              </a:solidFill>
              <a:ln>
                <a:solidFill>
                  <a:srgbClr val="69D6B6"/>
                </a:solidFill>
              </a:ln>
            </c:spPr>
          </c:marker>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Sheet1!$C$2:$C$20</c:f>
              <c:numCache>
                <c:formatCode>General</c:formatCode>
                <c:ptCount val="19"/>
                <c:pt idx="15">
                  <c:v>0.045</c:v>
                </c:pt>
                <c:pt idx="16">
                  <c:v>0.0657</c:v>
                </c:pt>
                <c:pt idx="17">
                  <c:v>0.012</c:v>
                </c:pt>
                <c:pt idx="18">
                  <c:v>0.0296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111111"/>
            </a:solidFill>
          </a:ln>
        </c:spPr>
        <c:txPr>
          <a:bodyPr/>
          <a:lstStyle/>
          <a:p>
            <a:pPr>
              <a:defRPr sz="1300"/>
            </a:pPr>
          </a:p>
        </c:txPr>
        <c:crossAx val="2140495176"/>
        <c:crosses val="autoZero"/>
        <c:auto val="1"/>
        <c:lblAlgn val="ctr"/>
        <c:lblOffset val="100"/>
        <c:noMultiLvlLbl val="0"/>
      </c:catAx>
      <c:valAx>
        <c:axId val="2140495176"/>
        <c:scaling>
          <c:max val="0.22"/>
          <c:min val="0.0"/>
        </c:scaling>
        <c:delete val="0"/>
        <c:axPos val="l"/>
        <c:majorGridlines>
          <c:spPr>
            <a:ln>
              <a:solidFill>
                <a:srgbClr val="E3E6EF"/>
              </a:solidFill>
            </a:ln>
          </c:spPr>
        </c:majorGridlines>
        <c:numFmt formatCode="0%" sourceLinked="0"/>
        <c:majorTickMark val="out"/>
        <c:minorTickMark val="none"/>
        <c:tickLblPos val="nextTo"/>
        <c:spPr>
          <a:ln>
            <a:noFill/>
          </a:ln>
        </c:spPr>
        <c:crossAx val="2118791784"/>
        <c:crosses val="autoZero"/>
        <c:majorUnit val="0.05"/>
      </c:valAx>
    </c:plotArea>
    <c:legend>
      <c:legendPos val="t"/>
      <c:layout/>
      <c:overlay val="0"/>
      <c:txPr>
        <a:bodyPr/>
        <a:lstStyle/>
        <a:p>
          <a:pPr>
            <a:defRPr sz="1600"/>
          </a:pPr>
        </a:p>
      </c:txPr>
    </c:legend>
    <c:plotVisOnly val="1"/>
    <c:dispBlanksAs val="gap"/>
    <c:showDLblsOverMax val="0"/>
  </c:chart>
  <c:txPr>
    <a:bodyPr/>
    <a:lstStyle/>
    <a:p>
      <a:pPr>
        <a:defRPr sz="1500">
          <a:solidFill>
            <a:srgbClr val="111111"/>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Lift</c:v>
                </c:pt>
              </c:strCache>
            </c:strRef>
          </c:tx>
          <c:spPr>
            <a:solidFill>
              <a:srgbClr val="3669E8"/>
            </a:solidFill>
            <a:ln>
              <a:noFill/>
            </a:ln>
          </c:spPr>
          <c:dPt>
            <c:idx val="0"/>
            <c:spPr>
              <a:solidFill>
                <a:srgbClr val="3669E8"/>
              </a:solidFill>
            </c:spPr>
          </c:dPt>
          <c:dPt>
            <c:idx val="1"/>
            <c:spPr>
              <a:solidFill>
                <a:srgbClr val="3669E8"/>
              </a:solidFill>
            </c:spPr>
          </c:dPt>
          <c:dPt>
            <c:idx val="2"/>
            <c:spPr>
              <a:solidFill>
                <a:srgbClr val="111111"/>
              </a:solidFill>
            </c:spPr>
          </c:dPt>
          <c:dPt>
            <c:idx val="3"/>
            <c:spPr>
              <a:solidFill>
                <a:srgbClr val="3669E8"/>
              </a:solidFill>
            </c:spPr>
          </c:dPt>
          <c:dPt>
            <c:idx val="4"/>
            <c:spPr>
              <a:solidFill>
                <a:srgbClr val="69D6B6"/>
              </a:solidFill>
            </c:spPr>
          </c:dPt>
          <c:dPt>
            <c:idx val="5"/>
            <c:spPr>
              <a:solidFill>
                <a:srgbClr val="69D6B6"/>
              </a:solidFill>
            </c:spPr>
          </c:dPt>
          <c:dPt>
            <c:idx val="6"/>
            <c:spPr>
              <a:solidFill>
                <a:srgbClr val="B5CAFF"/>
              </a:solidFill>
            </c:spPr>
          </c:dPt>
          <c:dPt>
            <c:idx val="7"/>
            <c:spPr>
              <a:solidFill>
                <a:srgbClr val="69D6B6"/>
              </a:solidFill>
            </c:spPr>
          </c:dPt>
          <c:dPt>
            <c:idx val="8"/>
            <c:spPr>
              <a:solidFill>
                <a:srgbClr val="111111"/>
              </a:solidFill>
            </c:spPr>
          </c:dPt>
          <c:dLbls>
            <c:dLbl>
              <c:idx val="0"/>
              <c:tx>
                <c:rich>
                  <a:bodyPr/>
                  <a:lstStyle/>
                  <a:p>
                    <a:r>
                      <a:rPr sz="1600" b="1">
                        <a:solidFill>
                          <a:srgbClr val="111111"/>
                        </a:solidFill>
                      </a:rPr>
                      <a:t>1.81 ± 0.21</a:t>
                    </a:r>
                  </a:p>
                </c:rich>
              </c:tx>
              <c:dLblPos val="outEnd"/>
              <c:showLegendKey val="0"/>
              <c:showVal val="1"/>
              <c:showCatName val="0"/>
              <c:showSerName val="0"/>
              <c:showPercent val="0"/>
              <c:showBubbleSize val="0"/>
            </c:dLbl>
            <c:dLbl>
              <c:idx val="1"/>
              <c:tx>
                <c:rich>
                  <a:bodyPr/>
                  <a:lstStyle/>
                  <a:p>
                    <a:r>
                      <a:rPr sz="1600" b="1">
                        <a:solidFill>
                          <a:srgbClr val="111111"/>
                        </a:solidFill>
                      </a:rPr>
                      <a:t>1.81 ± 0.19</a:t>
                    </a:r>
                  </a:p>
                </c:rich>
              </c:tx>
              <c:dLblPos val="outEnd"/>
              <c:showLegendKey val="0"/>
              <c:showVal val="1"/>
              <c:showCatName val="0"/>
              <c:showSerName val="0"/>
              <c:showPercent val="0"/>
              <c:showBubbleSize val="0"/>
            </c:dLbl>
            <c:dLbl>
              <c:idx val="2"/>
              <c:tx>
                <c:rich>
                  <a:bodyPr/>
                  <a:lstStyle/>
                  <a:p>
                    <a:r>
                      <a:rPr sz="1600" b="1">
                        <a:solidFill>
                          <a:srgbClr val="111111"/>
                        </a:solidFill>
                      </a:rPr>
                      <a:t>1.76 ± 0.35</a:t>
                    </a:r>
                  </a:p>
                </c:rich>
              </c:tx>
              <c:dLblPos val="outEnd"/>
              <c:showLegendKey val="0"/>
              <c:showVal val="1"/>
              <c:showCatName val="0"/>
              <c:showSerName val="0"/>
              <c:showPercent val="0"/>
              <c:showBubbleSize val="0"/>
            </c:dLbl>
            <c:dLbl>
              <c:idx val="3"/>
              <c:tx>
                <c:rich>
                  <a:bodyPr/>
                  <a:lstStyle/>
                  <a:p>
                    <a:r>
                      <a:rPr sz="1600" b="1">
                        <a:solidFill>
                          <a:srgbClr val="111111"/>
                        </a:solidFill>
                      </a:rPr>
                      <a:t>1.76 ± 0.26</a:t>
                    </a:r>
                  </a:p>
                </c:rich>
              </c:tx>
              <c:dLblPos val="outEnd"/>
              <c:showLegendKey val="0"/>
              <c:showVal val="1"/>
              <c:showCatName val="0"/>
              <c:showSerName val="0"/>
              <c:showPercent val="0"/>
              <c:showBubbleSize val="0"/>
            </c:dLbl>
            <c:dLbl>
              <c:idx val="4"/>
              <c:tx>
                <c:rich>
                  <a:bodyPr/>
                  <a:lstStyle/>
                  <a:p>
                    <a:r>
                      <a:rPr sz="1600" b="1">
                        <a:solidFill>
                          <a:srgbClr val="111111"/>
                        </a:solidFill>
                      </a:rPr>
                      <a:t>1.61 ± 0.16</a:t>
                    </a:r>
                  </a:p>
                </c:rich>
              </c:tx>
              <c:dLblPos val="outEnd"/>
              <c:showLegendKey val="0"/>
              <c:showVal val="1"/>
              <c:showCatName val="0"/>
              <c:showSerName val="0"/>
              <c:showPercent val="0"/>
              <c:showBubbleSize val="0"/>
            </c:dLbl>
            <c:dLbl>
              <c:idx val="5"/>
              <c:tx>
                <c:rich>
                  <a:bodyPr/>
                  <a:lstStyle/>
                  <a:p>
                    <a:r>
                      <a:rPr sz="1600" b="1">
                        <a:solidFill>
                          <a:srgbClr val="111111"/>
                        </a:solidFill>
                      </a:rPr>
                      <a:t>1.54 ± 0.24</a:t>
                    </a:r>
                  </a:p>
                </c:rich>
              </c:tx>
              <c:dLblPos val="outEnd"/>
              <c:showLegendKey val="0"/>
              <c:showVal val="1"/>
              <c:showCatName val="0"/>
              <c:showSerName val="0"/>
              <c:showPercent val="0"/>
              <c:showBubbleSize val="0"/>
            </c:dLbl>
            <c:dLbl>
              <c:idx val="6"/>
              <c:tx>
                <c:rich>
                  <a:bodyPr/>
                  <a:lstStyle/>
                  <a:p>
                    <a:r>
                      <a:rPr sz="1600" b="1">
                        <a:solidFill>
                          <a:srgbClr val="111111"/>
                        </a:solidFill>
                      </a:rPr>
                      <a:t>1.37 ± 0.11</a:t>
                    </a:r>
                  </a:p>
                </c:rich>
              </c:tx>
              <c:dLblPos val="outEnd"/>
              <c:showLegendKey val="0"/>
              <c:showVal val="1"/>
              <c:showCatName val="0"/>
              <c:showSerName val="0"/>
              <c:showPercent val="0"/>
              <c:showBubbleSize val="0"/>
            </c:dLbl>
            <c:dLbl>
              <c:idx val="7"/>
              <c:tx>
                <c:rich>
                  <a:bodyPr/>
                  <a:lstStyle/>
                  <a:p>
                    <a:r>
                      <a:rPr sz="1600" b="1">
                        <a:solidFill>
                          <a:srgbClr val="111111"/>
                        </a:solidFill>
                      </a:rPr>
                      <a:t>1.25 ± 0.16</a:t>
                    </a:r>
                  </a:p>
                </c:rich>
              </c:tx>
              <c:dLblPos val="outEnd"/>
              <c:showLegendKey val="0"/>
              <c:showVal val="1"/>
              <c:showCatName val="0"/>
              <c:showSerName val="0"/>
              <c:showPercent val="0"/>
              <c:showBubbleSize val="0"/>
            </c:dLbl>
            <c:dLbl>
              <c:idx val="8"/>
              <c:tx>
                <c:rich>
                  <a:bodyPr/>
                  <a:lstStyle/>
                  <a:p>
                    <a:r>
                      <a:rPr sz="1600" b="1">
                        <a:solidFill>
                          <a:srgbClr val="111111"/>
                        </a:solidFill>
                      </a:rPr>
                      <a:t>1.00 ± 0.03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Logistic regression</c:v>
                </c:pt>
                <c:pt idx="1">
                  <c:v>Logistic reg., balanced</c:v>
                </c:pt>
                <c:pt idx="2">
                  <c:v>B1: 2-feature baseline</c:v>
                </c:pt>
                <c:pt idx="3">
                  <c:v>Linear SVM</c:v>
                </c:pt>
                <c:pt idx="4">
                  <c:v>Random forest</c:v>
                </c:pt>
                <c:pt idx="5">
                  <c:v>Gradient boosting</c:v>
                </c:pt>
                <c:pt idx="6">
                  <c:v>Naive Bayes</c:v>
                </c:pt>
                <c:pt idx="7">
                  <c:v>Decision tree</c:v>
                </c:pt>
                <c:pt idx="8">
                  <c:v>B0: random</c:v>
                </c:pt>
              </c:strCache>
            </c:strRef>
          </c:cat>
          <c:val>
            <c:numRef>
              <c:f>Sheet1!$B$2:$B$10</c:f>
              <c:numCache>
                <c:formatCode>General</c:formatCode>
                <c:ptCount val="9"/>
                <c:pt idx="0">
                  <c:v>1.81</c:v>
                </c:pt>
                <c:pt idx="1">
                  <c:v>1.81</c:v>
                </c:pt>
                <c:pt idx="2">
                  <c:v>1.76</c:v>
                </c:pt>
                <c:pt idx="3">
                  <c:v>1.76</c:v>
                </c:pt>
                <c:pt idx="4">
                  <c:v>1.61</c:v>
                </c:pt>
                <c:pt idx="5">
                  <c:v>1.54</c:v>
                </c:pt>
                <c:pt idx="6">
                  <c:v>1.37</c:v>
                </c:pt>
                <c:pt idx="7">
                  <c:v>1.25</c:v>
                </c:pt>
                <c:pt idx="8">
                  <c:v>1.0</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1600"/>
            </a:pPr>
          </a:p>
        </c:txPr>
        <c:crossAx val="-2113994440"/>
        <c:crosses val="autoZero"/>
        <c:auto val="1"/>
        <c:lblAlgn val="ctr"/>
        <c:lblOffset val="100"/>
        <c:noMultiLvlLbl val="0"/>
      </c:catAx>
      <c:valAx>
        <c:axId val="-2113994440"/>
        <c:scaling>
          <c:max val="2.6"/>
          <c:min val="0.0"/>
        </c:scaling>
        <c:delete/>
        <c:axPos val="b"/>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Lift</c:v>
                </c:pt>
              </c:strCache>
            </c:strRef>
          </c:tx>
          <c:spPr>
            <a:solidFill>
              <a:srgbClr val="B5CAFF"/>
            </a:solidFill>
            <a:ln>
              <a:noFill/>
            </a:ln>
          </c:spPr>
          <c:dPt>
            <c:idx val="0"/>
            <c:spPr>
              <a:solidFill>
                <a:srgbClr val="B5CAFF"/>
              </a:solidFill>
            </c:spPr>
          </c:dPt>
          <c:dPt>
            <c:idx val="1"/>
            <c:spPr>
              <a:solidFill>
                <a:srgbClr val="B5CAFF"/>
              </a:solidFill>
            </c:spPr>
          </c:dPt>
          <c:dPt>
            <c:idx val="2"/>
            <c:spPr>
              <a:solidFill>
                <a:srgbClr val="3669E8"/>
              </a:solidFill>
            </c:spPr>
          </c:dPt>
          <c:dPt>
            <c:idx val="3"/>
            <c:spPr>
              <a:solidFill>
                <a:srgbClr val="69D6B6"/>
              </a:solidFill>
            </c:spPr>
          </c:dPt>
          <c:dPt>
            <c:idx val="4"/>
            <c:spPr>
              <a:solidFill>
                <a:srgbClr val="69D6B6"/>
              </a:solidFill>
            </c:spPr>
          </c:dPt>
          <c:dLbls>
            <c:dLbl>
              <c:idx val="0"/>
              <c:tx>
                <c:rich>
                  <a:bodyPr/>
                  <a:lstStyle/>
                  <a:p>
                    <a:r>
                      <a:rPr sz="1700" b="1">
                        <a:solidFill>
                          <a:srgbClr val="111111"/>
                        </a:solidFill>
                      </a:rPr>
                      <a:t>1.81 ± 0.21</a:t>
                    </a:r>
                  </a:p>
                </c:rich>
              </c:tx>
              <c:dLblPos val="outEnd"/>
              <c:showLegendKey val="0"/>
              <c:showVal val="1"/>
              <c:showCatName val="0"/>
              <c:showSerName val="0"/>
              <c:showPercent val="0"/>
              <c:showBubbleSize val="0"/>
            </c:dLbl>
            <c:dLbl>
              <c:idx val="1"/>
              <c:tx>
                <c:rich>
                  <a:bodyPr/>
                  <a:lstStyle/>
                  <a:p>
                    <a:r>
                      <a:rPr sz="1700" b="1">
                        <a:solidFill>
                          <a:srgbClr val="111111"/>
                        </a:solidFill>
                      </a:rPr>
                      <a:t>1.87 ± 0.21</a:t>
                    </a:r>
                  </a:p>
                </c:rich>
              </c:tx>
              <c:dLblPos val="outEnd"/>
              <c:showLegendKey val="0"/>
              <c:showVal val="1"/>
              <c:showCatName val="0"/>
              <c:showSerName val="0"/>
              <c:showPercent val="0"/>
              <c:showBubbleSize val="0"/>
            </c:dLbl>
            <c:dLbl>
              <c:idx val="2"/>
              <c:tx>
                <c:rich>
                  <a:bodyPr/>
                  <a:lstStyle/>
                  <a:p>
                    <a:r>
                      <a:rPr sz="1700" b="1">
                        <a:solidFill>
                          <a:srgbClr val="111111"/>
                        </a:solidFill>
                      </a:rPr>
                      <a:t>1.98 ± 0.24</a:t>
                    </a:r>
                  </a:p>
                </c:rich>
              </c:tx>
              <c:dLblPos val="outEnd"/>
              <c:showLegendKey val="0"/>
              <c:showVal val="1"/>
              <c:showCatName val="0"/>
              <c:showSerName val="0"/>
              <c:showPercent val="0"/>
              <c:showBubbleSize val="0"/>
            </c:dLbl>
            <c:dLbl>
              <c:idx val="3"/>
              <c:tx>
                <c:rich>
                  <a:bodyPr/>
                  <a:lstStyle/>
                  <a:p>
                    <a:r>
                      <a:rPr sz="1700" b="1">
                        <a:solidFill>
                          <a:srgbClr val="111111"/>
                        </a:solidFill>
                      </a:rPr>
                      <a:t>1.80 ± 0.30</a:t>
                    </a:r>
                  </a:p>
                </c:rich>
              </c:tx>
              <c:dLblPos val="outEnd"/>
              <c:showLegendKey val="0"/>
              <c:showVal val="1"/>
              <c:showCatName val="0"/>
              <c:showSerName val="0"/>
              <c:showPercent val="0"/>
              <c:showBubbleSize val="0"/>
            </c:dLbl>
            <c:dLbl>
              <c:idx val="4"/>
              <c:tx>
                <c:rich>
                  <a:bodyPr/>
                  <a:lstStyle/>
                  <a:p>
                    <a:r>
                      <a:rPr sz="1700" b="1">
                        <a:solidFill>
                          <a:srgbClr val="111111"/>
                        </a:solidFill>
                      </a:rPr>
                      <a:t>1.79 ± 0.28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LR, untuned</c:v>
                </c:pt>
                <c:pt idx="1">
                  <c:v>LR, tuned</c:v>
                </c:pt>
                <c:pt idx="2">
                  <c:v>LR, tuned, no month</c:v>
                </c:pt>
                <c:pt idx="3">
                  <c:v>Random forest, tuned, no month</c:v>
                </c:pt>
                <c:pt idx="4">
                  <c:v>Gradient boosting, tuned, no month</c:v>
                </c:pt>
              </c:strCache>
            </c:strRef>
          </c:cat>
          <c:val>
            <c:numRef>
              <c:f>Sheet1!$B$2:$B$6</c:f>
              <c:numCache>
                <c:formatCode>General</c:formatCode>
                <c:ptCount val="5"/>
                <c:pt idx="0">
                  <c:v>1.81</c:v>
                </c:pt>
                <c:pt idx="1">
                  <c:v>1.87</c:v>
                </c:pt>
                <c:pt idx="2">
                  <c:v>1.98</c:v>
                </c:pt>
                <c:pt idx="3">
                  <c:v>1.8</c:v>
                </c:pt>
                <c:pt idx="4">
                  <c:v>1.79</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1500"/>
            </a:pPr>
          </a:p>
        </c:txPr>
        <c:crossAx val="-2113994440"/>
        <c:crosses val="autoZero"/>
        <c:auto val="1"/>
        <c:lblAlgn val="ctr"/>
        <c:lblOffset val="100"/>
        <c:noMultiLvlLbl val="0"/>
      </c:catAx>
      <c:valAx>
        <c:axId val="-2113994440"/>
        <c:scaling>
          <c:max val="2.3"/>
          <c:min val="0.0"/>
        </c:scaling>
        <c:delete/>
        <c:axPos val="l"/>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Final model</c:v>
                </c:pt>
              </c:strCache>
            </c:strRef>
          </c:tx>
          <c:spPr>
            <a:solidFill>
              <a:srgbClr val="3669E8"/>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Sheet1!$B$2:$B$4</c:f>
              <c:numCache>
                <c:formatCode>General</c:formatCode>
                <c:ptCount val="3"/>
                <c:pt idx="0">
                  <c:v>0.22</c:v>
                </c:pt>
                <c:pt idx="1">
                  <c:v>0.361</c:v>
                </c:pt>
                <c:pt idx="2">
                  <c:v>0.54</c:v>
                </c:pt>
              </c:numCache>
            </c:numRef>
          </c:val>
        </c:ser>
        <c:ser>
          <c:idx val="1"/>
          <c:order val="1"/>
          <c:tx>
            <c:strRef>
              <c:f>Sheet1!$C$1</c:f>
              <c:strCache>
                <c:ptCount val="1"/>
                <c:pt idx="0">
                  <c:v>B1: 2-feature baseline</c:v>
                </c:pt>
              </c:strCache>
            </c:strRef>
          </c:tx>
          <c:spPr>
            <a:solidFill>
              <a:srgbClr val="69D6B6"/>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Sheet1!$C$2:$C$4</c:f>
              <c:numCache>
                <c:formatCode>General</c:formatCode>
                <c:ptCount val="3"/>
                <c:pt idx="0">
                  <c:v>0.201</c:v>
                </c:pt>
                <c:pt idx="1">
                  <c:v>0.336</c:v>
                </c:pt>
                <c:pt idx="2">
                  <c:v>0.502</c:v>
                </c:pt>
              </c:numCache>
            </c:numRef>
          </c:val>
        </c:ser>
        <c:ser>
          <c:idx val="2"/>
          <c:order val="2"/>
          <c:tx>
            <c:strRef>
              <c:f>Sheet1!$D$1</c:f>
              <c:strCache>
                <c:ptCount val="1"/>
                <c:pt idx="0">
                  <c:v>Random checks</c:v>
                </c:pt>
              </c:strCache>
            </c:strRef>
          </c:tx>
          <c:spPr>
            <a:solidFill>
              <a:srgbClr val="8A8FA3"/>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Sheet1!$D$2:$D$4</c:f>
              <c:numCache>
                <c:formatCode>General</c:formatCode>
                <c:ptCount val="3"/>
                <c:pt idx="0">
                  <c:v>0.049</c:v>
                </c:pt>
                <c:pt idx="1">
                  <c:v>0.102</c:v>
                </c:pt>
                <c:pt idx="2">
                  <c:v>0.196</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1600" b="1"/>
            </a:pPr>
          </a:p>
        </c:txPr>
        <c:crossAx val="-2113994440"/>
        <c:crosses val="autoZero"/>
        <c:auto val="1"/>
        <c:lblAlgn val="ctr"/>
        <c:lblOffset val="100"/>
        <c:noMultiLvlLbl val="0"/>
      </c:catAx>
      <c:valAx>
        <c:axId val="-2113994440"/>
        <c:scaling>
          <c:max val="0.62"/>
          <c:min val="0.0"/>
        </c:scaling>
        <c:delete/>
        <c:axPos val="l"/>
        <c:majorTickMark val="out"/>
        <c:minorTickMark val="none"/>
        <c:tickLblPos val="nextTo"/>
        <c:spPr>
          <a:ln>
            <a:noFill/>
          </a:ln>
        </c:spPr>
        <c:crossAx val="-2068027336"/>
        <c:crosses val="autoZero"/>
      </c:valAx>
    </c:plotArea>
    <c:legend>
      <c:legendPos val="t"/>
      <c:overlay val="0"/>
      <c:txPr>
        <a:bodyPr/>
        <a:lstStyle/>
        <a:p>
          <a:pPr>
            <a:defRPr sz="1600"/>
          </a:pPr>
        </a:p>
      </c:txPr>
    </c:legend>
    <c:dispBlanksAs val="gap"/>
  </c:chart>
  <c:txPr>
    <a:bodyPr/>
    <a:lstStyle/>
    <a:p>
      <a:pPr>
        <a:defRPr sz="1500">
          <a:solidFill>
            <a:srgbClr val="111111"/>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PR-AUC drop</c:v>
                </c:pt>
              </c:strCache>
            </c:strRef>
          </c:tx>
          <c:spPr>
            <a:solidFill>
              <a:srgbClr val="B5CAFF"/>
            </a:solidFill>
            <a:ln>
              <a:noFill/>
            </a:ln>
          </c:spPr>
          <c:dPt>
            <c:idx val="0"/>
            <c:spPr>
              <a:solidFill>
                <a:srgbClr val="3669E8"/>
              </a:solidFill>
            </c:spPr>
          </c:dPt>
          <c:dPt>
            <c:idx val="1"/>
            <c:spPr>
              <a:solidFill>
                <a:srgbClr val="3669E8"/>
              </a:solidFill>
            </c:spPr>
          </c:dPt>
          <c:dPt>
            <c:idx val="2"/>
            <c:spPr>
              <a:solidFill>
                <a:srgbClr val="3669E8"/>
              </a:solidFill>
            </c:spPr>
          </c:dPt>
          <c:dPt>
            <c:idx val="3"/>
            <c:spPr>
              <a:solidFill>
                <a:srgbClr val="3669E8"/>
              </a:solidFill>
            </c:spPr>
          </c:dPt>
          <c:dPt>
            <c:idx val="4"/>
            <c:spPr>
              <a:solidFill>
                <a:srgbClr val="3669E8"/>
              </a:solidFill>
            </c:spPr>
          </c:dPt>
          <c:dLbls>
            <c:numFmt formatCode="0.000" sourceLinked="0"/>
            <c:txPr>
              <a:bodyPr/>
              <a:lstStyle/>
              <a:p>
                <a:pPr>
                  <a:defRPr sz="1700" b="1">
                    <a:solidFill>
                      <a:srgbClr val="111111"/>
                    </a:solidFill>
                  </a:defRPr>
                </a:pPr>
              </a:p>
            </c:txPr>
            <c:dLblPos val="outEnd"/>
            <c:showLegendKey val="0"/>
            <c:showVal val="1"/>
            <c:showCatName val="0"/>
            <c:showSerName val="0"/>
            <c:showPercent val="0"/>
            <c:showBubbleSize val="0"/>
            <c:showLeaderLines val="1"/>
          </c:dLbls>
          <c:cat>
            <c:strRef>
              <c:f>Sheet1!$A$2:$A$8</c:f>
              <c:strCache>
                <c:ptCount val="7"/>
                <c:pt idx="0">
                  <c:v>Promised days</c:v>
                </c:pt>
                <c:pt idx="1">
                  <c:v>Distance</c:v>
                </c:pt>
                <c:pt idx="2">
                  <c:v>Customer state</c:v>
                </c:pt>
                <c:pt idx="3">
                  <c:v>Freight cost</c:v>
                </c:pt>
                <c:pt idx="4">
                  <c:v>Same-state share</c:v>
                </c:pt>
                <c:pt idx="5">
                  <c:v>Item count</c:v>
                </c:pt>
                <c:pt idx="6">
                  <c:v>Seller state</c:v>
                </c:pt>
              </c:strCache>
            </c:strRef>
          </c:cat>
          <c:val>
            <c:numRef>
              <c:f>Sheet1!$B$2:$B$8</c:f>
              <c:numCache>
                <c:formatCode>General</c:formatCode>
                <c:ptCount val="7"/>
                <c:pt idx="0">
                  <c:v>0.0626</c:v>
                </c:pt>
                <c:pt idx="1">
                  <c:v>0.0463</c:v>
                </c:pt>
                <c:pt idx="2">
                  <c:v>0.0293</c:v>
                </c:pt>
                <c:pt idx="3">
                  <c:v>0.0256</c:v>
                </c:pt>
                <c:pt idx="4">
                  <c:v>0.0193</c:v>
                </c:pt>
                <c:pt idx="5">
                  <c:v>0.0109</c:v>
                </c:pt>
                <c:pt idx="6">
                  <c:v>0.0065</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1700"/>
            </a:pPr>
          </a:p>
        </c:txPr>
        <c:crossAx val="-2113994440"/>
        <c:crosses val="autoZero"/>
        <c:auto val="1"/>
        <c:lblAlgn val="ctr"/>
        <c:lblOffset val="100"/>
        <c:noMultiLvlLbl val="0"/>
      </c:catAx>
      <c:valAx>
        <c:axId val="-2113994440"/>
        <c:scaling>
          <c:max val="0.075"/>
          <c:min val="0.0"/>
        </c:scaling>
        <c:delete/>
        <c:axPos val="b"/>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Introduce the team and the project in one line: we predict which Olist orders will arrive late, at the moment the order is approved.</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About 1 in 14 delivered orders arrived late. Late orders average 2.21 stars against 4.28, and 62.5% get a 1 or 2-star review, against 9.3% of on-time orders. That's an association, but a strong one. Our goal is to flag likely-late orders early enough to act, instead of finding out from a bad review. Reviews never feed the model. (README 1.1)</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The user is Olist's operations team. Every morning, the orders approved the day before get a risk score, and the riskiest 10%, about 18 orders a day, are flagged. For those, ops can push the seller to ship sooner, chase the carrier, or warn the customer and give a new date. The model only ranks orders so people know where to look. (README 1.3, 5.4)</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Olist's safeguard today is a generous promise: the median promise is 24 days, but the median delivery takes 10. That works for the average order, but there's no order-level risk score. Lateness comes in waves: 12.4% in November 2017, 14.1% in February and 19.0% in March 2018. Those three months hold a third of the training orders but 62% of the late ones, and in Feb–Mar even São Paulo's late rate nearly tripled. (README 1.4, 2.2)</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We used the public Olist Kaggle dataset, nine tables joined into one row per order. After the filters, including dropping orders promised after 1 August 2018 whose late deliveries wouldn't be recorded yet, we have 85,371 orders. It's binary classification, scored daily at approval with only what's known then. We measure PR-AUC and recall in the top 10%; accuracy is useless, since 'always on time' is 95.9% accurate and catches nothing. (README 1.5–1.8)</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followed the checklist end to end. The key design choice is the time split: train on January 2017 to March 2018, test on April to July 2018, touched once at the end. A 2,000-order gap, about two weeks, separates training from validation and test, because those orders hadn't been delivered yet, so their outcomes wouldn't have been known. All preprocessing lives in one pipeline refitted inside every fold. A random split would have flattered us: 27.7% recall instead of the honest 23.7%. (README 3, 4.4, DECISIONS D6–D7)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headline insight from exploring the data. Down each column, risk rises with distance; across each row, it falls as the promise gets longer. Orders travelling over 889 km with a promise of 22 days or less were late about 1 in 5 times; short routes with long promises, 1.7%. Olist already gives far customers longer promises, just not long enough. And where the parcel goes matters more than what's in it: Rio is late 2.9 times as often as Minas Gerais. (README 2.3, 2.7)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Fidan compared seven models from five families plus two baselines, all on the same pipeline and time-series folds. We compare on lift, PR-AUC divided by the fold's late rate, because fold late rates swing from 2.8% to 18.8%. Linear models led, only a little ahead of the two-feature baseline. Tree models started below it: they overfit, with training lift 6 to 12 times their validation lift. The surprise: the EDA pointed to tree models, and they didn't win. We shortlisted logistic regression, random forest and gradient boosting, one per family. (README 4.1, 4.5, 2.7)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Tasnim tuned the three shortlisted models with randomized search, 90 trials, chosen over grid search because each model has 5 to 7 hyperparameters, several continuous. Tuning helped a little. Dropping purchase_month helped more than all the tuning, and it helped all three models, though every gain here is within the fold-to-fold noise. With only 15 months of data, the month column remembered which months had been bad, not seasonality. February was 3% late in 2017 and 14% in 2018. Four voting ensembles and eight extra features didn't beat it. The final model is a tuned logistic regression: the best, the fastest and the easiest to explain. (README 4.4, 5.1, 5.2)</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four test months, touched once, checking the riskiest 10% of orders each day would have caught 316 of 876 late orders, 36%. Random checks catch about 88, and the two-feature baseline 294. Flagged orders were late 3.6 times as often as a random order. To be honest about it: the PR-AUC gain over the baseline is real, but at the 10% budget the gain over the baseline is within the noise, because promised days and customer state already carry most of the signal. (README 5.3, 5.4, 6)</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test set, the strongest drivers are the promised window, distance, customer state, freight and whether the order ships within one state. A promise one standard deviation longer roughly halves the odds of being late. Price, weight, category and purchase time barely matter. Jingyu's error analysis on the last validation fold, before tuning, shows what the model misses: late orders that look ordinary, shorter and more often within one state. All three shortlisted models miss the same two-thirds, so the limit is the data, not the algorithm. A person would have needed the seller's hand-off to the carrier, carrier backlogs, strikes or holidays. (README 4.3, 5.4)</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Three assumptions: the promised date is the one the customer saw, ops can review about 10% a day, and the training period's patterns still hold in the test months. The limitations: every model levels off at about 2.0 lift, so 64% of late orders are still missed; the fix is new data such as dispatch scans, carrier data and strike calendars. Scores run about twice too high on the calmer test period, so flag the top 10% rather than using a probability cut-off. At the 10% budget the gain over the baseline is within the noise. And the test window is short and includes the May 2018 truckers' strike. (README 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Our answer: moderately well. Checking 10% of orders catches 36% of late ones, 3.6 times random, and the risk comes from promises too short for the distance and from the destination, not the product. What worked: the time-based split, comparing on lift, dropping purchase_month, and a simple regularised logistic regression. What didn't: trees, ensembles and extra features. Our recommendation: score nightly and review the top 10%, track recall and retrain, and invest in new data rather than more modelling. (README 6)</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Backup slides follow for Q&amp;A.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Not presented; use for Q&amp;A.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full benchmark from README 4.1. Std across the 5 folds.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leakage control. Random-split comparison: shuffled CV would give PR-AUC 0.189 and 27.7% recall vs the honest 0.168 and 23.7% (README 4.4).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Hasan's state chart, training period only. Regional delivery conditions matter beyond distance.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tuning and ensemble comparison (README 5.1, 5.2; ensemble numbers from reports/figures/outputs/tasnim_5_2_ensemble_comparison.csv).</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monthly test results (reports/figures/outputs/tasnim_5_3_monthly.csv) and calibration (README 5.4).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1.xml"/><Relationship Id="rId9" Type="http://schemas.openxmlformats.org/officeDocument/2006/relationships/image" Target="../media/image13.png"/><Relationship Id="rId10" Type="http://schemas.openxmlformats.org/officeDocument/2006/relationships/image" Target="../media/image14.svg"/><Relationship Id="rId11"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image" Target="../media/image9.png"/><Relationship Id="rId9" Type="http://schemas.openxmlformats.org/officeDocument/2006/relationships/image" Target="../media/image10.svg"/><Relationship Id="rId10" Type="http://schemas.openxmlformats.org/officeDocument/2006/relationships/image" Target="../media/image15.png"/><Relationship Id="rId11" Type="http://schemas.openxmlformats.org/officeDocument/2006/relationships/image" Target="../media/image16.svg"/><Relationship Id="rId1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2.xml"/><Relationship Id="rId9"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3.xml"/><Relationship Id="rId9"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4.xml"/><Relationship Id="rId9"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5.xml"/><Relationship Id="rId9"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6.xml"/><Relationship Id="rId9"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image" Target="../media/image19.png"/><Relationship Id="rId9"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20.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221359" y="403500"/>
            <a:ext cx="31950551" cy="8423327"/>
          </a:xfrm>
          <a:custGeom>
            <a:avLst/>
            <a:gdLst/>
            <a:ahLst/>
            <a:cxnLst/>
            <a:rect r="r" b="b" t="t" l="l"/>
            <a:pathLst>
              <a:path h="8423327" w="31950551">
                <a:moveTo>
                  <a:pt x="31950551" y="0"/>
                </a:moveTo>
                <a:lnTo>
                  <a:pt x="0" y="0"/>
                </a:lnTo>
                <a:lnTo>
                  <a:pt x="0" y="8423327"/>
                </a:lnTo>
                <a:lnTo>
                  <a:pt x="31950551" y="8423327"/>
                </a:lnTo>
                <a:lnTo>
                  <a:pt x="31950551"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9109795"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388997"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0020394" y="3883320"/>
            <a:ext cx="7238906" cy="5791125"/>
          </a:xfrm>
          <a:custGeom>
            <a:avLst/>
            <a:gdLst/>
            <a:ahLst/>
            <a:cxnLst/>
            <a:rect r="r" b="b" t="t" l="l"/>
            <a:pathLst>
              <a:path h="5791125" w="7238906">
                <a:moveTo>
                  <a:pt x="0" y="0"/>
                </a:moveTo>
                <a:lnTo>
                  <a:pt x="7238906" y="0"/>
                </a:lnTo>
                <a:lnTo>
                  <a:pt x="7238906" y="5791125"/>
                </a:lnTo>
                <a:lnTo>
                  <a:pt x="0" y="57911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6" name="Course"/>
          <p:cNvSpPr txBox="1"/>
          <p:nvPr/>
        </p:nvSpPr>
        <p:spPr>
          <a:xfrm>
            <a:off x="1554480" y="1874519"/>
            <a:ext cx="8412480" cy="45720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INSY 674 · Enterprise Data Science · McGill · Fall 2026</a:t>
            </a:r>
          </a:p>
        </p:txBody>
      </p:sp>
      <p:sp>
        <p:nvSpPr>
          <p:cNvPr id="7" name="Deck title"/>
          <p:cNvSpPr txBox="1"/>
          <p:nvPr/>
        </p:nvSpPr>
        <p:spPr>
          <a:xfrm>
            <a:off x="1554480" y="2377440"/>
            <a:ext cx="8412480" cy="2194560"/>
          </a:xfrm>
          <a:prstGeom prst="rect">
            <a:avLst/>
          </a:prstGeom>
          <a:noFill/>
        </p:spPr>
        <p:txBody>
          <a:bodyPr wrap="square" lIns="0" rIns="0" tIns="0" bIns="0" anchor="t">
            <a:spAutoFit/>
          </a:bodyPr>
          <a:lstStyle/>
          <a:p>
            <a:pPr algn="l">
              <a:lnSpc>
                <a:spcPct val="90000"/>
              </a:lnSpc>
              <a:spcAft>
                <a:spcPts val="600"/>
              </a:spcAft>
            </a:pPr>
            <a:r>
              <a:rPr sz="6400" b="0" i="0">
                <a:solidFill>
                  <a:srgbClr val="111111"/>
                </a:solidFill>
                <a:latin typeface="Arial Black"/>
              </a:rPr>
              <a:t>Predicting </a:t>
            </a:r>
            <a:r>
              <a:rPr sz="6400" b="0" i="0">
                <a:solidFill>
                  <a:srgbClr val="3669E8"/>
                </a:solidFill>
                <a:latin typeface="Arial Black"/>
              </a:rPr>
              <a:t>late</a:t>
            </a:r>
            <a:r>
              <a:rPr sz="6400" b="0" i="0">
                <a:solidFill>
                  <a:srgbClr val="111111"/>
                </a:solidFill>
                <a:latin typeface="Arial Black"/>
              </a:rPr>
              <a:t> deliveries</a:t>
            </a:r>
          </a:p>
        </p:txBody>
      </p:sp>
      <p:sp>
        <p:nvSpPr>
          <p:cNvPr id="8" name="Subtitle"/>
          <p:cNvSpPr txBox="1"/>
          <p:nvPr/>
        </p:nvSpPr>
        <p:spPr>
          <a:xfrm>
            <a:off x="1554480" y="4617720"/>
            <a:ext cx="8138160" cy="1097280"/>
          </a:xfrm>
          <a:prstGeom prst="rect">
            <a:avLst/>
          </a:prstGeom>
          <a:noFill/>
        </p:spPr>
        <p:txBody>
          <a:bodyPr wrap="square" lIns="0" rIns="0" tIns="0" bIns="0" anchor="t">
            <a:spAutoFit/>
          </a:bodyPr>
          <a:lstStyle/>
          <a:p>
            <a:pPr algn="l">
              <a:spcAft>
                <a:spcPts val="600"/>
              </a:spcAft>
            </a:pPr>
            <a:r>
              <a:rPr sz="2400" b="0" i="0">
                <a:solidFill>
                  <a:srgbClr val="111111"/>
                </a:solidFill>
                <a:latin typeface="Calibri"/>
              </a:rPr>
              <a:t>Flagging risky Olist orders at approval, so ops can act before the customer notices</a:t>
            </a:r>
          </a:p>
        </p:txBody>
      </p:sp>
      <p:sp>
        <p:nvSpPr>
          <p:cNvPr id="9" name="Team"/>
          <p:cNvSpPr txBox="1"/>
          <p:nvPr/>
        </p:nvSpPr>
        <p:spPr>
          <a:xfrm>
            <a:off x="1554480" y="5943600"/>
            <a:ext cx="8138160" cy="1280160"/>
          </a:xfrm>
          <a:prstGeom prst="rect">
            <a:avLst/>
          </a:prstGeom>
          <a:noFill/>
        </p:spPr>
        <p:txBody>
          <a:bodyPr wrap="square" lIns="0" rIns="0" tIns="0" bIns="0" anchor="t">
            <a:spAutoFit/>
          </a:bodyPr>
          <a:lstStyle/>
          <a:p>
            <a:pPr algn="l">
              <a:spcAft>
                <a:spcPts val="600"/>
              </a:spcAft>
            </a:pPr>
            <a:r>
              <a:rPr sz="2000" b="1" i="0">
                <a:solidFill>
                  <a:srgbClr val="3669E8"/>
                </a:solidFill>
                <a:latin typeface="Calibri"/>
              </a:rPr>
              <a:t>Group 9</a:t>
            </a:r>
          </a:p>
          <a:p>
            <a:pPr algn="l">
              <a:spcAft>
                <a:spcPts val="600"/>
              </a:spcAft>
            </a:pPr>
            <a:r>
              <a:rPr sz="1800" b="0" i="0">
                <a:solidFill>
                  <a:srgbClr val="111111"/>
                </a:solidFill>
                <a:latin typeface="Calibri"/>
              </a:rPr>
              <a:t>Fidan Shiraliyeva · Hasan Malik · Jay Malhotra · Jingyu Wu · Mia Scalabrin · Peace Isaac · Tasnim Hassan</a:t>
            </a:r>
          </a:p>
          <a:p>
            <a:pPr algn="l">
              <a:spcAft>
                <a:spcPts val="600"/>
              </a:spcAft>
            </a:pPr>
            <a:r>
              <a:rPr sz="1800" b="0" i="0">
                <a:solidFill>
                  <a:srgbClr val="3669E8"/>
                </a:solidFill>
                <a:latin typeface="Calibri"/>
              </a:rPr>
              <a:t>GitHub repository: olist-late-delivery (github.com/JustJay7/olist-late-delivery)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THE PROBLEM</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Late orders come with far worse reviews</a:t>
            </a:r>
          </a:p>
        </p:txBody>
      </p:sp>
      <p:sp>
        <p:nvSpPr>
          <p:cNvPr id="15" name="Late share"/>
          <p:cNvSpPr/>
          <p:nvPr/>
        </p:nvSpPr>
        <p:spPr>
          <a:xfrm>
            <a:off x="731520" y="2377440"/>
            <a:ext cx="512064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ate share number"/>
          <p:cNvSpPr txBox="1"/>
          <p:nvPr/>
        </p:nvSpPr>
        <p:spPr>
          <a:xfrm>
            <a:off x="1051560" y="2606040"/>
            <a:ext cx="4480559" cy="1357884"/>
          </a:xfrm>
          <a:prstGeom prst="rect">
            <a:avLst/>
          </a:prstGeom>
          <a:noFill/>
        </p:spPr>
        <p:txBody>
          <a:bodyPr wrap="square" lIns="0" rIns="0" tIns="0" bIns="0" anchor="b">
            <a:spAutoFit/>
          </a:bodyPr>
          <a:lstStyle/>
          <a:p>
            <a:pPr algn="l">
              <a:spcAft>
                <a:spcPts val="600"/>
              </a:spcAft>
            </a:pPr>
            <a:r>
              <a:rPr sz="5400" b="0" i="0">
                <a:solidFill>
                  <a:srgbClr val="89EDD0"/>
                </a:solidFill>
                <a:latin typeface="Arial Black"/>
              </a:rPr>
              <a:t>1 in 14</a:t>
            </a:r>
          </a:p>
        </p:txBody>
      </p:sp>
      <p:sp>
        <p:nvSpPr>
          <p:cNvPr id="17" name="Late share label"/>
          <p:cNvSpPr txBox="1"/>
          <p:nvPr/>
        </p:nvSpPr>
        <p:spPr>
          <a:xfrm>
            <a:off x="1051560" y="4009644"/>
            <a:ext cx="4480559" cy="1202436"/>
          </a:xfrm>
          <a:prstGeom prst="rect">
            <a:avLst/>
          </a:prstGeom>
          <a:noFill/>
        </p:spPr>
        <p:txBody>
          <a:bodyPr wrap="square" lIns="0" rIns="0" tIns="0" bIns="0" anchor="t">
            <a:spAutoFit/>
          </a:bodyPr>
          <a:lstStyle/>
          <a:p>
            <a:pPr algn="l">
              <a:spcAft>
                <a:spcPts val="600"/>
              </a:spcAft>
            </a:pPr>
            <a:r>
              <a:rPr sz="2000" b="0" i="0">
                <a:solidFill>
                  <a:srgbClr val="FFFFFF"/>
                </a:solidFill>
                <a:latin typeface="Calibri"/>
              </a:rPr>
              <a:t>delivered orders arrived late
(5,986 of 85,371, Jan 2017 – Jul 2018)</a:t>
            </a:r>
          </a:p>
        </p:txBody>
      </p:sp>
      <p:sp>
        <p:nvSpPr>
          <p:cNvPr id="18" name="Stars"/>
          <p:cNvSpPr/>
          <p:nvPr/>
        </p:nvSpPr>
        <p:spPr>
          <a:xfrm>
            <a:off x="731520" y="5715000"/>
            <a:ext cx="512064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tars number"/>
          <p:cNvSpPr txBox="1"/>
          <p:nvPr/>
        </p:nvSpPr>
        <p:spPr>
          <a:xfrm>
            <a:off x="1051560" y="5943600"/>
            <a:ext cx="4480559" cy="1357884"/>
          </a:xfrm>
          <a:prstGeom prst="rect">
            <a:avLst/>
          </a:prstGeom>
          <a:noFill/>
        </p:spPr>
        <p:txBody>
          <a:bodyPr wrap="square" lIns="0" rIns="0" tIns="0" bIns="0" anchor="b">
            <a:spAutoFit/>
          </a:bodyPr>
          <a:lstStyle/>
          <a:p>
            <a:pPr algn="l">
              <a:spcAft>
                <a:spcPts val="600"/>
              </a:spcAft>
            </a:pPr>
            <a:r>
              <a:rPr sz="5400" b="0" i="0">
                <a:solidFill>
                  <a:srgbClr val="111111"/>
                </a:solidFill>
                <a:latin typeface="Arial Black"/>
              </a:rPr>
              <a:t>2.21★</a:t>
            </a:r>
          </a:p>
        </p:txBody>
      </p:sp>
      <p:sp>
        <p:nvSpPr>
          <p:cNvPr id="20" name="Stars label"/>
          <p:cNvSpPr txBox="1"/>
          <p:nvPr/>
        </p:nvSpPr>
        <p:spPr>
          <a:xfrm>
            <a:off x="1051560" y="7347204"/>
            <a:ext cx="4480559"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average review when late,
vs 4.28★ when on time</a:t>
            </a:r>
          </a:p>
        </p:txBody>
      </p:sp>
      <p:sp>
        <p:nvSpPr>
          <p:cNvPr id="21" name="Review chart card"/>
          <p:cNvSpPr/>
          <p:nvPr/>
        </p:nvSpPr>
        <p:spPr>
          <a:xfrm>
            <a:off x="6217920" y="2377440"/>
            <a:ext cx="113385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583680" y="2606040"/>
            <a:ext cx="1060704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Share of orders with a 1 or 2-star review</a:t>
            </a:r>
          </a:p>
        </p:txBody>
      </p:sp>
      <p:graphicFrame>
        <p:nvGraphicFramePr>
          <p:cNvPr id="23" name="Review chart"/>
          <p:cNvGraphicFramePr>
            <a:graphicFrameLocks noGrp="1"/>
          </p:cNvGraphicFramePr>
          <p:nvPr/>
        </p:nvGraphicFramePr>
        <p:xfrm>
          <a:off x="6583680" y="3108960"/>
          <a:ext cx="7315200" cy="4892040"/>
        </p:xfrm>
        <a:graphic>
          <a:graphicData uri="http://schemas.openxmlformats.org/drawingml/2006/chart">
            <c:chart xmlns:c="http://schemas.openxmlformats.org/drawingml/2006/chart" r:id="rId8"/>
          </a:graphicData>
        </a:graphic>
      </p:graphicFrame>
      <p:sp>
        <p:nvSpPr>
          <p:cNvPr name="Store icon" id="13"/>
          <p:cNvSpPr/>
          <p:nvPr/>
        </p:nvSpPr>
        <p:spPr>
          <a:xfrm flipH="false" flipV="false" rot="0">
            <a:off x="14401800" y="3291840"/>
            <a:ext cx="2234108" cy="2651760"/>
          </a:xfrm>
          <a:custGeom>
            <a:avLst/>
            <a:gdLst/>
            <a:ahLst/>
            <a:cxnLst/>
            <a:rect r="r" b="b" t="t" l="l"/>
            <a:pathLst>
              <a:path h="3664136" w="3087035">
                <a:moveTo>
                  <a:pt x="0" y="0"/>
                </a:moveTo>
                <a:lnTo>
                  <a:pt x="3087035" y="0"/>
                </a:lnTo>
                <a:lnTo>
                  <a:pt x="3087035" y="3664136"/>
                </a:lnTo>
                <a:lnTo>
                  <a:pt x="0" y="366413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24" name="Chart takeaway"/>
          <p:cNvSpPr txBox="1"/>
          <p:nvPr/>
        </p:nvSpPr>
        <p:spPr>
          <a:xfrm>
            <a:off x="14081760" y="6309360"/>
            <a:ext cx="3200400" cy="2194560"/>
          </a:xfrm>
          <a:prstGeom prst="rect">
            <a:avLst/>
          </a:prstGeom>
          <a:noFill/>
        </p:spPr>
        <p:txBody>
          <a:bodyPr wrap="square" lIns="0" rIns="0" tIns="0" bIns="0" anchor="t">
            <a:spAutoFit/>
          </a:bodyPr>
          <a:lstStyle/>
          <a:p>
            <a:pPr algn="l">
              <a:spcAft>
                <a:spcPts val="600"/>
              </a:spcAft>
            </a:pPr>
            <a:r>
              <a:rPr sz="2000" b="1" i="0">
                <a:solidFill>
                  <a:srgbClr val="3669E8"/>
                </a:solidFill>
                <a:latin typeface="Calibri"/>
              </a:rPr>
              <a:t>6.7× more likely to get a 1–2★ review when late</a:t>
            </a:r>
          </a:p>
        </p:txBody>
      </p:sp>
      <p:sp>
        <p:nvSpPr>
          <p:cNvPr id="25" name="Chart note"/>
          <p:cNvSpPr txBox="1"/>
          <p:nvPr/>
        </p:nvSpPr>
        <p:spPr>
          <a:xfrm>
            <a:off x="6583680" y="8229600"/>
            <a:ext cx="10607040" cy="36576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Reviews only size the problem. They are never used as model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WHO IT SERVES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Ops needs a daily shortlist of risky orders</a:t>
            </a:r>
          </a:p>
        </p:txBody>
      </p:sp>
      <p:sp>
        <p:nvSpPr>
          <p:cNvPr id="15" name="Icon card 1"/>
          <p:cNvSpPr/>
          <p:nvPr/>
        </p:nvSpPr>
        <p:spPr>
          <a:xfrm>
            <a:off x="731520"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1" id="13"/>
          <p:cNvSpPr/>
          <p:nvPr/>
        </p:nvSpPr>
        <p:spPr>
          <a:xfrm flipH="false" flipV="false" rot="0">
            <a:off x="1688268" y="2651760"/>
            <a:ext cx="1652663" cy="1737360"/>
          </a:xfrm>
          <a:custGeom>
            <a:avLst/>
            <a:gdLst/>
            <a:ahLst/>
            <a:cxnLst/>
            <a:rect r="r" b="b" t="t" l="l"/>
            <a:pathLst>
              <a:path h="3703442" w="3522899">
                <a:moveTo>
                  <a:pt x="0" y="0"/>
                </a:moveTo>
                <a:lnTo>
                  <a:pt x="3522899" y="0"/>
                </a:lnTo>
                <a:lnTo>
                  <a:pt x="3522899" y="3703442"/>
                </a:lnTo>
                <a:lnTo>
                  <a:pt x="0" y="370344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id="16" name="Step card 1"/>
          <p:cNvSpPr/>
          <p:nvPr/>
        </p:nvSpPr>
        <p:spPr>
          <a:xfrm>
            <a:off x="731520"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ep title 1"/>
          <p:cNvSpPr txBox="1"/>
          <p:nvPr/>
        </p:nvSpPr>
        <p:spPr>
          <a:xfrm>
            <a:off x="1005840" y="5120640"/>
            <a:ext cx="3017520" cy="82296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1. Order approved</a:t>
            </a:r>
          </a:p>
        </p:txBody>
      </p:sp>
      <p:sp>
        <p:nvSpPr>
          <p:cNvPr id="18" name="Step text 1"/>
          <p:cNvSpPr txBox="1"/>
          <p:nvPr/>
        </p:nvSpPr>
        <p:spPr>
          <a:xfrm>
            <a:off x="1005840" y="5989320"/>
            <a:ext cx="3017520" cy="1920240"/>
          </a:xfrm>
          <a:prstGeom prst="rect">
            <a:avLst/>
          </a:prstGeom>
          <a:noFill/>
        </p:spPr>
        <p:txBody>
          <a:bodyPr wrap="square" lIns="0" rIns="0" tIns="0" bIns="0" anchor="t">
            <a:spAutoFit/>
          </a:bodyPr>
          <a:lstStyle/>
          <a:p>
            <a:pPr algn="l">
              <a:spcAft>
                <a:spcPts val="600"/>
              </a:spcAft>
            </a:pPr>
            <a:r>
              <a:rPr sz="1900" b="0" i="0">
                <a:solidFill>
                  <a:srgbClr val="FFFFFF"/>
                </a:solidFill>
                <a:latin typeface="Calibri"/>
              </a:rPr>
              <a:t>Every order gets scored using only what is known at approval</a:t>
            </a:r>
          </a:p>
        </p:txBody>
      </p:sp>
      <p:sp>
        <p:nvSpPr>
          <p:cNvPr id="19" name="Arrow 1"/>
          <p:cNvSpPr/>
          <p:nvPr/>
        </p:nvSpPr>
        <p:spPr>
          <a:xfrm>
            <a:off x="4462272"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con card 2"/>
          <p:cNvSpPr/>
          <p:nvPr/>
        </p:nvSpPr>
        <p:spPr>
          <a:xfrm>
            <a:off x="5148072"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ank bar 1"/>
          <p:cNvSpPr/>
          <p:nvPr/>
        </p:nvSpPr>
        <p:spPr>
          <a:xfrm>
            <a:off x="5879592" y="2761488"/>
            <a:ext cx="2103120" cy="384048"/>
          </a:xfrm>
          <a:prstGeom prst="roundRect">
            <a:avLst>
              <a:gd name="adj" fmla="val 19047"/>
            </a:avLst>
          </a:prstGeom>
          <a:solidFill>
            <a:srgbClr val="3669E8"/>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ank bar 2"/>
          <p:cNvSpPr/>
          <p:nvPr/>
        </p:nvSpPr>
        <p:spPr>
          <a:xfrm>
            <a:off x="5879592" y="3328416"/>
            <a:ext cx="1508760" cy="384048"/>
          </a:xfrm>
          <a:prstGeom prst="roundRect">
            <a:avLst>
              <a:gd name="adj" fmla="val 19047"/>
            </a:avLst>
          </a:prstGeom>
          <a:solidFill>
            <a:srgbClr val="69D6B6"/>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ank bar 3"/>
          <p:cNvSpPr/>
          <p:nvPr/>
        </p:nvSpPr>
        <p:spPr>
          <a:xfrm>
            <a:off x="5879592" y="3895344"/>
            <a:ext cx="1005840" cy="384048"/>
          </a:xfrm>
          <a:prstGeom prst="roundRect">
            <a:avLst>
              <a:gd name="adj" fmla="val 19047"/>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tep card 2"/>
          <p:cNvSpPr/>
          <p:nvPr/>
        </p:nvSpPr>
        <p:spPr>
          <a:xfrm>
            <a:off x="5148072"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tep title 2"/>
          <p:cNvSpPr txBox="1"/>
          <p:nvPr/>
        </p:nvSpPr>
        <p:spPr>
          <a:xfrm>
            <a:off x="5422392" y="5120640"/>
            <a:ext cx="3017520" cy="82296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2. Nightly risk score</a:t>
            </a:r>
          </a:p>
        </p:txBody>
      </p:sp>
      <p:sp>
        <p:nvSpPr>
          <p:cNvPr id="26" name="Step text 2"/>
          <p:cNvSpPr txBox="1"/>
          <p:nvPr/>
        </p:nvSpPr>
        <p:spPr>
          <a:xfrm>
            <a:off x="5422392" y="5989320"/>
            <a:ext cx="3017520" cy="1920240"/>
          </a:xfrm>
          <a:prstGeom prst="rect">
            <a:avLst/>
          </a:prstGeom>
          <a:noFill/>
        </p:spPr>
        <p:txBody>
          <a:bodyPr wrap="square" lIns="0" rIns="0" tIns="0" bIns="0" anchor="t">
            <a:spAutoFit/>
          </a:bodyPr>
          <a:lstStyle/>
          <a:p>
            <a:pPr algn="l">
              <a:spcAft>
                <a:spcPts val="600"/>
              </a:spcAft>
            </a:pPr>
            <a:r>
              <a:rPr sz="1900" b="0" i="0">
                <a:solidFill>
                  <a:srgbClr val="111111"/>
                </a:solidFill>
                <a:latin typeface="Calibri"/>
              </a:rPr>
              <a:t>Yesterday's approved orders are ranked by risk of arriving late</a:t>
            </a:r>
          </a:p>
        </p:txBody>
      </p:sp>
      <p:sp>
        <p:nvSpPr>
          <p:cNvPr id="27" name="Arrow 2"/>
          <p:cNvSpPr/>
          <p:nvPr/>
        </p:nvSpPr>
        <p:spPr>
          <a:xfrm>
            <a:off x="8878824"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con card 3"/>
          <p:cNvSpPr/>
          <p:nvPr/>
        </p:nvSpPr>
        <p:spPr>
          <a:xfrm>
            <a:off x="9564624"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3" id="13"/>
          <p:cNvSpPr/>
          <p:nvPr/>
        </p:nvSpPr>
        <p:spPr>
          <a:xfrm flipH="false" flipV="false" rot="0">
            <a:off x="10175792" y="2651760"/>
            <a:ext cx="2343824" cy="1737360"/>
          </a:xfrm>
          <a:custGeom>
            <a:avLst/>
            <a:gdLst/>
            <a:ahLst/>
            <a:cxnLst/>
            <a:rect r="r" b="b" t="t" l="l"/>
            <a:pathLst>
              <a:path h="1949769" w="2630380">
                <a:moveTo>
                  <a:pt x="0" y="0"/>
                </a:moveTo>
                <a:lnTo>
                  <a:pt x="2630380" y="0"/>
                </a:lnTo>
                <a:lnTo>
                  <a:pt x="2630380" y="1949769"/>
                </a:lnTo>
                <a:lnTo>
                  <a:pt x="0" y="1949769"/>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id="29" name="Step card 3"/>
          <p:cNvSpPr/>
          <p:nvPr/>
        </p:nvSpPr>
        <p:spPr>
          <a:xfrm>
            <a:off x="9564624"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tep title 3"/>
          <p:cNvSpPr txBox="1"/>
          <p:nvPr/>
        </p:nvSpPr>
        <p:spPr>
          <a:xfrm>
            <a:off x="9838944" y="5120640"/>
            <a:ext cx="3017520" cy="82296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3. Top 10% flagged</a:t>
            </a:r>
          </a:p>
        </p:txBody>
      </p:sp>
      <p:sp>
        <p:nvSpPr>
          <p:cNvPr id="31" name="Step text 3"/>
          <p:cNvSpPr txBox="1"/>
          <p:nvPr/>
        </p:nvSpPr>
        <p:spPr>
          <a:xfrm>
            <a:off x="9838944" y="5989320"/>
            <a:ext cx="3017520" cy="1920240"/>
          </a:xfrm>
          <a:prstGeom prst="rect">
            <a:avLst/>
          </a:prstGeom>
          <a:noFill/>
        </p:spPr>
        <p:txBody>
          <a:bodyPr wrap="square" lIns="0" rIns="0" tIns="0" bIns="0" anchor="t">
            <a:spAutoFit/>
          </a:bodyPr>
          <a:lstStyle/>
          <a:p>
            <a:pPr algn="l">
              <a:spcAft>
                <a:spcPts val="600"/>
              </a:spcAft>
            </a:pPr>
            <a:r>
              <a:rPr sz="1900" b="0" i="0">
                <a:solidFill>
                  <a:srgbClr val="FFFFFF"/>
                </a:solidFill>
                <a:latin typeface="Calibri"/>
              </a:rPr>
              <a:t>About 18 orders a day go to the ops team</a:t>
            </a:r>
          </a:p>
        </p:txBody>
      </p:sp>
      <p:sp>
        <p:nvSpPr>
          <p:cNvPr id="32" name="Arrow 3"/>
          <p:cNvSpPr/>
          <p:nvPr/>
        </p:nvSpPr>
        <p:spPr>
          <a:xfrm>
            <a:off x="13295376"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con card 4"/>
          <p:cNvSpPr/>
          <p:nvPr/>
        </p:nvSpPr>
        <p:spPr>
          <a:xfrm>
            <a:off x="13981176"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4" id="6"/>
          <p:cNvSpPr/>
          <p:nvPr/>
        </p:nvSpPr>
        <p:spPr>
          <a:xfrm flipH="false" flipV="false" rot="0">
            <a:off x="14880126" y="2651760"/>
            <a:ext cx="1768260" cy="1737360"/>
          </a:xfrm>
          <a:custGeom>
            <a:avLst/>
            <a:gdLst/>
            <a:ahLst/>
            <a:cxnLst/>
            <a:rect r="r" b="b" t="t" l="l"/>
            <a:pathLst>
              <a:path h="1293146" w="1316146">
                <a:moveTo>
                  <a:pt x="0" y="0"/>
                </a:moveTo>
                <a:lnTo>
                  <a:pt x="1316146" y="0"/>
                </a:lnTo>
                <a:lnTo>
                  <a:pt x="1316146" y="1293146"/>
                </a:lnTo>
                <a:lnTo>
                  <a:pt x="0" y="1293146"/>
                </a:lnTo>
                <a:lnTo>
                  <a:pt x="0" y="0"/>
                </a:lnTo>
                <a:close/>
              </a:path>
            </a:pathLst>
          </a:custGeom>
          <a:blipFill>
            <a:blip r:embed="rId4">
              <a:extLst>
                <a:ext uri="{96DAC541-7B7A-43D3-8B79-37D633B846F1}">
                  <asvg:svgBlip xmlns:asvg="http://schemas.microsoft.com/office/drawing/2016/SVG/main" r:embed="rId5"/>
                </a:ext>
              </a:extLst>
            </a:blip>
            <a:stretch>
              <a:fillRect l="0" t="0" r="-138187" b="0"/>
            </a:stretch>
          </a:blipFill>
        </p:spPr>
      </p:sp>
      <p:sp>
        <p:nvSpPr>
          <p:cNvPr id="34" name="Step card 4"/>
          <p:cNvSpPr/>
          <p:nvPr/>
        </p:nvSpPr>
        <p:spPr>
          <a:xfrm>
            <a:off x="13981176"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tep title 4"/>
          <p:cNvSpPr txBox="1"/>
          <p:nvPr/>
        </p:nvSpPr>
        <p:spPr>
          <a:xfrm>
            <a:off x="14255496" y="5120640"/>
            <a:ext cx="3017520" cy="82296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4. Ops acts</a:t>
            </a:r>
          </a:p>
        </p:txBody>
      </p:sp>
      <p:sp>
        <p:nvSpPr>
          <p:cNvPr id="36" name="Step text 4"/>
          <p:cNvSpPr txBox="1"/>
          <p:nvPr/>
        </p:nvSpPr>
        <p:spPr>
          <a:xfrm>
            <a:off x="14255496" y="5989320"/>
            <a:ext cx="3017520" cy="1920240"/>
          </a:xfrm>
          <a:prstGeom prst="rect">
            <a:avLst/>
          </a:prstGeom>
          <a:noFill/>
        </p:spPr>
        <p:txBody>
          <a:bodyPr wrap="square" lIns="0" rIns="0" tIns="0" bIns="0" anchor="t">
            <a:spAutoFit/>
          </a:bodyPr>
          <a:lstStyle/>
          <a:p>
            <a:pPr algn="l">
              <a:spcAft>
                <a:spcPts val="600"/>
              </a:spcAft>
            </a:pPr>
            <a:r>
              <a:rPr sz="1900" b="0" i="0">
                <a:solidFill>
                  <a:srgbClr val="111111"/>
                </a:solidFill>
                <a:latin typeface="Calibri"/>
              </a:rPr>
              <a:t>Push the seller to ship, chase the carrier, or warn the customer with a new date</a:t>
            </a:r>
          </a:p>
        </p:txBody>
      </p:sp>
      <p:sp>
        <p:nvSpPr>
          <p:cNvPr id="37" name="Footnote"/>
          <p:cNvSpPr txBox="1"/>
          <p:nvPr/>
        </p:nvSpPr>
        <p:spPr>
          <a:xfrm>
            <a:off x="731520" y="8275320"/>
            <a:ext cx="1682496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The model ranks orders for people to review. It never changes delivery dates on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WHAT OLIST DOES TODAY</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Padding the promise isn't enough: lateness comes in waves</a:t>
            </a:r>
          </a:p>
        </p:txBody>
      </p:sp>
      <p:sp>
        <p:nvSpPr>
          <p:cNvPr id="15" name="Padding"/>
          <p:cNvSpPr/>
          <p:nvPr/>
        </p:nvSpPr>
        <p:spPr>
          <a:xfrm>
            <a:off x="731520" y="2377440"/>
            <a:ext cx="493776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adding number"/>
          <p:cNvSpPr txBox="1"/>
          <p:nvPr/>
        </p:nvSpPr>
        <p:spPr>
          <a:xfrm>
            <a:off x="1051560" y="2606040"/>
            <a:ext cx="4297680" cy="1357884"/>
          </a:xfrm>
          <a:prstGeom prst="rect">
            <a:avLst/>
          </a:prstGeom>
          <a:noFill/>
        </p:spPr>
        <p:txBody>
          <a:bodyPr wrap="square" lIns="0" rIns="0" tIns="0" bIns="0" anchor="b">
            <a:spAutoFit/>
          </a:bodyPr>
          <a:lstStyle/>
          <a:p>
            <a:pPr algn="l">
              <a:spcAft>
                <a:spcPts val="600"/>
              </a:spcAft>
            </a:pPr>
            <a:r>
              <a:rPr sz="4800" b="0" i="0">
                <a:solidFill>
                  <a:srgbClr val="89EDD0"/>
                </a:solidFill>
                <a:latin typeface="Arial Black"/>
              </a:rPr>
              <a:t>24 vs 10</a:t>
            </a:r>
          </a:p>
        </p:txBody>
      </p:sp>
      <p:sp>
        <p:nvSpPr>
          <p:cNvPr id="17" name="Padding label"/>
          <p:cNvSpPr txBox="1"/>
          <p:nvPr/>
        </p:nvSpPr>
        <p:spPr>
          <a:xfrm>
            <a:off x="1051560" y="4009644"/>
            <a:ext cx="4297680" cy="1202436"/>
          </a:xfrm>
          <a:prstGeom prst="rect">
            <a:avLst/>
          </a:prstGeom>
          <a:noFill/>
        </p:spPr>
        <p:txBody>
          <a:bodyPr wrap="square" lIns="0" rIns="0" tIns="0" bIns="0" anchor="t">
            <a:spAutoFit/>
          </a:bodyPr>
          <a:lstStyle/>
          <a:p>
            <a:pPr algn="l">
              <a:spcAft>
                <a:spcPts val="600"/>
              </a:spcAft>
            </a:pPr>
            <a:r>
              <a:rPr sz="2000" b="0" i="0">
                <a:solidFill>
                  <a:srgbClr val="FFFFFF"/>
                </a:solidFill>
                <a:latin typeface="Calibri"/>
              </a:rPr>
              <a:t>days promised vs days actually taken (medians). A one-size safeguard, with no order-level risk score.</a:t>
            </a:r>
          </a:p>
        </p:txBody>
      </p:sp>
      <p:sp>
        <p:nvSpPr>
          <p:cNvPr id="18" name="Waves"/>
          <p:cNvSpPr/>
          <p:nvPr/>
        </p:nvSpPr>
        <p:spPr>
          <a:xfrm>
            <a:off x="731520" y="5715000"/>
            <a:ext cx="493776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aves number"/>
          <p:cNvSpPr txBox="1"/>
          <p:nvPr/>
        </p:nvSpPr>
        <p:spPr>
          <a:xfrm>
            <a:off x="1051560" y="5943600"/>
            <a:ext cx="4297680" cy="1357884"/>
          </a:xfrm>
          <a:prstGeom prst="rect">
            <a:avLst/>
          </a:prstGeom>
          <a:noFill/>
        </p:spPr>
        <p:txBody>
          <a:bodyPr wrap="square" lIns="0" rIns="0" tIns="0" bIns="0" anchor="b">
            <a:spAutoFit/>
          </a:bodyPr>
          <a:lstStyle/>
          <a:p>
            <a:pPr algn="l">
              <a:spcAft>
                <a:spcPts val="600"/>
              </a:spcAft>
            </a:pPr>
            <a:r>
              <a:rPr sz="4400" b="0" i="0">
                <a:solidFill>
                  <a:srgbClr val="111111"/>
                </a:solidFill>
                <a:latin typeface="Arial Black"/>
              </a:rPr>
              <a:t>33% → 62%</a:t>
            </a:r>
          </a:p>
        </p:txBody>
      </p:sp>
      <p:sp>
        <p:nvSpPr>
          <p:cNvPr id="20" name="Waves label"/>
          <p:cNvSpPr txBox="1"/>
          <p:nvPr/>
        </p:nvSpPr>
        <p:spPr>
          <a:xfrm>
            <a:off x="1051560" y="7347204"/>
            <a:ext cx="4297680"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Nov 2017, Feb and Mar 2018 hold 33% of training orders but 62% of the late ones</a:t>
            </a:r>
          </a:p>
        </p:txBody>
      </p:sp>
      <p:sp>
        <p:nvSpPr>
          <p:cNvPr id="21" name="Monthly chart card"/>
          <p:cNvSpPr/>
          <p:nvPr/>
        </p:nvSpPr>
        <p:spPr>
          <a:xfrm>
            <a:off x="6035040" y="2377440"/>
            <a:ext cx="115214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400800" y="2606040"/>
            <a:ext cx="1078992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Late rate by month of purchase</a:t>
            </a:r>
          </a:p>
        </p:txBody>
      </p:sp>
      <p:graphicFrame>
        <p:nvGraphicFramePr>
          <p:cNvPr id="23" name="Monthly late rate chart"/>
          <p:cNvGraphicFramePr>
            <a:graphicFrameLocks noGrp="1"/>
          </p:cNvGraphicFramePr>
          <p:nvPr/>
        </p:nvGraphicFramePr>
        <p:xfrm>
          <a:off x="6400800" y="3108960"/>
          <a:ext cx="10789920" cy="5074920"/>
        </p:xfrm>
        <a:graphic>
          <a:graphicData uri="http://schemas.openxmlformats.org/drawingml/2006/chart">
            <c:chart xmlns:c="http://schemas.openxmlformats.org/drawingml/2006/chart" r:id="rId8"/>
          </a:graphicData>
        </a:graphic>
      </p:graphicFrame>
      <p:sp>
        <p:nvSpPr>
          <p:cNvPr id="24" name="Chart note"/>
          <p:cNvSpPr txBox="1"/>
          <p:nvPr/>
        </p:nvSpPr>
        <p:spPr>
          <a:xfrm>
            <a:off x="6400800" y="8229600"/>
            <a:ext cx="10789920" cy="41148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Feb–Mar 2018 was network-wide: even São Paulo's late rate nearly tripled (3.4% → 9.4%).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HOW THE DATA FITS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Olist's public data lets us predict at the moment ops can act</a:t>
            </a:r>
          </a:p>
        </p:txBody>
      </p:sp>
      <p:sp>
        <p:nvSpPr>
          <p:cNvPr id="15" name="Funnel card"/>
          <p:cNvSpPr/>
          <p:nvPr/>
        </p:nvSpPr>
        <p:spPr>
          <a:xfrm>
            <a:off x="731520" y="2377440"/>
            <a:ext cx="87782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unnel title"/>
          <p:cNvSpPr txBox="1"/>
          <p:nvPr/>
        </p:nvSpPr>
        <p:spPr>
          <a:xfrm>
            <a:off x="1097280" y="2606040"/>
            <a:ext cx="804672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From raw orders to a clean, labelled population</a:t>
            </a:r>
          </a:p>
        </p:txBody>
      </p:sp>
      <p:sp>
        <p:nvSpPr>
          <p:cNvPr id="17" name="Funnel bar 1"/>
          <p:cNvSpPr/>
          <p:nvPr/>
        </p:nvSpPr>
        <p:spPr>
          <a:xfrm>
            <a:off x="1097280" y="3291840"/>
            <a:ext cx="786384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unnel label 1"/>
          <p:cNvSpPr txBox="1"/>
          <p:nvPr/>
        </p:nvSpPr>
        <p:spPr>
          <a:xfrm>
            <a:off x="1325880" y="3364992"/>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All orders, Sep 2016 – Oct 2018</a:t>
            </a:r>
          </a:p>
        </p:txBody>
      </p:sp>
      <p:sp>
        <p:nvSpPr>
          <p:cNvPr id="19" name="Funnel value 1"/>
          <p:cNvSpPr txBox="1"/>
          <p:nvPr/>
        </p:nvSpPr>
        <p:spPr>
          <a:xfrm>
            <a:off x="6995159" y="3364992"/>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99,441</a:t>
            </a:r>
          </a:p>
        </p:txBody>
      </p:sp>
      <p:sp>
        <p:nvSpPr>
          <p:cNvPr id="20" name="Funnel bar 2"/>
          <p:cNvSpPr/>
          <p:nvPr/>
        </p:nvSpPr>
        <p:spPr>
          <a:xfrm>
            <a:off x="1097280" y="4315968"/>
            <a:ext cx="762952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unnel label 2"/>
          <p:cNvSpPr txBox="1"/>
          <p:nvPr/>
        </p:nvSpPr>
        <p:spPr>
          <a:xfrm>
            <a:off x="1325880" y="4389120"/>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Status is delivered</a:t>
            </a:r>
          </a:p>
        </p:txBody>
      </p:sp>
      <p:sp>
        <p:nvSpPr>
          <p:cNvPr id="22" name="Funnel value 2"/>
          <p:cNvSpPr txBox="1"/>
          <p:nvPr/>
        </p:nvSpPr>
        <p:spPr>
          <a:xfrm>
            <a:off x="6760844" y="4389120"/>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96,478</a:t>
            </a:r>
          </a:p>
        </p:txBody>
      </p:sp>
      <p:sp>
        <p:nvSpPr>
          <p:cNvPr id="23" name="Funnel bar 3"/>
          <p:cNvSpPr/>
          <p:nvPr/>
        </p:nvSpPr>
        <p:spPr>
          <a:xfrm>
            <a:off x="1097280" y="5340096"/>
            <a:ext cx="762778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unnel label 3"/>
          <p:cNvSpPr txBox="1"/>
          <p:nvPr/>
        </p:nvSpPr>
        <p:spPr>
          <a:xfrm>
            <a:off x="1325880" y="5413248"/>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Has approval and delivery dates</a:t>
            </a:r>
          </a:p>
        </p:txBody>
      </p:sp>
      <p:sp>
        <p:nvSpPr>
          <p:cNvPr id="25" name="Funnel value 3"/>
          <p:cNvSpPr txBox="1"/>
          <p:nvPr/>
        </p:nvSpPr>
        <p:spPr>
          <a:xfrm>
            <a:off x="6759104" y="5413248"/>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96,456</a:t>
            </a:r>
          </a:p>
        </p:txBody>
      </p:sp>
      <p:sp>
        <p:nvSpPr>
          <p:cNvPr id="26" name="Funnel bar 4"/>
          <p:cNvSpPr/>
          <p:nvPr/>
        </p:nvSpPr>
        <p:spPr>
          <a:xfrm>
            <a:off x="1097280" y="6364224"/>
            <a:ext cx="760667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Funnel label 4"/>
          <p:cNvSpPr txBox="1"/>
          <p:nvPr/>
        </p:nvSpPr>
        <p:spPr>
          <a:xfrm>
            <a:off x="1325880" y="6437376"/>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Bought from Jan 2017 onward</a:t>
            </a:r>
          </a:p>
        </p:txBody>
      </p:sp>
      <p:sp>
        <p:nvSpPr>
          <p:cNvPr id="28" name="Funnel value 4"/>
          <p:cNvSpPr txBox="1"/>
          <p:nvPr/>
        </p:nvSpPr>
        <p:spPr>
          <a:xfrm>
            <a:off x="6737990" y="6437376"/>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96,189</a:t>
            </a:r>
          </a:p>
        </p:txBody>
      </p:sp>
      <p:sp>
        <p:nvSpPr>
          <p:cNvPr id="29" name="Funnel bar 5"/>
          <p:cNvSpPr/>
          <p:nvPr/>
        </p:nvSpPr>
        <p:spPr>
          <a:xfrm>
            <a:off x="1097280" y="7388352"/>
            <a:ext cx="6751177" cy="868680"/>
          </a:xfrm>
          <a:prstGeom prst="roundRect">
            <a:avLst>
              <a:gd name="adj" fmla="val 10526"/>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Funnel label 5"/>
          <p:cNvSpPr txBox="1"/>
          <p:nvPr/>
        </p:nvSpPr>
        <p:spPr>
          <a:xfrm>
            <a:off x="1325880" y="7461504"/>
            <a:ext cx="5852160" cy="731520"/>
          </a:xfrm>
          <a:prstGeom prst="rect">
            <a:avLst/>
          </a:prstGeom>
          <a:noFill/>
        </p:spPr>
        <p:txBody>
          <a:bodyPr wrap="square" lIns="0" rIns="0" tIns="0" bIns="0" anchor="ctr">
            <a:spAutoFit/>
          </a:bodyPr>
          <a:lstStyle/>
          <a:p>
            <a:pPr algn="l">
              <a:spcAft>
                <a:spcPts val="600"/>
              </a:spcAft>
            </a:pPr>
            <a:r>
              <a:rPr sz="1700" b="0" i="0">
                <a:solidFill>
                  <a:srgbClr val="FFFFFF"/>
                </a:solidFill>
                <a:latin typeface="Calibri"/>
              </a:rPr>
              <a:t>Promised by 1 Aug 2018 (censoring rule)</a:t>
            </a:r>
          </a:p>
        </p:txBody>
      </p:sp>
      <p:sp>
        <p:nvSpPr>
          <p:cNvPr id="31" name="Funnel value 5"/>
          <p:cNvSpPr txBox="1"/>
          <p:nvPr/>
        </p:nvSpPr>
        <p:spPr>
          <a:xfrm>
            <a:off x="5882497" y="7461504"/>
            <a:ext cx="1737360" cy="731520"/>
          </a:xfrm>
          <a:prstGeom prst="rect">
            <a:avLst/>
          </a:prstGeom>
          <a:noFill/>
        </p:spPr>
        <p:txBody>
          <a:bodyPr wrap="square" lIns="0" rIns="0" tIns="0" bIns="0" anchor="ctr">
            <a:spAutoFit/>
          </a:bodyPr>
          <a:lstStyle/>
          <a:p>
            <a:pPr algn="r">
              <a:spcAft>
                <a:spcPts val="600"/>
              </a:spcAft>
            </a:pPr>
            <a:r>
              <a:rPr sz="2000" b="1" i="0">
                <a:solidFill>
                  <a:srgbClr val="FFFFFF"/>
                </a:solidFill>
                <a:latin typeface="Calibri"/>
              </a:rPr>
              <a:t>85,371</a:t>
            </a:r>
          </a:p>
        </p:txBody>
      </p:sp>
      <p:sp>
        <p:nvSpPr>
          <p:cNvPr id="32" name="The frame card"/>
          <p:cNvSpPr/>
          <p:nvPr/>
        </p:nvSpPr>
        <p:spPr>
          <a:xfrm>
            <a:off x="9875520" y="2377440"/>
            <a:ext cx="7680960" cy="2331720"/>
          </a:xfrm>
          <a:prstGeom prst="roundRect">
            <a:avLst>
              <a:gd name="adj" fmla="val 6274"/>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he frame heading"/>
          <p:cNvSpPr txBox="1"/>
          <p:nvPr/>
        </p:nvSpPr>
        <p:spPr>
          <a:xfrm>
            <a:off x="10195560" y="2560320"/>
            <a:ext cx="7040880" cy="50292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The frame</a:t>
            </a:r>
          </a:p>
        </p:txBody>
      </p:sp>
      <p:sp>
        <p:nvSpPr>
          <p:cNvPr id="34" name="The frame text"/>
          <p:cNvSpPr txBox="1"/>
          <p:nvPr/>
        </p:nvSpPr>
        <p:spPr>
          <a:xfrm>
            <a:off x="10195560" y="3108960"/>
            <a:ext cx="7040880" cy="1508760"/>
          </a:xfrm>
          <a:prstGeom prst="rect">
            <a:avLst/>
          </a:prstGeom>
          <a:noFill/>
        </p:spPr>
        <p:txBody>
          <a:bodyPr wrap="square" lIns="0" rIns="0" tIns="0" bIns="0" anchor="t">
            <a:spAutoFit/>
          </a:bodyPr>
          <a:lstStyle/>
          <a:p>
            <a:pPr algn="l" marL="292608" indent="-292608">
              <a:spcAft>
                <a:spcPts val="400"/>
              </a:spcAft>
              <a:buClr>
                <a:srgbClr val="89EDD0"/>
              </a:buClr>
              <a:buChar char="•"/>
            </a:pPr>
            <a:r>
              <a:rPr sz="1800" b="0" i="0">
                <a:solidFill>
                  <a:srgbClr val="FFFFFF"/>
                </a:solidFill>
                <a:latin typeface="Calibri"/>
              </a:rPr>
              <a:t>Supervised binary classification: late or not</a:t>
            </a:r>
          </a:p>
          <a:p>
            <a:pPr algn="l" marL="292608" indent="-292608">
              <a:spcAft>
                <a:spcPts val="400"/>
              </a:spcAft>
              <a:buClr>
                <a:srgbClr val="89EDD0"/>
              </a:buClr>
              <a:buChar char="•"/>
            </a:pPr>
            <a:r>
              <a:rPr sz="1800" b="0" i="0">
                <a:solidFill>
                  <a:srgbClr val="FFFFFF"/>
                </a:solidFill>
                <a:latin typeface="Calibri"/>
              </a:rPr>
              <a:t>Scored offline in a daily batch</a:t>
            </a:r>
          </a:p>
          <a:p>
            <a:pPr algn="l" marL="292608" indent="-292608">
              <a:spcAft>
                <a:spcPts val="400"/>
              </a:spcAft>
              <a:buClr>
                <a:srgbClr val="89EDD0"/>
              </a:buClr>
              <a:buChar char="•"/>
            </a:pPr>
            <a:r>
              <a:rPr sz="1800" b="0" i="0">
                <a:solidFill>
                  <a:srgbClr val="FFFFFF"/>
                </a:solidFill>
                <a:latin typeface="Calibri"/>
              </a:rPr>
              <a:t>Predict at order approval, using only what is known then</a:t>
            </a:r>
          </a:p>
        </p:txBody>
      </p:sp>
      <p:sp>
        <p:nvSpPr>
          <p:cNvPr id="35" name="The metrics card"/>
          <p:cNvSpPr/>
          <p:nvPr/>
        </p:nvSpPr>
        <p:spPr>
          <a:xfrm>
            <a:off x="9875520" y="4892040"/>
            <a:ext cx="7680960" cy="2011680"/>
          </a:xfrm>
          <a:prstGeom prst="roundRect">
            <a:avLst>
              <a:gd name="adj" fmla="val 727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he metrics heading"/>
          <p:cNvSpPr txBox="1"/>
          <p:nvPr/>
        </p:nvSpPr>
        <p:spPr>
          <a:xfrm>
            <a:off x="10195560" y="5074920"/>
            <a:ext cx="7040880" cy="50292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The metrics</a:t>
            </a:r>
          </a:p>
        </p:txBody>
      </p:sp>
      <p:sp>
        <p:nvSpPr>
          <p:cNvPr id="37" name="The metrics text"/>
          <p:cNvSpPr txBox="1"/>
          <p:nvPr/>
        </p:nvSpPr>
        <p:spPr>
          <a:xfrm>
            <a:off x="10195560" y="5623559"/>
            <a:ext cx="7040880" cy="1188720"/>
          </a:xfrm>
          <a:prstGeom prst="rect">
            <a:avLst/>
          </a:prstGeom>
          <a:noFill/>
        </p:spPr>
        <p:txBody>
          <a:bodyPr wrap="square" lIns="0" rIns="0" tIns="0" bIns="0" anchor="t">
            <a:spAutoFit/>
          </a:bodyPr>
          <a:lstStyle/>
          <a:p>
            <a:pPr algn="l" marL="292608" indent="-292608">
              <a:spcAft>
                <a:spcPts val="400"/>
              </a:spcAft>
              <a:buClr>
                <a:srgbClr val="3669E8"/>
              </a:buClr>
              <a:buChar char="•"/>
            </a:pPr>
            <a:r>
              <a:rPr sz="1800" b="0" i="0">
                <a:solidFill>
                  <a:srgbClr val="111111"/>
                </a:solidFill>
                <a:latin typeface="Calibri"/>
              </a:rPr>
              <a:t>PR-AUC: ranks the rare late orders</a:t>
            </a:r>
          </a:p>
          <a:p>
            <a:pPr algn="l" marL="292608" indent="-292608">
              <a:spcAft>
                <a:spcPts val="400"/>
              </a:spcAft>
              <a:buClr>
                <a:srgbClr val="3669E8"/>
              </a:buClr>
              <a:buChar char="•"/>
            </a:pPr>
            <a:r>
              <a:rPr sz="1800" b="0" i="0">
                <a:solidFill>
                  <a:srgbClr val="111111"/>
                </a:solidFill>
                <a:latin typeface="Calibri"/>
              </a:rPr>
              <a:t>Recall in the top 10%: of all late orders, how many does ops catch?</a:t>
            </a:r>
          </a:p>
        </p:txBody>
      </p:sp>
      <p:sp>
        <p:nvSpPr>
          <p:cNvPr id="38" name="Why not accuracy? card"/>
          <p:cNvSpPr/>
          <p:nvPr/>
        </p:nvSpPr>
        <p:spPr>
          <a:xfrm>
            <a:off x="9875520" y="7086600"/>
            <a:ext cx="7680960" cy="1645920"/>
          </a:xfrm>
          <a:prstGeom prst="roundRect">
            <a:avLst>
              <a:gd name="adj" fmla="val 888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Why not accuracy? heading"/>
          <p:cNvSpPr txBox="1"/>
          <p:nvPr/>
        </p:nvSpPr>
        <p:spPr>
          <a:xfrm>
            <a:off x="10195560" y="7269480"/>
            <a:ext cx="7040880" cy="502920"/>
          </a:xfrm>
          <a:prstGeom prst="rect">
            <a:avLst/>
          </a:prstGeom>
          <a:noFill/>
        </p:spPr>
        <p:txBody>
          <a:bodyPr wrap="square" lIns="0" rIns="0" tIns="0" bIns="0" anchor="t">
            <a:spAutoFit/>
          </a:bodyPr>
          <a:lstStyle/>
          <a:p>
            <a:pPr algn="l">
              <a:spcAft>
                <a:spcPts val="600"/>
              </a:spcAft>
            </a:pPr>
            <a:r>
              <a:rPr sz="2200" b="0" i="0">
                <a:solidFill>
                  <a:srgbClr val="3669E8"/>
                </a:solidFill>
                <a:latin typeface="Arial Black"/>
              </a:rPr>
              <a:t>Why not accuracy?</a:t>
            </a:r>
          </a:p>
        </p:txBody>
      </p:sp>
      <p:sp>
        <p:nvSpPr>
          <p:cNvPr id="40" name="Why not accuracy? text"/>
          <p:cNvSpPr txBox="1"/>
          <p:nvPr/>
        </p:nvSpPr>
        <p:spPr>
          <a:xfrm>
            <a:off x="10195560" y="7818120"/>
            <a:ext cx="7040880" cy="822960"/>
          </a:xfrm>
          <a:prstGeom prst="rect">
            <a:avLst/>
          </a:prstGeom>
          <a:noFill/>
        </p:spPr>
        <p:txBody>
          <a:bodyPr wrap="square" lIns="0" rIns="0" tIns="0" bIns="0" anchor="t">
            <a:spAutoFit/>
          </a:bodyPr>
          <a:lstStyle/>
          <a:p>
            <a:pPr algn="l" marL="292608" indent="-292608">
              <a:spcAft>
                <a:spcPts val="400"/>
              </a:spcAft>
              <a:buClr>
                <a:srgbClr val="3669E8"/>
              </a:buClr>
              <a:buChar char="•"/>
            </a:pPr>
            <a:r>
              <a:rPr sz="1800" b="0" i="0">
                <a:solidFill>
                  <a:srgbClr val="111111"/>
                </a:solidFill>
                <a:latin typeface="Calibri"/>
              </a:rPr>
              <a:t>"Always on time" is 95.9% accurate on the test set and catches zero late orders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Our process, end to end, with no peeking at the future</a:t>
            </a:r>
          </a:p>
        </p:txBody>
      </p:sp>
      <p:sp>
        <p:nvSpPr>
          <p:cNvPr id="15" name="Stage 1"/>
          <p:cNvSpPr/>
          <p:nvPr/>
        </p:nvSpPr>
        <p:spPr>
          <a:xfrm>
            <a:off x="731520"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age 1 name"/>
          <p:cNvSpPr txBox="1"/>
          <p:nvPr/>
        </p:nvSpPr>
        <p:spPr>
          <a:xfrm>
            <a:off x="914400"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1. Frame</a:t>
            </a:r>
          </a:p>
        </p:txBody>
      </p:sp>
      <p:sp>
        <p:nvSpPr>
          <p:cNvPr id="17" name="Stage 2"/>
          <p:cNvSpPr/>
          <p:nvPr/>
        </p:nvSpPr>
        <p:spPr>
          <a:xfrm>
            <a:off x="3575304"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tage 2 name"/>
          <p:cNvSpPr txBox="1"/>
          <p:nvPr/>
        </p:nvSpPr>
        <p:spPr>
          <a:xfrm>
            <a:off x="3758184"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2. Explore</a:t>
            </a:r>
          </a:p>
        </p:txBody>
      </p:sp>
      <p:sp>
        <p:nvSpPr>
          <p:cNvPr id="19" name="Stage 3"/>
          <p:cNvSpPr/>
          <p:nvPr/>
        </p:nvSpPr>
        <p:spPr>
          <a:xfrm>
            <a:off x="6419088"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age 3 name"/>
          <p:cNvSpPr txBox="1"/>
          <p:nvPr/>
        </p:nvSpPr>
        <p:spPr>
          <a:xfrm>
            <a:off x="6601968"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3. Prepare</a:t>
            </a:r>
          </a:p>
        </p:txBody>
      </p:sp>
      <p:sp>
        <p:nvSpPr>
          <p:cNvPr id="21" name="Stage 4"/>
          <p:cNvSpPr/>
          <p:nvPr/>
        </p:nvSpPr>
        <p:spPr>
          <a:xfrm>
            <a:off x="9262872"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tage 4 name"/>
          <p:cNvSpPr txBox="1"/>
          <p:nvPr/>
        </p:nvSpPr>
        <p:spPr>
          <a:xfrm>
            <a:off x="9445752"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4. Compare 7 models</a:t>
            </a:r>
          </a:p>
        </p:txBody>
      </p:sp>
      <p:sp>
        <p:nvSpPr>
          <p:cNvPr id="23" name="Stage 5"/>
          <p:cNvSpPr/>
          <p:nvPr/>
        </p:nvSpPr>
        <p:spPr>
          <a:xfrm>
            <a:off x="12106656"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tage 5 name"/>
          <p:cNvSpPr txBox="1"/>
          <p:nvPr/>
        </p:nvSpPr>
        <p:spPr>
          <a:xfrm>
            <a:off x="12289536"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5. Tune + ensembles</a:t>
            </a:r>
          </a:p>
        </p:txBody>
      </p:sp>
      <p:sp>
        <p:nvSpPr>
          <p:cNvPr id="25" name="Stage 6"/>
          <p:cNvSpPr/>
          <p:nvPr/>
        </p:nvSpPr>
        <p:spPr>
          <a:xfrm>
            <a:off x="14950440" y="2377440"/>
            <a:ext cx="2606040" cy="1600200"/>
          </a:xfrm>
          <a:prstGeom prst="roundRect">
            <a:avLst>
              <a:gd name="adj" fmla="val 914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tage 6 name"/>
          <p:cNvSpPr txBox="1"/>
          <p:nvPr/>
        </p:nvSpPr>
        <p:spPr>
          <a:xfrm>
            <a:off x="15133320" y="2514600"/>
            <a:ext cx="2240280" cy="1325880"/>
          </a:xfrm>
          <a:prstGeom prst="rect">
            <a:avLst/>
          </a:prstGeom>
          <a:noFill/>
        </p:spPr>
        <p:txBody>
          <a:bodyPr wrap="square" lIns="0" rIns="0" tIns="0" bIns="0" anchor="ctr">
            <a:spAutoFit/>
          </a:bodyPr>
          <a:lstStyle/>
          <a:p>
            <a:pPr algn="l">
              <a:spcAft>
                <a:spcPts val="600"/>
              </a:spcAft>
            </a:pPr>
            <a:r>
              <a:rPr sz="2000" b="0" i="0">
                <a:solidFill>
                  <a:srgbClr val="89EDD0"/>
                </a:solidFill>
                <a:latin typeface="Arial Black"/>
              </a:rPr>
              <a:t>6. Test once</a:t>
            </a:r>
          </a:p>
        </p:txBody>
      </p:sp>
      <p:sp>
        <p:nvSpPr>
          <p:cNvPr id="27" name="Split card"/>
          <p:cNvSpPr/>
          <p:nvPr/>
        </p:nvSpPr>
        <p:spPr>
          <a:xfrm>
            <a:off x="731520" y="4343400"/>
            <a:ext cx="16824960" cy="2331720"/>
          </a:xfrm>
          <a:prstGeom prst="roundRect">
            <a:avLst>
              <a:gd name="adj" fmla="val 6274"/>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plit title"/>
          <p:cNvSpPr txBox="1"/>
          <p:nvPr/>
        </p:nvSpPr>
        <p:spPr>
          <a:xfrm>
            <a:off x="1051560" y="4498848"/>
            <a:ext cx="1618488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The time split: train on the past, test on the future</a:t>
            </a:r>
          </a:p>
        </p:txBody>
      </p:sp>
      <p:sp>
        <p:nvSpPr>
          <p:cNvPr id="29" name="Train bar"/>
          <p:cNvSpPr/>
          <p:nvPr/>
        </p:nvSpPr>
        <p:spPr>
          <a:xfrm>
            <a:off x="1051560" y="5120640"/>
            <a:ext cx="11761342" cy="960120"/>
          </a:xfrm>
          <a:prstGeom prst="roundRect">
            <a:avLst>
              <a:gd name="adj" fmla="val 9523"/>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in label"/>
          <p:cNvSpPr txBox="1"/>
          <p:nvPr/>
        </p:nvSpPr>
        <p:spPr>
          <a:xfrm>
            <a:off x="1325880" y="5120640"/>
            <a:ext cx="11212702" cy="960120"/>
          </a:xfrm>
          <a:prstGeom prst="rect">
            <a:avLst/>
          </a:prstGeom>
          <a:noFill/>
        </p:spPr>
        <p:txBody>
          <a:bodyPr wrap="square" lIns="0" rIns="0" tIns="0" bIns="0" anchor="ctr">
            <a:spAutoFit/>
          </a:bodyPr>
          <a:lstStyle/>
          <a:p>
            <a:pPr algn="l">
              <a:spcAft>
                <a:spcPts val="600"/>
              </a:spcAft>
            </a:pPr>
            <a:r>
              <a:rPr sz="1900" b="1" i="0">
                <a:solidFill>
                  <a:srgbClr val="FFFFFF"/>
                </a:solidFill>
                <a:latin typeface="Calibri"/>
              </a:rPr>
              <a:t>Train  </a:t>
            </a:r>
            <a:r>
              <a:rPr sz="1900" b="0" i="0">
                <a:solidFill>
                  <a:srgbClr val="FFFFFF"/>
                </a:solidFill>
                <a:latin typeface="Calibri"/>
              </a:rPr>
              <a:t>Jan 2017 – Mar 2018 · 64,038 orders · 8.0% late</a:t>
            </a:r>
          </a:p>
        </p:txBody>
      </p:sp>
      <p:sp>
        <p:nvSpPr>
          <p:cNvPr id="31" name="Gap bar"/>
          <p:cNvSpPr/>
          <p:nvPr/>
        </p:nvSpPr>
        <p:spPr>
          <a:xfrm>
            <a:off x="12812902" y="5120640"/>
            <a:ext cx="379165" cy="960120"/>
          </a:xfrm>
          <a:prstGeom prst="roundRect">
            <a:avLst>
              <a:gd name="adj" fmla="val 482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st bar"/>
          <p:cNvSpPr/>
          <p:nvPr/>
        </p:nvSpPr>
        <p:spPr>
          <a:xfrm>
            <a:off x="13192068" y="5120640"/>
            <a:ext cx="4044371" cy="960120"/>
          </a:xfrm>
          <a:prstGeom prst="roundRect">
            <a:avLst>
              <a:gd name="adj" fmla="val 9523"/>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st label"/>
          <p:cNvSpPr txBox="1"/>
          <p:nvPr/>
        </p:nvSpPr>
        <p:spPr>
          <a:xfrm>
            <a:off x="13466388" y="5120640"/>
            <a:ext cx="3678611" cy="960120"/>
          </a:xfrm>
          <a:prstGeom prst="rect">
            <a:avLst/>
          </a:prstGeom>
          <a:noFill/>
        </p:spPr>
        <p:txBody>
          <a:bodyPr wrap="square" lIns="0" rIns="0" tIns="0" bIns="0" anchor="ctr">
            <a:spAutoFit/>
          </a:bodyPr>
          <a:lstStyle/>
          <a:p>
            <a:pPr algn="l">
              <a:spcAft>
                <a:spcPts val="600"/>
              </a:spcAft>
            </a:pPr>
            <a:r>
              <a:rPr sz="1900" b="1" i="0">
                <a:solidFill>
                  <a:srgbClr val="111111"/>
                </a:solidFill>
                <a:latin typeface="Calibri"/>
              </a:rPr>
              <a:t>Test  </a:t>
            </a:r>
            <a:r>
              <a:rPr sz="1900" b="0" i="0">
                <a:solidFill>
                  <a:srgbClr val="111111"/>
                </a:solidFill>
                <a:latin typeface="Calibri"/>
              </a:rPr>
              <a:t>Apr – Jul 2018 · 21,333 · 4.1% late</a:t>
            </a:r>
          </a:p>
        </p:txBody>
      </p:sp>
      <p:sp>
        <p:nvSpPr>
          <p:cNvPr id="34" name="Gap label"/>
          <p:cNvSpPr txBox="1"/>
          <p:nvPr/>
        </p:nvSpPr>
        <p:spPr>
          <a:xfrm>
            <a:off x="9886822" y="6144768"/>
            <a:ext cx="3291840" cy="411480"/>
          </a:xfrm>
          <a:prstGeom prst="rect">
            <a:avLst/>
          </a:prstGeom>
          <a:noFill/>
        </p:spPr>
        <p:txBody>
          <a:bodyPr wrap="square" lIns="0" rIns="0" tIns="0" bIns="0" anchor="t">
            <a:spAutoFit/>
          </a:bodyPr>
          <a:lstStyle/>
          <a:p>
            <a:pPr algn="r">
              <a:spcAft>
                <a:spcPts val="600"/>
              </a:spcAft>
            </a:pPr>
            <a:r>
              <a:rPr sz="1600" b="1" i="0">
                <a:solidFill>
                  <a:srgbClr val="111111"/>
                </a:solidFill>
                <a:latin typeface="Calibri"/>
              </a:rPr>
              <a:t>2,000-order gap ▲</a:t>
            </a:r>
          </a:p>
        </p:txBody>
      </p:sp>
      <p:sp>
        <p:nvSpPr>
          <p:cNvPr id="35" name="Pipeline card"/>
          <p:cNvSpPr/>
          <p:nvPr/>
        </p:nvSpPr>
        <p:spPr>
          <a:xfrm>
            <a:off x="731520" y="6903720"/>
            <a:ext cx="1682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rocess bullets"/>
          <p:cNvSpPr txBox="1"/>
          <p:nvPr/>
        </p:nvSpPr>
        <p:spPr>
          <a:xfrm>
            <a:off x="1051560" y="7114032"/>
            <a:ext cx="16184880" cy="1554480"/>
          </a:xfrm>
          <a:prstGeom prst="rect">
            <a:avLst/>
          </a:prstGeom>
          <a:noFill/>
        </p:spPr>
        <p:txBody>
          <a:bodyPr wrap="square" lIns="0" rIns="0" tIns="0" bIns="0" anchor="t">
            <a:spAutoFit/>
          </a:bodyPr>
          <a:lstStyle/>
          <a:p>
            <a:pPr algn="l" marL="292608" indent="-292608">
              <a:spcAft>
                <a:spcPts val="600"/>
              </a:spcAft>
              <a:buClr>
                <a:srgbClr val="3669E8"/>
              </a:buClr>
              <a:buChar char="•"/>
            </a:pPr>
            <a:r>
              <a:rPr sz="2000" b="1" i="0">
                <a:solidFill>
                  <a:srgbClr val="111111"/>
                </a:solidFill>
                <a:latin typeface="Calibri"/>
              </a:rPr>
              <a:t>One leak-free pipeline </a:t>
            </a:r>
            <a:r>
              <a:rPr sz="2000" b="0" i="0">
                <a:solidFill>
                  <a:srgbClr val="111111"/>
                </a:solidFill>
                <a:latin typeface="Calibri"/>
              </a:rPr>
              <a:t>refitted inside every fold (103 inputs)</a:t>
            </a:r>
          </a:p>
          <a:p>
            <a:pPr algn="l" marL="292608" indent="-292608">
              <a:spcAft>
                <a:spcPts val="600"/>
              </a:spcAft>
              <a:buClr>
                <a:srgbClr val="3669E8"/>
              </a:buClr>
              <a:buChar char="•"/>
            </a:pPr>
            <a:r>
              <a:rPr sz="2000" b="1" i="0">
                <a:solidFill>
                  <a:srgbClr val="111111"/>
                </a:solidFill>
                <a:latin typeface="Calibri"/>
              </a:rPr>
              <a:t>5-fold time-series CV </a:t>
            </a:r>
            <a:r>
              <a:rPr sz="2000" b="0" i="0">
                <a:solidFill>
                  <a:srgbClr val="111111"/>
                </a:solidFill>
                <a:latin typeface="Calibri"/>
              </a:rPr>
              <a:t>with the same 2,000-order gap</a:t>
            </a:r>
          </a:p>
          <a:p>
            <a:pPr algn="l" marL="292608" indent="-292608">
              <a:spcAft>
                <a:spcPts val="600"/>
              </a:spcAft>
              <a:buClr>
                <a:srgbClr val="3669E8"/>
              </a:buClr>
              <a:buChar char="•"/>
            </a:pPr>
            <a:r>
              <a:rPr sz="2000" b="1" i="0">
                <a:solidFill>
                  <a:srgbClr val="111111"/>
                </a:solidFill>
                <a:latin typeface="Calibri"/>
              </a:rPr>
              <a:t>A random split would have flattered us: </a:t>
            </a:r>
            <a:r>
              <a:rPr sz="2000" b="0" i="0">
                <a:solidFill>
                  <a:srgbClr val="111111"/>
                </a:solidFill>
                <a:latin typeface="Calibri"/>
              </a:rPr>
              <a:t>27.7% recall vs the honest 23.7%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INSIGHT FROM EXPLORING THE DATA</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Late deliveries happen when the promise is too short for the distance</a:t>
            </a:r>
          </a:p>
        </p:txBody>
      </p:sp>
      <p:sp>
        <p:nvSpPr>
          <p:cNvPr id="15" name="Heatmap card"/>
          <p:cNvSpPr/>
          <p:nvPr/>
        </p:nvSpPr>
        <p:spPr>
          <a:xfrm>
            <a:off x="731520" y="2377440"/>
            <a:ext cx="104241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eatmap title"/>
          <p:cNvSpPr txBox="1"/>
          <p:nvPr/>
        </p:nvSpPr>
        <p:spPr>
          <a:xfrm>
            <a:off x="1097280" y="2606040"/>
            <a:ext cx="969264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Late rate by distance and promised window (training period)</a:t>
            </a:r>
          </a:p>
        </p:txBody>
      </p:sp>
      <p:graphicFrame>
        <p:nvGraphicFramePr>
          <p:cNvPr id="17" name="Heatmap table"/>
          <p:cNvGraphicFramePr>
            <a:graphicFrameLocks noGrp="1"/>
          </p:cNvGraphicFramePr>
          <p:nvPr/>
        </p:nvGraphicFramePr>
        <p:xfrm>
          <a:off x="1097280" y="3200400"/>
          <a:ext cx="9692640" cy="4937760"/>
        </p:xfrm>
        <a:graphic>
          <a:graphicData uri="http://schemas.openxmlformats.org/drawingml/2006/table">
            <a:tbl>
              <a:tblPr firstRow="0" bandRow="0">
                <a:tableStyleId>{2D5ABB26-0587-4C30-8999-92F81FD0307C}</a:tableStyleId>
              </a:tblPr>
              <a:tblGrid>
                <a:gridCol w="1920240"/>
                <a:gridCol w="1554480"/>
                <a:gridCol w="1554480"/>
                <a:gridCol w="1554480"/>
                <a:gridCol w="1554480"/>
                <a:gridCol w="1554480"/>
              </a:tblGrid>
              <a:tr h="822960">
                <a:tc>
                  <a:txBody>
                    <a:bodyPr wrap="square"/>
                    <a:lstStyle/>
                    <a:p>
                      <a:pPr algn="ctr"/>
                      <a:r>
                        <a:rPr sz="1300" b="0">
                          <a:solidFill>
                            <a:srgbClr val="8A8FA3"/>
                          </a:solidFill>
                          <a:latin typeface="Calibri"/>
                        </a:rPr>
                        <a:t>Distance ↓ / promise →</a:t>
                      </a:r>
                    </a:p>
                  </a:txBody>
                  <a:tcPr marL="109728" marR="109728" marT="54864" marB="54864" anchor="ctr">
                    <a:noFill/>
                  </a:tcPr>
                </a:tc>
                <a:tc>
                  <a:txBody>
                    <a:bodyPr wrap="square"/>
                    <a:lstStyle/>
                    <a:p>
                      <a:pPr algn="ctr"/>
                      <a:r>
                        <a:rPr sz="1700" b="1">
                          <a:solidFill>
                            <a:srgbClr val="111111"/>
                          </a:solidFill>
                          <a:latin typeface="Calibri"/>
                        </a:rPr>
                        <a:t>0–18 d</a:t>
                      </a:r>
                    </a:p>
                  </a:txBody>
                  <a:tcPr marL="109728" marR="109728" marT="54864" marB="54864" anchor="ctr">
                    <a:noFill/>
                  </a:tcPr>
                </a:tc>
                <a:tc>
                  <a:txBody>
                    <a:bodyPr wrap="square"/>
                    <a:lstStyle/>
                    <a:p>
                      <a:pPr algn="ctr"/>
                      <a:r>
                        <a:rPr sz="1700" b="1">
                          <a:solidFill>
                            <a:srgbClr val="111111"/>
                          </a:solidFill>
                          <a:latin typeface="Calibri"/>
                        </a:rPr>
                        <a:t>18–22 d</a:t>
                      </a:r>
                    </a:p>
                  </a:txBody>
                  <a:tcPr marL="109728" marR="109728" marT="54864" marB="54864" anchor="ctr">
                    <a:noFill/>
                  </a:tcPr>
                </a:tc>
                <a:tc>
                  <a:txBody>
                    <a:bodyPr wrap="square"/>
                    <a:lstStyle/>
                    <a:p>
                      <a:pPr algn="ctr"/>
                      <a:r>
                        <a:rPr sz="1700" b="1">
                          <a:solidFill>
                            <a:srgbClr val="111111"/>
                          </a:solidFill>
                          <a:latin typeface="Calibri"/>
                        </a:rPr>
                        <a:t>22–25 d</a:t>
                      </a:r>
                    </a:p>
                  </a:txBody>
                  <a:tcPr marL="109728" marR="109728" marT="54864" marB="54864" anchor="ctr">
                    <a:noFill/>
                  </a:tcPr>
                </a:tc>
                <a:tc>
                  <a:txBody>
                    <a:bodyPr wrap="square"/>
                    <a:lstStyle/>
                    <a:p>
                      <a:pPr algn="ctr"/>
                      <a:r>
                        <a:rPr sz="1700" b="1">
                          <a:solidFill>
                            <a:srgbClr val="111111"/>
                          </a:solidFill>
                          <a:latin typeface="Calibri"/>
                        </a:rPr>
                        <a:t>25–30 d</a:t>
                      </a:r>
                    </a:p>
                  </a:txBody>
                  <a:tcPr marL="109728" marR="109728" marT="54864" marB="54864" anchor="ctr">
                    <a:noFill/>
                  </a:tcPr>
                </a:tc>
                <a:tc>
                  <a:txBody>
                    <a:bodyPr wrap="square"/>
                    <a:lstStyle/>
                    <a:p>
                      <a:pPr algn="ctr"/>
                      <a:r>
                        <a:rPr sz="1700" b="1">
                          <a:solidFill>
                            <a:srgbClr val="111111"/>
                          </a:solidFill>
                          <a:latin typeface="Calibri"/>
                        </a:rPr>
                        <a:t>30+ d</a:t>
                      </a:r>
                    </a:p>
                  </a:txBody>
                  <a:tcPr marL="109728" marR="109728" marT="54864" marB="54864" anchor="ctr">
                    <a:noFill/>
                  </a:tcPr>
                </a:tc>
              </a:tr>
              <a:tr h="822960">
                <a:tc>
                  <a:txBody>
                    <a:bodyPr wrap="square"/>
                    <a:lstStyle/>
                    <a:p>
                      <a:pPr algn="r"/>
                      <a:r>
                        <a:rPr sz="1700" b="1">
                          <a:solidFill>
                            <a:srgbClr val="111111"/>
                          </a:solidFill>
                          <a:latin typeface="Calibri"/>
                        </a:rPr>
                        <a:t>0–137 km</a:t>
                      </a:r>
                    </a:p>
                  </a:txBody>
                  <a:tcPr marL="109728" marR="109728" marT="54864" marB="54864" anchor="ctr">
                    <a:noFill/>
                  </a:tcPr>
                </a:tc>
                <a:tc>
                  <a:txBody>
                    <a:bodyPr wrap="square"/>
                    <a:lstStyle/>
                    <a:p>
                      <a:pPr algn="ctr"/>
                      <a:r>
                        <a:rPr sz="2000" b="1">
                          <a:solidFill>
                            <a:srgbClr val="111111"/>
                          </a:solidFill>
                          <a:latin typeface="Calibri"/>
                        </a:rPr>
                        <a:t>4.5%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FB7F5"/>
                    </a:solidFill>
                  </a:tcPr>
                </a:tc>
                <a:tc>
                  <a:txBody>
                    <a:bodyPr wrap="square"/>
                    <a:lstStyle/>
                    <a:p>
                      <a:pPr algn="ctr"/>
                      <a:r>
                        <a:rPr sz="2000" b="1">
                          <a:solidFill>
                            <a:srgbClr val="111111"/>
                          </a:solidFill>
                          <a:latin typeface="Calibri"/>
                        </a:rPr>
                        <a:t>3.2%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B5C8F7"/>
                    </a:solidFill>
                  </a:tcPr>
                </a:tc>
                <a:tc>
                  <a:txBody>
                    <a:bodyPr wrap="square"/>
                    <a:lstStyle/>
                    <a:p>
                      <a:pPr algn="ctr"/>
                      <a:r>
                        <a:rPr sz="2000" b="1">
                          <a:solidFill>
                            <a:srgbClr val="111111"/>
                          </a:solidFill>
                          <a:latin typeface="Calibri"/>
                        </a:rPr>
                        <a:t>3.5%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B0C4F7"/>
                    </a:solidFill>
                  </a:tcPr>
                </a:tc>
                <a:tc>
                  <a:txBody>
                    <a:bodyPr wrap="square"/>
                    <a:lstStyle/>
                    <a:p>
                      <a:pPr algn="ctr"/>
                      <a:r>
                        <a:rPr sz="2000" b="1">
                          <a:solidFill>
                            <a:srgbClr val="111111"/>
                          </a:solidFill>
                          <a:latin typeface="Calibri"/>
                        </a:rPr>
                        <a:t>4.1%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6BCF6"/>
                    </a:solidFill>
                  </a:tcPr>
                </a:tc>
                <a:tc>
                  <a:txBody>
                    <a:bodyPr wrap="square"/>
                    <a:lstStyle/>
                    <a:p>
                      <a:pPr algn="ctr"/>
                      <a:r>
                        <a:rPr sz="2000" b="1">
                          <a:solidFill>
                            <a:srgbClr val="111111"/>
                          </a:solidFill>
                          <a:latin typeface="Calibri"/>
                        </a:rPr>
                        <a:t>1.7%</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D0DBFB"/>
                    </a:solidFill>
                  </a:tcPr>
                </a:tc>
              </a:tr>
              <a:tr h="822960">
                <a:tc>
                  <a:txBody>
                    <a:bodyPr wrap="square"/>
                    <a:lstStyle/>
                    <a:p>
                      <a:pPr algn="r"/>
                      <a:r>
                        <a:rPr sz="1700" b="1">
                          <a:solidFill>
                            <a:srgbClr val="111111"/>
                          </a:solidFill>
                          <a:latin typeface="Calibri"/>
                        </a:rPr>
                        <a:t>137–357 km</a:t>
                      </a:r>
                    </a:p>
                  </a:txBody>
                  <a:tcPr marL="109728" marR="109728" marT="54864" marB="54864" anchor="ctr">
                    <a:noFill/>
                  </a:tcPr>
                </a:tc>
                <a:tc>
                  <a:txBody>
                    <a:bodyPr wrap="square"/>
                    <a:lstStyle/>
                    <a:p>
                      <a:pPr algn="ctr"/>
                      <a:r>
                        <a:rPr sz="2000" b="1">
                          <a:solidFill>
                            <a:srgbClr val="FFFFFF"/>
                          </a:solidFill>
                          <a:latin typeface="Calibri"/>
                        </a:rPr>
                        <a:t>11.3%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3364DF"/>
                    </a:solidFill>
                  </a:tcPr>
                </a:tc>
                <a:tc>
                  <a:txBody>
                    <a:bodyPr wrap="square"/>
                    <a:lstStyle/>
                    <a:p>
                      <a:pPr algn="ctr"/>
                      <a:r>
                        <a:rPr sz="2000" b="1">
                          <a:solidFill>
                            <a:srgbClr val="111111"/>
                          </a:solidFill>
                          <a:latin typeface="Calibri"/>
                        </a:rPr>
                        <a:t>8.3%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5C85EC"/>
                    </a:solidFill>
                  </a:tcPr>
                </a:tc>
                <a:tc>
                  <a:txBody>
                    <a:bodyPr wrap="square"/>
                    <a:lstStyle/>
                    <a:p>
                      <a:pPr algn="ctr"/>
                      <a:r>
                        <a:rPr sz="2000" b="1">
                          <a:solidFill>
                            <a:srgbClr val="111111"/>
                          </a:solidFill>
                          <a:latin typeface="Calibri"/>
                        </a:rPr>
                        <a:t>5.5%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DAAF2"/>
                    </a:solidFill>
                  </a:tcPr>
                </a:tc>
                <a:tc>
                  <a:txBody>
                    <a:bodyPr wrap="square"/>
                    <a:lstStyle/>
                    <a:p>
                      <a:pPr algn="ctr"/>
                      <a:r>
                        <a:rPr sz="2000" b="1">
                          <a:solidFill>
                            <a:srgbClr val="111111"/>
                          </a:solidFill>
                          <a:latin typeface="Calibri"/>
                        </a:rPr>
                        <a:t>5.1%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4AFF3"/>
                    </a:solidFill>
                  </a:tcPr>
                </a:tc>
                <a:tc>
                  <a:txBody>
                    <a:bodyPr wrap="square"/>
                    <a:lstStyle/>
                    <a:p>
                      <a:pPr algn="ctr"/>
                      <a:r>
                        <a:rPr sz="2000" b="1">
                          <a:solidFill>
                            <a:srgbClr val="111111"/>
                          </a:solidFill>
                          <a:latin typeface="Calibri"/>
                        </a:rPr>
                        <a:t>6.0%</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4A3F1"/>
                    </a:solidFill>
                  </a:tcPr>
                </a:tc>
              </a:tr>
              <a:tr h="822960">
                <a:tc>
                  <a:txBody>
                    <a:bodyPr wrap="square"/>
                    <a:lstStyle/>
                    <a:p>
                      <a:pPr algn="r"/>
                      <a:r>
                        <a:rPr sz="1700" b="1">
                          <a:solidFill>
                            <a:srgbClr val="111111"/>
                          </a:solidFill>
                          <a:latin typeface="Calibri"/>
                        </a:rPr>
                        <a:t>357–547 km</a:t>
                      </a:r>
                    </a:p>
                  </a:txBody>
                  <a:tcPr marL="109728" marR="109728" marT="54864" marB="54864" anchor="ctr">
                    <a:noFill/>
                  </a:tcPr>
                </a:tc>
                <a:tc>
                  <a:txBody>
                    <a:bodyPr wrap="square"/>
                    <a:lstStyle/>
                    <a:p>
                      <a:pPr algn="ctr"/>
                      <a:r>
                        <a:rPr sz="2000" b="1">
                          <a:solidFill>
                            <a:srgbClr val="FFFFFF"/>
                          </a:solidFill>
                          <a:latin typeface="Calibri"/>
                        </a:rPr>
                        <a:t>13.1%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E5ACC"/>
                    </a:solidFill>
                  </a:tcPr>
                </a:tc>
                <a:tc>
                  <a:txBody>
                    <a:bodyPr wrap="square"/>
                    <a:lstStyle/>
                    <a:p>
                      <a:pPr algn="ctr"/>
                      <a:r>
                        <a:rPr sz="2000" b="1">
                          <a:solidFill>
                            <a:srgbClr val="FFFFFF"/>
                          </a:solidFill>
                          <a:latin typeface="Calibri"/>
                        </a:rPr>
                        <a:t>9.9%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070E9"/>
                    </a:solidFill>
                  </a:tcPr>
                </a:tc>
                <a:tc>
                  <a:txBody>
                    <a:bodyPr wrap="square"/>
                    <a:lstStyle/>
                    <a:p>
                      <a:pPr algn="ctr"/>
                      <a:r>
                        <a:rPr sz="2000" b="1">
                          <a:solidFill>
                            <a:srgbClr val="111111"/>
                          </a:solidFill>
                          <a:latin typeface="Calibri"/>
                        </a:rPr>
                        <a:t>7.6%</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88EEE"/>
                    </a:solidFill>
                  </a:tcPr>
                </a:tc>
                <a:tc>
                  <a:txBody>
                    <a:bodyPr wrap="square"/>
                    <a:lstStyle/>
                    <a:p>
                      <a:pPr algn="ctr"/>
                      <a:r>
                        <a:rPr sz="2000" b="1">
                          <a:solidFill>
                            <a:srgbClr val="111111"/>
                          </a:solidFill>
                          <a:latin typeface="Calibri"/>
                        </a:rPr>
                        <a:t>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699F0"/>
                    </a:solidFill>
                  </a:tcPr>
                </a:tc>
                <a:tc>
                  <a:txBody>
                    <a:bodyPr wrap="square"/>
                    <a:lstStyle/>
                    <a:p>
                      <a:pPr algn="ctr"/>
                      <a:r>
                        <a:rPr sz="2000" b="1">
                          <a:solidFill>
                            <a:srgbClr val="111111"/>
                          </a:solidFill>
                          <a:latin typeface="Calibri"/>
                        </a:rPr>
                        <a:t>4.2%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4BBF5"/>
                    </a:solidFill>
                  </a:tcPr>
                </a:tc>
              </a:tr>
              <a:tr h="822960">
                <a:tc>
                  <a:txBody>
                    <a:bodyPr wrap="square"/>
                    <a:lstStyle/>
                    <a:p>
                      <a:pPr algn="r"/>
                      <a:r>
                        <a:rPr sz="1700" b="1">
                          <a:solidFill>
                            <a:srgbClr val="111111"/>
                          </a:solidFill>
                          <a:latin typeface="Calibri"/>
                        </a:rPr>
                        <a:t>547–889 km</a:t>
                      </a:r>
                    </a:p>
                  </a:txBody>
                  <a:tcPr marL="109728" marR="109728" marT="54864" marB="54864" anchor="ctr">
                    <a:noFill/>
                  </a:tcPr>
                </a:tc>
                <a:tc>
                  <a:txBody>
                    <a:bodyPr wrap="square"/>
                    <a:lstStyle/>
                    <a:p>
                      <a:pPr algn="ctr"/>
                      <a:r>
                        <a:rPr sz="2000" b="1">
                          <a:solidFill>
                            <a:srgbClr val="FFFFFF"/>
                          </a:solidFill>
                          <a:latin typeface="Calibri"/>
                        </a:rPr>
                        <a:t>14.8%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1BA"/>
                    </a:solidFill>
                  </a:tcPr>
                </a:tc>
                <a:tc>
                  <a:txBody>
                    <a:bodyPr wrap="square"/>
                    <a:lstStyle/>
                    <a:p>
                      <a:pPr algn="ctr"/>
                      <a:r>
                        <a:rPr sz="2000" b="1">
                          <a:solidFill>
                            <a:srgbClr val="FFFFFF"/>
                          </a:solidFill>
                          <a:latin typeface="Calibri"/>
                        </a:rPr>
                        <a:t>14.9%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0B9"/>
                    </a:solidFill>
                  </a:tcPr>
                </a:tc>
                <a:tc>
                  <a:txBody>
                    <a:bodyPr wrap="square"/>
                    <a:lstStyle/>
                    <a:p>
                      <a:pPr algn="ctr"/>
                      <a:r>
                        <a:rPr sz="2000" b="1">
                          <a:solidFill>
                            <a:srgbClr val="FFFFFF"/>
                          </a:solidFill>
                          <a:latin typeface="Calibri"/>
                        </a:rPr>
                        <a:t>9.4%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977EA"/>
                    </a:solidFill>
                  </a:tcPr>
                </a:tc>
                <a:tc>
                  <a:txBody>
                    <a:bodyPr wrap="square"/>
                    <a:lstStyle/>
                    <a:p>
                      <a:pPr algn="ctr"/>
                      <a:r>
                        <a:rPr sz="2000" b="1">
                          <a:solidFill>
                            <a:srgbClr val="111111"/>
                          </a:solidFill>
                          <a:latin typeface="Calibri"/>
                        </a:rPr>
                        <a:t>6.9%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597EF"/>
                    </a:solidFill>
                  </a:tcPr>
                </a:tc>
                <a:tc>
                  <a:txBody>
                    <a:bodyPr wrap="square"/>
                    <a:lstStyle/>
                    <a:p>
                      <a:pPr algn="ctr"/>
                      <a:r>
                        <a:rPr sz="2000" b="1">
                          <a:solidFill>
                            <a:srgbClr val="111111"/>
                          </a:solidFill>
                          <a:latin typeface="Calibri"/>
                        </a:rPr>
                        <a:t>5.4%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FABF3"/>
                    </a:solidFill>
                  </a:tcPr>
                </a:tc>
              </a:tr>
              <a:tr h="822960">
                <a:tc>
                  <a:txBody>
                    <a:bodyPr wrap="square"/>
                    <a:lstStyle/>
                    <a:p>
                      <a:pPr algn="r"/>
                      <a:r>
                        <a:rPr sz="1700" b="1">
                          <a:solidFill>
                            <a:srgbClr val="111111"/>
                          </a:solidFill>
                          <a:latin typeface="Calibri"/>
                        </a:rPr>
                        <a:t>889+ km</a:t>
                      </a:r>
                    </a:p>
                  </a:txBody>
                  <a:tcPr marL="109728" marR="109728" marT="54864" marB="54864" anchor="ctr">
                    <a:noFill/>
                  </a:tcPr>
                </a:tc>
                <a:tc>
                  <a:txBody>
                    <a:bodyPr wrap="square"/>
                    <a:lstStyle/>
                    <a:p>
                      <a:pPr algn="ctr"/>
                      <a:r>
                        <a:rPr sz="2000" b="1">
                          <a:solidFill>
                            <a:srgbClr val="FFFFFF"/>
                          </a:solidFill>
                          <a:latin typeface="Calibri"/>
                        </a:rPr>
                        <a:t>20.7%</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6307D"/>
                    </a:solidFill>
                  </a:tcPr>
                </a:tc>
                <a:tc>
                  <a:txBody>
                    <a:bodyPr wrap="square"/>
                    <a:lstStyle/>
                    <a:p>
                      <a:pPr algn="ctr"/>
                      <a:r>
                        <a:rPr sz="2000" b="1">
                          <a:solidFill>
                            <a:srgbClr val="FFFFFF"/>
                          </a:solidFill>
                          <a:latin typeface="Calibri"/>
                        </a:rPr>
                        <a:t>20.1%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83383"/>
                    </a:solidFill>
                  </a:tcPr>
                </a:tc>
                <a:tc>
                  <a:txBody>
                    <a:bodyPr wrap="square"/>
                    <a:lstStyle/>
                    <a:p>
                      <a:pPr algn="ctr"/>
                      <a:r>
                        <a:rPr sz="2000" b="1">
                          <a:solidFill>
                            <a:srgbClr val="FFFFFF"/>
                          </a:solidFill>
                          <a:latin typeface="Calibri"/>
                        </a:rPr>
                        <a:t>16.8%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246A6"/>
                    </a:solidFill>
                  </a:tcPr>
                </a:tc>
                <a:tc>
                  <a:txBody>
                    <a:bodyPr wrap="square"/>
                    <a:lstStyle/>
                    <a:p>
                      <a:pPr algn="ctr"/>
                      <a:r>
                        <a:rPr sz="2000" b="1">
                          <a:solidFill>
                            <a:srgbClr val="FFFFFF"/>
                          </a:solidFill>
                          <a:latin typeface="Calibri"/>
                        </a:rPr>
                        <a:t>13.4%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D58C9"/>
                    </a:solidFill>
                  </a:tcPr>
                </a:tc>
                <a:tc>
                  <a:txBody>
                    <a:bodyPr wrap="square"/>
                    <a:lstStyle/>
                    <a:p>
                      <a:pPr algn="ctr"/>
                      <a:r>
                        <a:rPr sz="2000" b="1">
                          <a:solidFill>
                            <a:srgbClr val="111111"/>
                          </a:solidFill>
                          <a:latin typeface="Calibri"/>
                        </a:rPr>
                        <a:t>7.5%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A90EE"/>
                    </a:solidFill>
                  </a:tcPr>
                </a:tc>
              </a:tr>
            </a:tbl>
          </a:graphicData>
        </a:graphic>
      </p:graphicFrame>
      <p:sp>
        <p:nvSpPr>
          <p:cNvPr id="18" name="Far short"/>
          <p:cNvSpPr/>
          <p:nvPr/>
        </p:nvSpPr>
        <p:spPr>
          <a:xfrm>
            <a:off x="11521440" y="2377440"/>
            <a:ext cx="6035040" cy="2148840"/>
          </a:xfrm>
          <a:prstGeom prst="roundRect">
            <a:avLst>
              <a:gd name="adj" fmla="val 680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ar short number"/>
          <p:cNvSpPr txBox="1"/>
          <p:nvPr/>
        </p:nvSpPr>
        <p:spPr>
          <a:xfrm>
            <a:off x="11841480" y="2606040"/>
            <a:ext cx="5394959" cy="966978"/>
          </a:xfrm>
          <a:prstGeom prst="rect">
            <a:avLst/>
          </a:prstGeom>
          <a:noFill/>
        </p:spPr>
        <p:txBody>
          <a:bodyPr wrap="square" lIns="0" rIns="0" tIns="0" bIns="0" anchor="b">
            <a:spAutoFit/>
          </a:bodyPr>
          <a:lstStyle/>
          <a:p>
            <a:pPr algn="l">
              <a:spcAft>
                <a:spcPts val="600"/>
              </a:spcAft>
            </a:pPr>
            <a:r>
              <a:rPr sz="4400" b="0" i="0">
                <a:solidFill>
                  <a:srgbClr val="89EDD0"/>
                </a:solidFill>
                <a:latin typeface="Arial Black"/>
              </a:rPr>
              <a:t>1 in 5</a:t>
            </a:r>
          </a:p>
        </p:txBody>
      </p:sp>
      <p:sp>
        <p:nvSpPr>
          <p:cNvPr id="20" name="Far short label"/>
          <p:cNvSpPr txBox="1"/>
          <p:nvPr/>
        </p:nvSpPr>
        <p:spPr>
          <a:xfrm>
            <a:off x="11841480" y="3618738"/>
            <a:ext cx="5394959" cy="724662"/>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late when the route is over 889 km and the promise is 22 days or less</a:t>
            </a:r>
          </a:p>
        </p:txBody>
      </p:sp>
      <p:sp>
        <p:nvSpPr>
          <p:cNvPr id="21" name="Near long"/>
          <p:cNvSpPr/>
          <p:nvPr/>
        </p:nvSpPr>
        <p:spPr>
          <a:xfrm>
            <a:off x="11521440" y="4709160"/>
            <a:ext cx="603504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Near long number"/>
          <p:cNvSpPr txBox="1"/>
          <p:nvPr/>
        </p:nvSpPr>
        <p:spPr>
          <a:xfrm>
            <a:off x="11841480" y="4937760"/>
            <a:ext cx="5394959" cy="822960"/>
          </a:xfrm>
          <a:prstGeom prst="rect">
            <a:avLst/>
          </a:prstGeom>
          <a:noFill/>
        </p:spPr>
        <p:txBody>
          <a:bodyPr wrap="square" lIns="0" rIns="0" tIns="0" bIns="0" anchor="b">
            <a:spAutoFit/>
          </a:bodyPr>
          <a:lstStyle/>
          <a:p>
            <a:pPr algn="l">
              <a:spcAft>
                <a:spcPts val="600"/>
              </a:spcAft>
            </a:pPr>
            <a:r>
              <a:rPr sz="4000" b="0" i="0">
                <a:solidFill>
                  <a:srgbClr val="111111"/>
                </a:solidFill>
                <a:latin typeface="Arial Black"/>
              </a:rPr>
              <a:t>1.7%</a:t>
            </a:r>
          </a:p>
        </p:txBody>
      </p:sp>
      <p:sp>
        <p:nvSpPr>
          <p:cNvPr id="23" name="Near long label"/>
          <p:cNvSpPr txBox="1"/>
          <p:nvPr/>
        </p:nvSpPr>
        <p:spPr>
          <a:xfrm>
            <a:off x="11841480" y="5806440"/>
            <a:ext cx="5394959" cy="548640"/>
          </a:xfrm>
          <a:prstGeom prst="rect">
            <a:avLst/>
          </a:prstGeom>
          <a:noFill/>
        </p:spPr>
        <p:txBody>
          <a:bodyPr wrap="square" lIns="0" rIns="0" tIns="0" bIns="0" anchor="t">
            <a:spAutoFit/>
          </a:bodyPr>
          <a:lstStyle/>
          <a:p>
            <a:pPr algn="l">
              <a:spcAft>
                <a:spcPts val="600"/>
              </a:spcAft>
            </a:pPr>
            <a:r>
              <a:rPr sz="1800" b="0" i="0">
                <a:solidFill>
                  <a:srgbClr val="111111"/>
                </a:solidFill>
                <a:latin typeface="Calibri"/>
              </a:rPr>
              <a:t>late when under 137 km with a 30+ day promise</a:t>
            </a:r>
          </a:p>
        </p:txBody>
      </p:sp>
      <p:sp>
        <p:nvSpPr>
          <p:cNvPr id="24" name="Where card"/>
          <p:cNvSpPr/>
          <p:nvPr/>
        </p:nvSpPr>
        <p:spPr>
          <a:xfrm>
            <a:off x="11521440" y="6720840"/>
            <a:ext cx="6035040" cy="2011680"/>
          </a:xfrm>
          <a:prstGeom prst="roundRect">
            <a:avLst>
              <a:gd name="adj" fmla="val 727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here text"/>
          <p:cNvSpPr txBox="1"/>
          <p:nvPr/>
        </p:nvSpPr>
        <p:spPr>
          <a:xfrm>
            <a:off x="11841480" y="6858000"/>
            <a:ext cx="5394960" cy="178308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Where it goes &gt; what's in it. </a:t>
            </a:r>
            <a:r>
              <a:rPr sz="1700" b="0" i="0">
                <a:solidFill>
                  <a:srgbClr val="111111"/>
                </a:solidFill>
                <a:latin typeface="Calibri"/>
              </a:rPr>
              <a:t>Rio is late 15.6% of the time, 2.9× Minas Gerais (5.3%), despite shorter routes. Product categories only span 5.9–10.2%.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COMPARING MODELS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Simple beats complex: logistic regression led from the start</a:t>
            </a:r>
          </a:p>
        </p:txBody>
      </p:sp>
      <p:sp>
        <p:nvSpPr>
          <p:cNvPr id="15" name="Lift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Cross-validated lift, mean ± std over 5 folds (1.0 = random)</a:t>
            </a:r>
          </a:p>
        </p:txBody>
      </p:sp>
      <p:graphicFrame>
        <p:nvGraphicFramePr>
          <p:cNvPr id="17" name="Lift chart"/>
          <p:cNvGraphicFramePr>
            <a:graphicFrameLocks noGrp="1"/>
          </p:cNvGraphicFramePr>
          <p:nvPr/>
        </p:nvGraphicFramePr>
        <p:xfrm>
          <a:off x="1005840" y="3108960"/>
          <a:ext cx="9509760" cy="4937760"/>
        </p:xfrm>
        <a:graphic>
          <a:graphicData uri="http://schemas.openxmlformats.org/drawingml/2006/chart">
            <c:chart xmlns:c="http://schemas.openxmlformats.org/drawingml/2006/chart" r:id="rId8"/>
          </a:graphicData>
        </a:graphic>
      </p:graphicFrame>
      <p:sp>
        <p:nvSpPr>
          <p:cNvPr id="18" name="Legend swatch 1"/>
          <p:cNvSpPr/>
          <p:nvPr/>
        </p:nvSpPr>
        <p:spPr>
          <a:xfrm>
            <a:off x="1143000" y="8229600"/>
            <a:ext cx="292608" cy="292608"/>
          </a:xfrm>
          <a:prstGeom prst="roundRect">
            <a:avLst>
              <a:gd name="adj" fmla="val 15625"/>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egend label 1"/>
          <p:cNvSpPr txBox="1"/>
          <p:nvPr/>
        </p:nvSpPr>
        <p:spPr>
          <a:xfrm>
            <a:off x="1554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Linear</a:t>
            </a:r>
          </a:p>
        </p:txBody>
      </p:sp>
      <p:sp>
        <p:nvSpPr>
          <p:cNvPr id="20" name="Legend swatch 2"/>
          <p:cNvSpPr/>
          <p:nvPr/>
        </p:nvSpPr>
        <p:spPr>
          <a:xfrm>
            <a:off x="3429000" y="8229600"/>
            <a:ext cx="292608" cy="292608"/>
          </a:xfrm>
          <a:prstGeom prst="roundRect">
            <a:avLst>
              <a:gd name="adj" fmla="val 15625"/>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egend label 2"/>
          <p:cNvSpPr txBox="1"/>
          <p:nvPr/>
        </p:nvSpPr>
        <p:spPr>
          <a:xfrm>
            <a:off x="3840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Tree-based</a:t>
            </a:r>
          </a:p>
        </p:txBody>
      </p:sp>
      <p:sp>
        <p:nvSpPr>
          <p:cNvPr id="22" name="Legend swatch 3"/>
          <p:cNvSpPr/>
          <p:nvPr/>
        </p:nvSpPr>
        <p:spPr>
          <a:xfrm>
            <a:off x="5715000" y="8229600"/>
            <a:ext cx="292608" cy="292608"/>
          </a:xfrm>
          <a:prstGeom prst="roundRect">
            <a:avLst>
              <a:gd name="adj" fmla="val 15625"/>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egend label 3"/>
          <p:cNvSpPr txBox="1"/>
          <p:nvPr/>
        </p:nvSpPr>
        <p:spPr>
          <a:xfrm>
            <a:off x="6126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Probabilistic</a:t>
            </a:r>
          </a:p>
        </p:txBody>
      </p:sp>
      <p:sp>
        <p:nvSpPr>
          <p:cNvPr id="24" name="Legend swatch 4"/>
          <p:cNvSpPr/>
          <p:nvPr/>
        </p:nvSpPr>
        <p:spPr>
          <a:xfrm>
            <a:off x="8001000" y="8229600"/>
            <a:ext cx="292608" cy="292608"/>
          </a:xfrm>
          <a:prstGeom prst="roundRect">
            <a:avLst>
              <a:gd name="adj" fmla="val 1562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egend label 4"/>
          <p:cNvSpPr txBox="1"/>
          <p:nvPr/>
        </p:nvSpPr>
        <p:spPr>
          <a:xfrm>
            <a:off x="8412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Baselines</a:t>
            </a:r>
          </a:p>
        </p:txBody>
      </p:sp>
      <p:sp>
        <p:nvSpPr>
          <p:cNvPr id="26" name="Lift card"/>
          <p:cNvSpPr/>
          <p:nvPr/>
        </p:nvSpPr>
        <p:spPr>
          <a:xfrm>
            <a:off x="11155680" y="2377440"/>
            <a:ext cx="6400800" cy="2148840"/>
          </a:xfrm>
          <a:prstGeom prst="roundRect">
            <a:avLst>
              <a:gd name="adj" fmla="val 680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ift text"/>
          <p:cNvSpPr txBox="1"/>
          <p:nvPr/>
        </p:nvSpPr>
        <p:spPr>
          <a:xfrm>
            <a:off x="11475720" y="2560320"/>
            <a:ext cx="5760720" cy="1828800"/>
          </a:xfrm>
          <a:prstGeom prst="rect">
            <a:avLst/>
          </a:prstGeom>
          <a:noFill/>
        </p:spPr>
        <p:txBody>
          <a:bodyPr wrap="square" lIns="0" rIns="0" tIns="0" bIns="0" anchor="ctr">
            <a:spAutoFit/>
          </a:bodyPr>
          <a:lstStyle/>
          <a:p>
            <a:pPr algn="l">
              <a:spcAft>
                <a:spcPts val="600"/>
              </a:spcAft>
            </a:pPr>
            <a:r>
              <a:rPr sz="1800" b="1" i="0">
                <a:solidFill>
                  <a:srgbClr val="3669E8"/>
                </a:solidFill>
                <a:latin typeface="Calibri"/>
              </a:rPr>
              <a:t>Why lift? </a:t>
            </a:r>
            <a:r>
              <a:rPr sz="1800" b="0" i="0">
                <a:solidFill>
                  <a:srgbClr val="111111"/>
                </a:solidFill>
                <a:latin typeface="Calibri"/>
              </a:rPr>
              <a:t>Lift = PR-AUC ÷ the fold's late rate. Fold late rates swing from 2.8% to 18.8%, so raw PR-AUC would mostly measure the period.</a:t>
            </a:r>
          </a:p>
        </p:txBody>
      </p:sp>
      <p:sp>
        <p:nvSpPr>
          <p:cNvPr id="28" name="Overfit card"/>
          <p:cNvSpPr/>
          <p:nvPr/>
        </p:nvSpPr>
        <p:spPr>
          <a:xfrm>
            <a:off x="11155680" y="4709160"/>
            <a:ext cx="640080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erfit text"/>
          <p:cNvSpPr txBox="1"/>
          <p:nvPr/>
        </p:nvSpPr>
        <p:spPr>
          <a:xfrm>
            <a:off x="11475720" y="4846320"/>
            <a:ext cx="5760720" cy="155448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Trees overfit </a:t>
            </a:r>
            <a:r>
              <a:rPr sz="1700" b="0" i="0">
                <a:solidFill>
                  <a:srgbClr val="111111"/>
                </a:solidFill>
                <a:latin typeface="Calibri"/>
              </a:rPr>
              <a:t>(training lift 6–12× validation). </a:t>
            </a:r>
            <a:r>
              <a:rPr sz="1700" b="1" i="0">
                <a:solidFill>
                  <a:srgbClr val="111111"/>
                </a:solidFill>
                <a:latin typeface="Calibri"/>
              </a:rPr>
              <a:t>Shortlist: </a:t>
            </a:r>
            <a:r>
              <a:rPr sz="1700" b="0" i="0">
                <a:solidFill>
                  <a:srgbClr val="111111"/>
                </a:solidFill>
                <a:latin typeface="Calibri"/>
              </a:rPr>
              <a:t>LR, random forest, gradient boosting, one per family so their errors differ.</a:t>
            </a:r>
          </a:p>
        </p:txBody>
      </p:sp>
      <p:sp>
        <p:nvSpPr>
          <p:cNvPr id="30" name="Surprise"/>
          <p:cNvSpPr/>
          <p:nvPr/>
        </p:nvSpPr>
        <p:spPr>
          <a:xfrm>
            <a:off x="11155680" y="6720840"/>
            <a:ext cx="6400800" cy="2011680"/>
          </a:xfrm>
          <a:prstGeom prst="roundRect">
            <a:avLst>
              <a:gd name="adj" fmla="val 727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urprise number"/>
          <p:cNvSpPr txBox="1"/>
          <p:nvPr/>
        </p:nvSpPr>
        <p:spPr>
          <a:xfrm>
            <a:off x="11475719" y="6949440"/>
            <a:ext cx="5760720" cy="905256"/>
          </a:xfrm>
          <a:prstGeom prst="rect">
            <a:avLst/>
          </a:prstGeom>
          <a:noFill/>
        </p:spPr>
        <p:txBody>
          <a:bodyPr wrap="square" lIns="0" rIns="0" tIns="0" bIns="0" anchor="b">
            <a:spAutoFit/>
          </a:bodyPr>
          <a:lstStyle/>
          <a:p>
            <a:pPr algn="l">
              <a:spcAft>
                <a:spcPts val="600"/>
              </a:spcAft>
            </a:pPr>
            <a:r>
              <a:rPr sz="3000" b="0" i="0">
                <a:solidFill>
                  <a:srgbClr val="89EDD0"/>
                </a:solidFill>
                <a:latin typeface="Arial Black"/>
              </a:rPr>
              <a:t>Surprise</a:t>
            </a:r>
          </a:p>
        </p:txBody>
      </p:sp>
      <p:sp>
        <p:nvSpPr>
          <p:cNvPr id="32" name="Surprise label"/>
          <p:cNvSpPr txBox="1"/>
          <p:nvPr/>
        </p:nvSpPr>
        <p:spPr>
          <a:xfrm>
            <a:off x="11475719" y="7900415"/>
            <a:ext cx="5760720" cy="649224"/>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The EDA pointed to trees (curves, interactions). They didn't win.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FINE-TUNING</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Dropping one misleading column helped more than all the tuning</a:t>
            </a:r>
          </a:p>
        </p:txBody>
      </p:sp>
      <p:sp>
        <p:nvSpPr>
          <p:cNvPr id="15" name="Tuning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Cross-validated lift, mean ± std over 5 folds</a:t>
            </a:r>
          </a:p>
        </p:txBody>
      </p:sp>
      <p:graphicFrame>
        <p:nvGraphicFramePr>
          <p:cNvPr id="17" name="Tuning chart"/>
          <p:cNvGraphicFramePr>
            <a:graphicFrameLocks noGrp="1"/>
          </p:cNvGraphicFramePr>
          <p:nvPr/>
        </p:nvGraphicFramePr>
        <p:xfrm>
          <a:off x="1005840" y="3108960"/>
          <a:ext cx="9509760" cy="5029200"/>
        </p:xfrm>
        <a:graphic>
          <a:graphicData uri="http://schemas.openxmlformats.org/drawingml/2006/chart">
            <c:chart xmlns:c="http://schemas.openxmlformats.org/drawingml/2006/chart" r:id="rId8"/>
          </a:graphicData>
        </a:graphic>
      </p:graphicFrame>
      <p:sp>
        <p:nvSpPr>
          <p:cNvPr id="18" name="Chart note"/>
          <p:cNvSpPr txBox="1"/>
          <p:nvPr/>
        </p:nvSpPr>
        <p:spPr>
          <a:xfrm>
            <a:off x="1097280" y="8092440"/>
            <a:ext cx="9326880" cy="548640"/>
          </a:xfrm>
          <a:prstGeom prst="rect">
            <a:avLst/>
          </a:prstGeom>
          <a:noFill/>
        </p:spPr>
        <p:txBody>
          <a:bodyPr wrap="square" lIns="0" rIns="0" tIns="0" bIns="0" anchor="t">
            <a:spAutoFit/>
          </a:bodyPr>
          <a:lstStyle/>
          <a:p>
            <a:pPr algn="l">
              <a:spcAft>
                <a:spcPts val="600"/>
              </a:spcAft>
            </a:pPr>
            <a:r>
              <a:rPr sz="1500" b="0" i="0">
                <a:solidFill>
                  <a:srgbClr val="8A8FA3"/>
                </a:solidFill>
                <a:latin typeface="Calibri"/>
              </a:rPr>
              <a:t>Randomized search, 90 trials (5–7 hyperparameters, several continuous). Gains sit within the fold noise, but dropping the month helped all three models.</a:t>
            </a:r>
          </a:p>
        </p:txBody>
      </p:sp>
      <p:sp>
        <p:nvSpPr>
          <p:cNvPr id="19" name="Month card"/>
          <p:cNvSpPr/>
          <p:nvPr/>
        </p:nvSpPr>
        <p:spPr>
          <a:xfrm>
            <a:off x="11155680" y="2377440"/>
            <a:ext cx="64008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onth text"/>
          <p:cNvSpPr txBox="1"/>
          <p:nvPr/>
        </p:nvSpPr>
        <p:spPr>
          <a:xfrm>
            <a:off x="11475720" y="2560320"/>
            <a:ext cx="5760720" cy="2148840"/>
          </a:xfrm>
          <a:prstGeom prst="rect">
            <a:avLst/>
          </a:prstGeom>
          <a:noFill/>
        </p:spPr>
        <p:txBody>
          <a:bodyPr wrap="square" lIns="0" rIns="0" tIns="0" bIns="0" anchor="ctr">
            <a:spAutoFit/>
          </a:bodyPr>
          <a:lstStyle/>
          <a:p>
            <a:pPr algn="l">
              <a:spcAft>
                <a:spcPts val="600"/>
              </a:spcAft>
            </a:pPr>
            <a:r>
              <a:rPr sz="1800" b="1" i="0">
                <a:solidFill>
                  <a:srgbClr val="3669E8"/>
                </a:solidFill>
                <a:latin typeface="Calibri"/>
              </a:rPr>
              <a:t>Why? </a:t>
            </a:r>
            <a:r>
              <a:rPr sz="1800" b="0" i="0">
                <a:solidFill>
                  <a:srgbClr val="111111"/>
                </a:solidFill>
                <a:latin typeface="Calibri"/>
              </a:rPr>
              <a:t>With only 15 months of data, purchase_month remembered which months had been bad, not real seasonality. February was 3.0% late in 2017 and 14.1% in 2018.</a:t>
            </a:r>
          </a:p>
        </p:txBody>
      </p:sp>
      <p:sp>
        <p:nvSpPr>
          <p:cNvPr id="21" name="No gain card"/>
          <p:cNvSpPr/>
          <p:nvPr/>
        </p:nvSpPr>
        <p:spPr>
          <a:xfrm>
            <a:off x="11155680" y="5074920"/>
            <a:ext cx="6400800" cy="1783080"/>
          </a:xfrm>
          <a:prstGeom prst="roundRect">
            <a:avLst>
              <a:gd name="adj" fmla="val 82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No gain text"/>
          <p:cNvSpPr txBox="1"/>
          <p:nvPr/>
        </p:nvSpPr>
        <p:spPr>
          <a:xfrm>
            <a:off x="11475720" y="5212080"/>
            <a:ext cx="5760720" cy="1508760"/>
          </a:xfrm>
          <a:prstGeom prst="rect">
            <a:avLst/>
          </a:prstGeom>
          <a:noFill/>
        </p:spPr>
        <p:txBody>
          <a:bodyPr wrap="square" lIns="0" rIns="0" tIns="0" bIns="0" anchor="ctr">
            <a:spAutoFit/>
          </a:bodyPr>
          <a:lstStyle/>
          <a:p>
            <a:pPr algn="l">
              <a:spcAft>
                <a:spcPts val="600"/>
              </a:spcAft>
            </a:pPr>
            <a:r>
              <a:rPr sz="1800" b="1" i="0">
                <a:solidFill>
                  <a:srgbClr val="111111"/>
                </a:solidFill>
                <a:latin typeface="Calibri"/>
              </a:rPr>
              <a:t>No gain: </a:t>
            </a:r>
            <a:r>
              <a:rPr sz="1800" b="0" i="0">
                <a:solidFill>
                  <a:srgbClr val="111111"/>
                </a:solidFill>
                <a:latin typeface="Calibri"/>
              </a:rPr>
              <a:t>4 voting ensembles (the best only tied LR) and 8 extra features such as seller history and route slack.</a:t>
            </a:r>
          </a:p>
        </p:txBody>
      </p:sp>
      <p:sp>
        <p:nvSpPr>
          <p:cNvPr id="23" name="Final"/>
          <p:cNvSpPr/>
          <p:nvPr/>
        </p:nvSpPr>
        <p:spPr>
          <a:xfrm>
            <a:off x="11155680" y="7040880"/>
            <a:ext cx="6400800" cy="1691640"/>
          </a:xfrm>
          <a:prstGeom prst="roundRect">
            <a:avLst>
              <a:gd name="adj" fmla="val 86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nal number"/>
          <p:cNvSpPr txBox="1"/>
          <p:nvPr/>
        </p:nvSpPr>
        <p:spPr>
          <a:xfrm>
            <a:off x="11475719" y="7269480"/>
            <a:ext cx="5760720" cy="761238"/>
          </a:xfrm>
          <a:prstGeom prst="rect">
            <a:avLst/>
          </a:prstGeom>
          <a:noFill/>
        </p:spPr>
        <p:txBody>
          <a:bodyPr wrap="square" lIns="0" rIns="0" tIns="0" bIns="0" anchor="b">
            <a:spAutoFit/>
          </a:bodyPr>
          <a:lstStyle/>
          <a:p>
            <a:pPr algn="l">
              <a:spcAft>
                <a:spcPts val="600"/>
              </a:spcAft>
            </a:pPr>
            <a:r>
              <a:rPr sz="2600" b="0" i="0">
                <a:solidFill>
                  <a:srgbClr val="89EDD0"/>
                </a:solidFill>
                <a:latin typeface="Arial Black"/>
              </a:rPr>
              <a:t>Final model</a:t>
            </a:r>
          </a:p>
        </p:txBody>
      </p:sp>
      <p:sp>
        <p:nvSpPr>
          <p:cNvPr id="25" name="Final label"/>
          <p:cNvSpPr txBox="1"/>
          <p:nvPr/>
        </p:nvSpPr>
        <p:spPr>
          <a:xfrm>
            <a:off x="11475719" y="8076438"/>
            <a:ext cx="5760720" cy="473202"/>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Tuned logistic regression (L1): best, fastest, easiest to explain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RESULT · TEST SET, TOUCHED ONCE</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Checking the riskiest 10% of orders catches 36% of late deliveries</a:t>
            </a:r>
          </a:p>
        </p:txBody>
      </p:sp>
      <p:sp>
        <p:nvSpPr>
          <p:cNvPr id="15" name="Caught"/>
          <p:cNvSpPr/>
          <p:nvPr/>
        </p:nvSpPr>
        <p:spPr>
          <a:xfrm>
            <a:off x="731520" y="2377440"/>
            <a:ext cx="54864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ught number"/>
          <p:cNvSpPr txBox="1"/>
          <p:nvPr/>
        </p:nvSpPr>
        <p:spPr>
          <a:xfrm>
            <a:off x="1051560" y="2606040"/>
            <a:ext cx="4846320" cy="1357884"/>
          </a:xfrm>
          <a:prstGeom prst="rect">
            <a:avLst/>
          </a:prstGeom>
          <a:noFill/>
        </p:spPr>
        <p:txBody>
          <a:bodyPr wrap="square" lIns="0" rIns="0" tIns="0" bIns="0" anchor="b">
            <a:spAutoFit/>
          </a:bodyPr>
          <a:lstStyle/>
          <a:p>
            <a:pPr algn="l">
              <a:spcAft>
                <a:spcPts val="600"/>
              </a:spcAft>
            </a:pPr>
            <a:r>
              <a:rPr sz="4400" b="0" i="0">
                <a:solidFill>
                  <a:srgbClr val="89EDD0"/>
                </a:solidFill>
                <a:latin typeface="Arial Black"/>
              </a:rPr>
              <a:t>316 of 876</a:t>
            </a:r>
          </a:p>
        </p:txBody>
      </p:sp>
      <p:sp>
        <p:nvSpPr>
          <p:cNvPr id="17" name="Caught label"/>
          <p:cNvSpPr txBox="1"/>
          <p:nvPr/>
        </p:nvSpPr>
        <p:spPr>
          <a:xfrm>
            <a:off x="1051560" y="4009644"/>
            <a:ext cx="4846320" cy="1202436"/>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late orders caught in Apr–Jul 2018 (36.1%), vs 294 with the 2-feature baseline and about 88 with random checks</a:t>
            </a:r>
          </a:p>
        </p:txBody>
      </p:sp>
      <p:sp>
        <p:nvSpPr>
          <p:cNvPr id="18" name="Lift"/>
          <p:cNvSpPr/>
          <p:nvPr/>
        </p:nvSpPr>
        <p:spPr>
          <a:xfrm>
            <a:off x="731520" y="5715000"/>
            <a:ext cx="548640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ft number"/>
          <p:cNvSpPr txBox="1"/>
          <p:nvPr/>
        </p:nvSpPr>
        <p:spPr>
          <a:xfrm>
            <a:off x="1051560" y="5943600"/>
            <a:ext cx="4846320" cy="1357884"/>
          </a:xfrm>
          <a:prstGeom prst="rect">
            <a:avLst/>
          </a:prstGeom>
          <a:noFill/>
        </p:spPr>
        <p:txBody>
          <a:bodyPr wrap="square" lIns="0" rIns="0" tIns="0" bIns="0" anchor="b">
            <a:spAutoFit/>
          </a:bodyPr>
          <a:lstStyle/>
          <a:p>
            <a:pPr algn="l">
              <a:spcAft>
                <a:spcPts val="600"/>
              </a:spcAft>
            </a:pPr>
            <a:r>
              <a:rPr sz="5400" b="0" i="0">
                <a:solidFill>
                  <a:srgbClr val="111111"/>
                </a:solidFill>
                <a:latin typeface="Arial Black"/>
              </a:rPr>
              <a:t>3.6×</a:t>
            </a:r>
          </a:p>
        </p:txBody>
      </p:sp>
      <p:sp>
        <p:nvSpPr>
          <p:cNvPr id="20" name="Lift label"/>
          <p:cNvSpPr txBox="1"/>
          <p:nvPr/>
        </p:nvSpPr>
        <p:spPr>
          <a:xfrm>
            <a:off x="1051560" y="7347204"/>
            <a:ext cx="4846320"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flagged orders were late 3.6× as often as a random order</a:t>
            </a:r>
          </a:p>
        </p:txBody>
      </p:sp>
      <p:sp>
        <p:nvSpPr>
          <p:cNvPr id="21" name="Recall chart card"/>
          <p:cNvSpPr/>
          <p:nvPr/>
        </p:nvSpPr>
        <p:spPr>
          <a:xfrm>
            <a:off x="6583680" y="2377440"/>
            <a:ext cx="10972800" cy="4617720"/>
          </a:xfrm>
          <a:prstGeom prst="roundRect">
            <a:avLst>
              <a:gd name="adj" fmla="val 316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949440" y="2560320"/>
            <a:ext cx="1024128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Share of all late orders caught, by share of orders reviewed (test set)</a:t>
            </a:r>
          </a:p>
        </p:txBody>
      </p:sp>
      <p:graphicFrame>
        <p:nvGraphicFramePr>
          <p:cNvPr id="23" name="Recall chart"/>
          <p:cNvGraphicFramePr>
            <a:graphicFrameLocks noGrp="1"/>
          </p:cNvGraphicFramePr>
          <p:nvPr/>
        </p:nvGraphicFramePr>
        <p:xfrm>
          <a:off x="6858000" y="3017520"/>
          <a:ext cx="10424160" cy="3886200"/>
        </p:xfrm>
        <a:graphic>
          <a:graphicData uri="http://schemas.openxmlformats.org/drawingml/2006/chart">
            <c:chart xmlns:c="http://schemas.openxmlformats.org/drawingml/2006/chart" r:id="rId8"/>
          </a:graphicData>
        </a:graphic>
      </p:graphicFrame>
      <p:sp>
        <p:nvSpPr>
          <p:cNvPr id="24" name="Caveat card"/>
          <p:cNvSpPr/>
          <p:nvPr/>
        </p:nvSpPr>
        <p:spPr>
          <a:xfrm>
            <a:off x="6583680" y="7178040"/>
            <a:ext cx="10972800" cy="1554480"/>
          </a:xfrm>
          <a:prstGeom prst="roundRect">
            <a:avLst>
              <a:gd name="adj" fmla="val 941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veat text"/>
          <p:cNvSpPr txBox="1"/>
          <p:nvPr/>
        </p:nvSpPr>
        <p:spPr>
          <a:xfrm>
            <a:off x="6903720" y="7269480"/>
            <a:ext cx="10332720" cy="137160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Honest caveat: </a:t>
            </a:r>
            <a:r>
              <a:rPr sz="1700" b="0" i="0">
                <a:solidFill>
                  <a:srgbClr val="111111"/>
                </a:solidFill>
                <a:latin typeface="Calibri"/>
              </a:rPr>
              <a:t>the PR-AUC gain over B1 is real (0.126 vs 0.109; 95% CI +0.006 to +0.027). At the 10% budget the gain is within the noise (+2.5 points, CI −0.4 to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INSIGHTS · WHAT DRIVES RISK, WHAT THE MODEL MISSES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Promise and distance drive the risk; "ordinary" late orders stay invisible</a:t>
            </a:r>
          </a:p>
        </p:txBody>
      </p:sp>
      <p:sp>
        <p:nvSpPr>
          <p:cNvPr id="15" name="Importance card"/>
          <p:cNvSpPr/>
          <p:nvPr/>
        </p:nvSpPr>
        <p:spPr>
          <a:xfrm>
            <a:off x="731520" y="2377440"/>
            <a:ext cx="96926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896112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Drop in test PR-AUC when the feature is shuffled</a:t>
            </a:r>
          </a:p>
        </p:txBody>
      </p:sp>
      <p:graphicFrame>
        <p:nvGraphicFramePr>
          <p:cNvPr id="17" name="Importance chart"/>
          <p:cNvGraphicFramePr>
            <a:graphicFrameLocks noGrp="1"/>
          </p:cNvGraphicFramePr>
          <p:nvPr/>
        </p:nvGraphicFramePr>
        <p:xfrm>
          <a:off x="1005840" y="3108960"/>
          <a:ext cx="9144000" cy="4937760"/>
        </p:xfrm>
        <a:graphic>
          <a:graphicData uri="http://schemas.openxmlformats.org/drawingml/2006/chart">
            <c:chart xmlns:c="http://schemas.openxmlformats.org/drawingml/2006/chart" r:id="rId8"/>
          </a:graphicData>
        </a:graphic>
      </p:graphicFrame>
      <p:sp>
        <p:nvSpPr>
          <p:cNvPr id="18" name="Chart note"/>
          <p:cNvSpPr txBox="1"/>
          <p:nvPr/>
        </p:nvSpPr>
        <p:spPr>
          <a:xfrm>
            <a:off x="1097280" y="8183879"/>
            <a:ext cx="8961120" cy="41148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Price, weight, category and purchase time: close to zero.</a:t>
            </a:r>
          </a:p>
        </p:txBody>
      </p:sp>
      <p:sp>
        <p:nvSpPr>
          <p:cNvPr id="19" name="Direction card"/>
          <p:cNvSpPr/>
          <p:nvPr/>
        </p:nvSpPr>
        <p:spPr>
          <a:xfrm>
            <a:off x="10789920" y="2377440"/>
            <a:ext cx="6766560" cy="1965960"/>
          </a:xfrm>
          <a:prstGeom prst="roundRect">
            <a:avLst>
              <a:gd name="adj" fmla="val 744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irection text"/>
          <p:cNvSpPr txBox="1"/>
          <p:nvPr/>
        </p:nvSpPr>
        <p:spPr>
          <a:xfrm>
            <a:off x="11109960" y="2514600"/>
            <a:ext cx="6126480" cy="169164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Direction: </a:t>
            </a:r>
            <a:r>
              <a:rPr sz="1700" b="0" i="0">
                <a:solidFill>
                  <a:srgbClr val="111111"/>
                </a:solidFill>
                <a:latin typeface="Calibri"/>
              </a:rPr>
              <a:t>a promise 1 SD longer roughly halves the odds of being late (×0.52); 1 SD more distance raises them ×1.55. Associations, not causes.</a:t>
            </a:r>
          </a:p>
        </p:txBody>
      </p:sp>
      <p:sp>
        <p:nvSpPr>
          <p:cNvPr id="21" name="Misses card"/>
          <p:cNvSpPr/>
          <p:nvPr/>
        </p:nvSpPr>
        <p:spPr>
          <a:xfrm>
            <a:off x="10789920" y="4526280"/>
            <a:ext cx="6766560" cy="1965960"/>
          </a:xfrm>
          <a:prstGeom prst="roundRect">
            <a:avLst>
              <a:gd name="adj" fmla="val 7441"/>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sses text"/>
          <p:cNvSpPr txBox="1"/>
          <p:nvPr/>
        </p:nvSpPr>
        <p:spPr>
          <a:xfrm>
            <a:off x="11109960" y="4617720"/>
            <a:ext cx="6126480" cy="1783080"/>
          </a:xfrm>
          <a:prstGeom prst="rect">
            <a:avLst/>
          </a:prstGeom>
          <a:noFill/>
        </p:spPr>
        <p:txBody>
          <a:bodyPr wrap="square" lIns="0" rIns="0" tIns="0" bIns="0" anchor="ctr">
            <a:spAutoFit/>
          </a:bodyPr>
          <a:lstStyle/>
          <a:p>
            <a:pPr algn="l">
              <a:spcAft>
                <a:spcPts val="600"/>
              </a:spcAft>
            </a:pPr>
            <a:r>
              <a:rPr sz="1600" b="1" i="0">
                <a:solidFill>
                  <a:srgbClr val="111111"/>
                </a:solidFill>
                <a:latin typeface="Calibri"/>
              </a:rPr>
              <a:t>What it misses </a:t>
            </a:r>
            <a:r>
              <a:rPr sz="1600" b="1" i="0">
                <a:solidFill>
                  <a:srgbClr val="111111"/>
                </a:solidFill>
                <a:latin typeface="Calibri"/>
              </a:rPr>
              <a:t>(last CV fold, Feb–Mar 2018): </a:t>
            </a:r>
            <a:r>
              <a:rPr sz="1600" b="0" i="0">
                <a:solidFill>
                  <a:srgbClr val="111111"/>
                </a:solidFill>
                <a:latin typeface="Calibri"/>
              </a:rPr>
              <a:t>late orders that look ordinary, shorter than the ones it catches (727 vs 1,011 km) and more often in-state. All 3 shortlisted models miss the same 66%.</a:t>
            </a:r>
          </a:p>
        </p:txBody>
      </p:sp>
      <p:sp>
        <p:nvSpPr>
          <p:cNvPr id="23" name="Human card"/>
          <p:cNvSpPr/>
          <p:nvPr/>
        </p:nvSpPr>
        <p:spPr>
          <a:xfrm>
            <a:off x="10789920" y="6675120"/>
            <a:ext cx="6766560" cy="2057400"/>
          </a:xfrm>
          <a:prstGeom prst="roundRect">
            <a:avLst>
              <a:gd name="adj" fmla="val 7111"/>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uman text"/>
          <p:cNvSpPr txBox="1"/>
          <p:nvPr/>
        </p:nvSpPr>
        <p:spPr>
          <a:xfrm>
            <a:off x="11109960" y="6812280"/>
            <a:ext cx="6126480" cy="1783080"/>
          </a:xfrm>
          <a:prstGeom prst="rect">
            <a:avLst/>
          </a:prstGeom>
          <a:noFill/>
        </p:spPr>
        <p:txBody>
          <a:bodyPr wrap="square" lIns="0" rIns="0" tIns="0" bIns="0" anchor="ctr">
            <a:spAutoFit/>
          </a:bodyPr>
          <a:lstStyle/>
          <a:p>
            <a:pPr algn="l">
              <a:spcAft>
                <a:spcPts val="600"/>
              </a:spcAft>
            </a:pPr>
            <a:r>
              <a:rPr sz="1700" b="1" i="0">
                <a:solidFill>
                  <a:srgbClr val="89EDD0"/>
                </a:solidFill>
                <a:latin typeface="Calibri"/>
              </a:rPr>
              <a:t>A person would have needed: </a:t>
            </a:r>
            <a:r>
              <a:rPr sz="1700" b="0" i="0">
                <a:solidFill>
                  <a:srgbClr val="FFFFFF"/>
                </a:solidFill>
                <a:latin typeface="Calibri"/>
              </a:rPr>
              <a:t>the seller's hand-off to the carrier, carrier backlogs, strikes and holidays, and the current network-wide delay.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ASSUMPTIONS AND LIMITATIONS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Assumptions and limitations, and how we'd fix them</a:t>
            </a:r>
          </a:p>
        </p:txBody>
      </p:sp>
      <p:sp>
        <p:nvSpPr>
          <p:cNvPr id="15" name="Assumption 1"/>
          <p:cNvSpPr/>
          <p:nvPr/>
        </p:nvSpPr>
        <p:spPr>
          <a:xfrm>
            <a:off x="73152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umption text 1"/>
          <p:cNvSpPr txBox="1"/>
          <p:nvPr/>
        </p:nvSpPr>
        <p:spPr>
          <a:xfrm>
            <a:off x="100584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The promised date is the one the customer saw at checkout</a:t>
            </a:r>
          </a:p>
        </p:txBody>
      </p:sp>
      <p:sp>
        <p:nvSpPr>
          <p:cNvPr id="17" name="Assumption 2"/>
          <p:cNvSpPr/>
          <p:nvPr/>
        </p:nvSpPr>
        <p:spPr>
          <a:xfrm>
            <a:off x="640080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ssumption text 2"/>
          <p:cNvSpPr txBox="1"/>
          <p:nvPr/>
        </p:nvSpPr>
        <p:spPr>
          <a:xfrm>
            <a:off x="667512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Ops can review about 10% of orders a day (we also report 5% and 20%)</a:t>
            </a:r>
          </a:p>
        </p:txBody>
      </p:sp>
      <p:sp>
        <p:nvSpPr>
          <p:cNvPr id="19" name="Assumption 3"/>
          <p:cNvSpPr/>
          <p:nvPr/>
        </p:nvSpPr>
        <p:spPr>
          <a:xfrm>
            <a:off x="1207008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ssumption text 3"/>
          <p:cNvSpPr txBox="1"/>
          <p:nvPr/>
        </p:nvSpPr>
        <p:spPr>
          <a:xfrm>
            <a:off x="1234440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Patterns from 2017 to Mar 2018 still hold in Apr–Jul 2018</a:t>
            </a:r>
          </a:p>
        </p:txBody>
      </p:sp>
      <p:sp>
        <p:nvSpPr>
          <p:cNvPr id="21" name="Limits card"/>
          <p:cNvSpPr/>
          <p:nvPr/>
        </p:nvSpPr>
        <p:spPr>
          <a:xfrm>
            <a:off x="731520" y="3931920"/>
            <a:ext cx="16824960" cy="4800600"/>
          </a:xfrm>
          <a:prstGeom prst="roundRect">
            <a:avLst>
              <a:gd name="adj" fmla="val 3047"/>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2" name="Limitations table"/>
          <p:cNvGraphicFramePr>
            <a:graphicFrameLocks noGrp="1"/>
          </p:cNvGraphicFramePr>
          <p:nvPr/>
        </p:nvGraphicFramePr>
        <p:xfrm>
          <a:off x="1005840" y="4114800"/>
          <a:ext cx="16276320" cy="4389120"/>
        </p:xfrm>
        <a:graphic>
          <a:graphicData uri="http://schemas.openxmlformats.org/drawingml/2006/table">
            <a:tbl>
              <a:tblPr firstRow="0" bandRow="0">
                <a:tableStyleId>{2D5ABB26-0587-4C30-8999-92F81FD0307C}</a:tableStyleId>
              </a:tblPr>
              <a:tblGrid>
                <a:gridCol w="6035040"/>
                <a:gridCol w="4754880"/>
                <a:gridCol w="5486400"/>
              </a:tblGrid>
              <a:tr h="548640">
                <a:tc>
                  <a:txBody>
                    <a:bodyPr wrap="square"/>
                    <a:lstStyle/>
                    <a:p>
                      <a:pPr algn="l"/>
                      <a:r>
                        <a:rPr sz="1800" b="1">
                          <a:solidFill>
                            <a:srgbClr val="3669E8"/>
                          </a:solidFill>
                          <a:latin typeface="Calibri"/>
                        </a:rPr>
                        <a:t>Limitation</a:t>
                      </a:r>
                    </a:p>
                  </a:txBody>
                  <a:tcPr marL="109728" marR="109728" marT="54864" marB="54864" anchor="ctr">
                    <a:lnL>
                      <a:noFill/>
                    </a:lnL>
                    <a:lnR>
                      <a:noFill/>
                    </a:lnR>
                    <a:lnT>
                      <a:noFill/>
                    </a:lnT>
                    <a:lnB w="25400">
                      <a:solidFill>
                        <a:srgbClr val="111111"/>
                      </a:solidFill>
                    </a:lnB>
                    <a:noFill/>
                  </a:tcPr>
                </a:tc>
                <a:tc>
                  <a:txBody>
                    <a:bodyPr wrap="square"/>
                    <a:lstStyle/>
                    <a:p>
                      <a:pPr algn="l"/>
                      <a:r>
                        <a:rPr sz="1800" b="1">
                          <a:solidFill>
                            <a:srgbClr val="3669E8"/>
                          </a:solidFill>
                          <a:latin typeface="Calibri"/>
                        </a:rPr>
                        <a:t>Likely impact</a:t>
                      </a:r>
                    </a:p>
                  </a:txBody>
                  <a:tcPr marL="109728" marR="109728" marT="54864" marB="54864" anchor="ctr">
                    <a:lnL>
                      <a:noFill/>
                    </a:lnL>
                    <a:lnR>
                      <a:noFill/>
                    </a:lnR>
                    <a:lnT>
                      <a:noFill/>
                    </a:lnT>
                    <a:lnB w="25400">
                      <a:solidFill>
                        <a:srgbClr val="111111"/>
                      </a:solidFill>
                    </a:lnB>
                    <a:noFill/>
                  </a:tcPr>
                </a:tc>
                <a:tc>
                  <a:txBody>
                    <a:bodyPr wrap="square"/>
                    <a:lstStyle/>
                    <a:p>
                      <a:pPr algn="l"/>
                      <a:r>
                        <a:rPr sz="1800" b="1">
                          <a:solidFill>
                            <a:srgbClr val="3669E8"/>
                          </a:solidFill>
                          <a:latin typeface="Calibri"/>
                        </a:rPr>
                        <a:t>How to address it</a:t>
                      </a:r>
                    </a:p>
                  </a:txBody>
                  <a:tcPr marL="109728" marR="109728" marT="54864" marB="54864" anchor="ctr">
                    <a:lnL>
                      <a:noFill/>
                    </a:lnL>
                    <a:lnR>
                      <a:noFill/>
                    </a:lnR>
                    <a:lnT>
                      <a:noFill/>
                    </a:lnT>
                    <a:lnB w="25400">
                      <a:solidFill>
                        <a:srgbClr val="111111"/>
                      </a:solidFill>
                    </a:lnB>
                    <a:noFill/>
                  </a:tcPr>
                </a:tc>
              </a:tr>
              <a:tr h="960120">
                <a:tc>
                  <a:txBody>
                    <a:bodyPr wrap="square"/>
                    <a:lstStyle/>
                    <a:p>
                      <a:pPr algn="l"/>
                      <a:r>
                        <a:rPr sz="1700" b="1">
                          <a:solidFill>
                            <a:srgbClr val="111111"/>
                          </a:solidFill>
                          <a:latin typeface="Calibri"/>
                        </a:rPr>
                        <a:t>Every model levels off at about 2.0 CV lift</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64% of late orders still missed</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Add dispatch scans, carrier, holiday and strike data</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Scores run about 2× too high on the test period (8.1% vs 4.1%)</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A probability cut-off flags the wrong number</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Flag the top 10% daily; recalibrate on recent data</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Gain over B1 at the 10% budget is within the noise</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Extra features may not change what ops catch</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Re-check on a fresh period; keep B1 as a fallback</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Short test window with the May 2018 truckers' strike; 2,963 orders never delivered</a:t>
                      </a:r>
                    </a:p>
                  </a:txBody>
                  <a:tcPr marL="109728" marR="109728" marT="54864" marB="54864" anchor="ctr">
                    <a:lnL>
                      <a:noFill/>
                    </a:lnL>
                    <a:lnR>
                      <a:noFill/>
                    </a:lnR>
                    <a:lnT>
                      <a:noFill/>
                    </a:lnT>
                    <a:lnB>
                      <a:noFill/>
                    </a:lnB>
                    <a:noFill/>
                  </a:tcPr>
                </a:tc>
                <a:tc>
                  <a:txBody>
                    <a:bodyPr wrap="square"/>
                    <a:lstStyle/>
                    <a:p>
                      <a:pPr algn="l"/>
                      <a:r>
                        <a:rPr sz="1700" b="0">
                          <a:solidFill>
                            <a:srgbClr val="111111"/>
                          </a:solidFill>
                          <a:latin typeface="Calibri"/>
                        </a:rPr>
                        <a:t>Real uncertainty; true late rate likely above 7%</a:t>
                      </a:r>
                    </a:p>
                  </a:txBody>
                  <a:tcPr marL="109728" marR="109728" marT="54864" marB="54864" anchor="ctr">
                    <a:lnL>
                      <a:noFill/>
                    </a:lnL>
                    <a:lnR>
                      <a:noFill/>
                    </a:lnR>
                    <a:lnT>
                      <a:noFill/>
                    </a:lnT>
                    <a:lnB>
                      <a:noFill/>
                    </a:lnB>
                    <a:noFill/>
                  </a:tcPr>
                </a:tc>
                <a:tc>
                  <a:txBody>
                    <a:bodyPr wrap="square"/>
                    <a:lstStyle/>
                    <a:p>
                      <a:pPr algn="l"/>
                      <a:r>
                        <a:rPr sz="1700" b="0">
                          <a:solidFill>
                            <a:srgbClr val="111111"/>
                          </a:solidFill>
                          <a:latin typeface="Calibri"/>
                        </a:rPr>
                        <a:t>Retrain quarterly and monitor monthly</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CONCLUSION · RECOMMENDATION</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Score daily, review the top 10%, invest in new data</a:t>
            </a:r>
          </a:p>
        </p:txBody>
      </p:sp>
      <p:sp>
        <p:nvSpPr>
          <p:cNvPr id="15" name="Answer card"/>
          <p:cNvSpPr/>
          <p:nvPr/>
        </p:nvSpPr>
        <p:spPr>
          <a:xfrm>
            <a:off x="731520" y="2240280"/>
            <a:ext cx="16824960" cy="1783080"/>
          </a:xfrm>
          <a:prstGeom prst="roundRect">
            <a:avLst>
              <a:gd name="adj" fmla="val 82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swer accuracy"/>
          <p:cNvSpPr txBox="1"/>
          <p:nvPr/>
        </p:nvSpPr>
        <p:spPr>
          <a:xfrm>
            <a:off x="1051560" y="2377440"/>
            <a:ext cx="7955279" cy="1508760"/>
          </a:xfrm>
          <a:prstGeom prst="rect">
            <a:avLst/>
          </a:prstGeom>
          <a:noFill/>
        </p:spPr>
        <p:txBody>
          <a:bodyPr wrap="square" lIns="0" rIns="0" tIns="0" bIns="0" anchor="ctr">
            <a:spAutoFit/>
          </a:bodyPr>
          <a:lstStyle/>
          <a:p>
            <a:pPr algn="l">
              <a:spcAft>
                <a:spcPts val="600"/>
              </a:spcAft>
            </a:pPr>
            <a:r>
              <a:rPr sz="2200" b="1" i="0">
                <a:solidFill>
                  <a:srgbClr val="89EDD0"/>
                </a:solidFill>
                <a:latin typeface="Calibri"/>
              </a:rPr>
              <a:t>How accurately? </a:t>
            </a:r>
            <a:r>
              <a:rPr sz="2200" b="0" i="0">
                <a:solidFill>
                  <a:srgbClr val="FFFFFF"/>
                </a:solidFill>
                <a:latin typeface="Calibri"/>
              </a:rPr>
              <a:t>Moderately: checking 10% of orders catches 36% of late ones, 3.6× random.</a:t>
            </a:r>
          </a:p>
        </p:txBody>
      </p:sp>
      <p:sp>
        <p:nvSpPr>
          <p:cNvPr id="17" name="Answer drivers"/>
          <p:cNvSpPr txBox="1"/>
          <p:nvPr/>
        </p:nvSpPr>
        <p:spPr>
          <a:xfrm>
            <a:off x="9281160" y="2377440"/>
            <a:ext cx="7955279" cy="1508760"/>
          </a:xfrm>
          <a:prstGeom prst="rect">
            <a:avLst/>
          </a:prstGeom>
          <a:noFill/>
        </p:spPr>
        <p:txBody>
          <a:bodyPr wrap="square" lIns="0" rIns="0" tIns="0" bIns="0" anchor="ctr">
            <a:spAutoFit/>
          </a:bodyPr>
          <a:lstStyle/>
          <a:p>
            <a:pPr algn="l">
              <a:spcAft>
                <a:spcPts val="600"/>
              </a:spcAft>
            </a:pPr>
            <a:r>
              <a:rPr sz="2200" b="1" i="0">
                <a:solidFill>
                  <a:srgbClr val="89EDD0"/>
                </a:solidFill>
                <a:latin typeface="Calibri"/>
              </a:rPr>
              <a:t>What drives the risk? </a:t>
            </a:r>
            <a:r>
              <a:rPr sz="2200" b="0" i="0">
                <a:solidFill>
                  <a:srgbClr val="FFFFFF"/>
                </a:solidFill>
                <a:latin typeface="Calibri"/>
              </a:rPr>
              <a:t>A promise too short for the distance, and the destination, not the product.</a:t>
            </a:r>
          </a:p>
        </p:txBody>
      </p:sp>
      <p:sp>
        <p:nvSpPr>
          <p:cNvPr id="18" name="What worked card"/>
          <p:cNvSpPr/>
          <p:nvPr/>
        </p:nvSpPr>
        <p:spPr>
          <a:xfrm>
            <a:off x="731520" y="4206240"/>
            <a:ext cx="8229600" cy="2514600"/>
          </a:xfrm>
          <a:prstGeom prst="roundRect">
            <a:avLst>
              <a:gd name="adj" fmla="val 581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hat worked heading"/>
          <p:cNvSpPr txBox="1"/>
          <p:nvPr/>
        </p:nvSpPr>
        <p:spPr>
          <a:xfrm>
            <a:off x="1051560" y="4343400"/>
            <a:ext cx="7589520" cy="457200"/>
          </a:xfrm>
          <a:prstGeom prst="rect">
            <a:avLst/>
          </a:prstGeom>
          <a:noFill/>
        </p:spPr>
        <p:txBody>
          <a:bodyPr wrap="square" lIns="0" rIns="0" tIns="0" bIns="0" anchor="t">
            <a:spAutoFit/>
          </a:bodyPr>
          <a:lstStyle/>
          <a:p>
            <a:pPr algn="l">
              <a:spcAft>
                <a:spcPts val="600"/>
              </a:spcAft>
            </a:pPr>
            <a:r>
              <a:rPr sz="2000" b="0" i="0">
                <a:solidFill>
                  <a:srgbClr val="111111"/>
                </a:solidFill>
                <a:latin typeface="Arial Black"/>
              </a:rPr>
              <a:t>What worked</a:t>
            </a:r>
          </a:p>
        </p:txBody>
      </p:sp>
      <p:sp>
        <p:nvSpPr>
          <p:cNvPr id="20" name="What worked list"/>
          <p:cNvSpPr txBox="1"/>
          <p:nvPr/>
        </p:nvSpPr>
        <p:spPr>
          <a:xfrm>
            <a:off x="1051560" y="4892040"/>
            <a:ext cx="7589520" cy="1783080"/>
          </a:xfrm>
          <a:prstGeom prst="rect">
            <a:avLst/>
          </a:prstGeom>
          <a:noFill/>
        </p:spPr>
        <p:txBody>
          <a:bodyPr wrap="square" lIns="0" rIns="0" tIns="0" bIns="0" anchor="t">
            <a:spAutoFit/>
          </a:bodyPr>
          <a:lstStyle/>
          <a:p>
            <a:pPr algn="l" marL="292608" indent="-292608">
              <a:spcAft>
                <a:spcPts val="300"/>
              </a:spcAft>
              <a:buClr>
                <a:srgbClr val="3669E8"/>
              </a:buClr>
              <a:buChar char="•"/>
            </a:pPr>
            <a:r>
              <a:rPr sz="1900" b="0" i="0">
                <a:solidFill>
                  <a:srgbClr val="111111"/>
                </a:solidFill>
                <a:latin typeface="Calibri"/>
              </a:rPr>
              <a:t>Time-based split and folds (a random split overstates)</a:t>
            </a:r>
          </a:p>
          <a:p>
            <a:pPr algn="l" marL="292608" indent="-292608">
              <a:spcAft>
                <a:spcPts val="300"/>
              </a:spcAft>
              <a:buClr>
                <a:srgbClr val="3669E8"/>
              </a:buClr>
              <a:buChar char="•"/>
            </a:pPr>
            <a:r>
              <a:rPr sz="1900" b="0" i="0">
                <a:solidFill>
                  <a:srgbClr val="111111"/>
                </a:solidFill>
                <a:latin typeface="Calibri"/>
              </a:rPr>
              <a:t>Comparing models on lift, not raw PR-AUC</a:t>
            </a:r>
          </a:p>
          <a:p>
            <a:pPr algn="l" marL="292608" indent="-292608">
              <a:spcAft>
                <a:spcPts val="300"/>
              </a:spcAft>
              <a:buClr>
                <a:srgbClr val="3669E8"/>
              </a:buClr>
              <a:buChar char="•"/>
            </a:pPr>
            <a:r>
              <a:rPr sz="1900" b="0" i="0">
                <a:solidFill>
                  <a:srgbClr val="111111"/>
                </a:solidFill>
                <a:latin typeface="Calibri"/>
              </a:rPr>
              <a:t>Dropping purchase_month</a:t>
            </a:r>
          </a:p>
          <a:p>
            <a:pPr algn="l" marL="292608" indent="-292608">
              <a:spcAft>
                <a:spcPts val="300"/>
              </a:spcAft>
              <a:buClr>
                <a:srgbClr val="3669E8"/>
              </a:buClr>
              <a:buChar char="•"/>
            </a:pPr>
            <a:r>
              <a:rPr sz="1900" b="0" i="0">
                <a:solidFill>
                  <a:srgbClr val="111111"/>
                </a:solidFill>
                <a:latin typeface="Calibri"/>
              </a:rPr>
              <a:t>A regularised logistic regression</a:t>
            </a:r>
          </a:p>
        </p:txBody>
      </p:sp>
      <p:sp>
        <p:nvSpPr>
          <p:cNvPr id="21" name="What didn't card"/>
          <p:cNvSpPr/>
          <p:nvPr/>
        </p:nvSpPr>
        <p:spPr>
          <a:xfrm>
            <a:off x="9326880" y="4206240"/>
            <a:ext cx="82296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hat didn't heading"/>
          <p:cNvSpPr txBox="1"/>
          <p:nvPr/>
        </p:nvSpPr>
        <p:spPr>
          <a:xfrm>
            <a:off x="9646920" y="4343400"/>
            <a:ext cx="7589520" cy="457200"/>
          </a:xfrm>
          <a:prstGeom prst="rect">
            <a:avLst/>
          </a:prstGeom>
          <a:noFill/>
        </p:spPr>
        <p:txBody>
          <a:bodyPr wrap="square" lIns="0" rIns="0" tIns="0" bIns="0" anchor="t">
            <a:spAutoFit/>
          </a:bodyPr>
          <a:lstStyle/>
          <a:p>
            <a:pPr algn="l">
              <a:spcAft>
                <a:spcPts val="600"/>
              </a:spcAft>
            </a:pPr>
            <a:r>
              <a:rPr sz="2000" b="0" i="0">
                <a:solidFill>
                  <a:srgbClr val="3669E8"/>
                </a:solidFill>
                <a:latin typeface="Arial Black"/>
              </a:rPr>
              <a:t>What didn't</a:t>
            </a:r>
          </a:p>
        </p:txBody>
      </p:sp>
      <p:sp>
        <p:nvSpPr>
          <p:cNvPr id="23" name="What didn't list"/>
          <p:cNvSpPr txBox="1"/>
          <p:nvPr/>
        </p:nvSpPr>
        <p:spPr>
          <a:xfrm>
            <a:off x="9646920" y="4892040"/>
            <a:ext cx="7589520" cy="1783080"/>
          </a:xfrm>
          <a:prstGeom prst="rect">
            <a:avLst/>
          </a:prstGeom>
          <a:noFill/>
        </p:spPr>
        <p:txBody>
          <a:bodyPr wrap="square" lIns="0" rIns="0" tIns="0" bIns="0" anchor="t">
            <a:spAutoFit/>
          </a:bodyPr>
          <a:lstStyle/>
          <a:p>
            <a:pPr algn="l" marL="292608" indent="-292608">
              <a:spcAft>
                <a:spcPts val="300"/>
              </a:spcAft>
              <a:buClr>
                <a:srgbClr val="3669E8"/>
              </a:buClr>
              <a:buChar char="•"/>
            </a:pPr>
            <a:r>
              <a:rPr sz="1900" b="0" i="0">
                <a:solidFill>
                  <a:srgbClr val="111111"/>
                </a:solidFill>
                <a:latin typeface="Calibri"/>
              </a:rPr>
              <a:t>Tree models and ensembles: more capacity, more memorisation</a:t>
            </a:r>
          </a:p>
          <a:p>
            <a:pPr algn="l" marL="292608" indent="-292608">
              <a:spcAft>
                <a:spcPts val="300"/>
              </a:spcAft>
              <a:buClr>
                <a:srgbClr val="3669E8"/>
              </a:buClr>
              <a:buChar char="•"/>
            </a:pPr>
            <a:r>
              <a:rPr sz="1900" b="0" i="0">
                <a:solidFill>
                  <a:srgbClr val="111111"/>
                </a:solidFill>
                <a:latin typeface="Calibri"/>
              </a:rPr>
              <a:t>Extra features: recent late rates, seller history, route slack</a:t>
            </a:r>
          </a:p>
          <a:p>
            <a:pPr algn="l" marL="292608" indent="-292608">
              <a:spcAft>
                <a:spcPts val="300"/>
              </a:spcAft>
              <a:buClr>
                <a:srgbClr val="3669E8"/>
              </a:buClr>
              <a:buChar char="•"/>
            </a:pPr>
            <a:r>
              <a:rPr sz="1900" b="0" i="0">
                <a:solidFill>
                  <a:srgbClr val="111111"/>
                </a:solidFill>
                <a:latin typeface="Calibri"/>
              </a:rPr>
              <a:t>Native categorical splits for gradient boosting</a:t>
            </a:r>
          </a:p>
        </p:txBody>
      </p:sp>
      <p:sp>
        <p:nvSpPr>
          <p:cNvPr id="24" name="Action 1"/>
          <p:cNvSpPr/>
          <p:nvPr/>
        </p:nvSpPr>
        <p:spPr>
          <a:xfrm>
            <a:off x="73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ction number 1"/>
          <p:cNvSpPr/>
          <p:nvPr/>
        </p:nvSpPr>
        <p:spPr>
          <a:xfrm>
            <a:off x="100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1</a:t>
            </a:r>
          </a:p>
        </p:txBody>
      </p:sp>
      <p:sp>
        <p:nvSpPr>
          <p:cNvPr id="26" name="Action title 1"/>
          <p:cNvSpPr txBox="1"/>
          <p:nvPr/>
        </p:nvSpPr>
        <p:spPr>
          <a:xfrm>
            <a:off x="2011680"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Score nightly</a:t>
            </a:r>
          </a:p>
        </p:txBody>
      </p:sp>
      <p:sp>
        <p:nvSpPr>
          <p:cNvPr id="27" name="Action text 1"/>
          <p:cNvSpPr txBox="1"/>
          <p:nvPr/>
        </p:nvSpPr>
        <p:spPr>
          <a:xfrm>
            <a:off x="2011680"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Review the top 10%; rank, don't use as a probability</a:t>
            </a:r>
          </a:p>
        </p:txBody>
      </p:sp>
      <p:sp>
        <p:nvSpPr>
          <p:cNvPr id="28" name="Action 2"/>
          <p:cNvSpPr/>
          <p:nvPr/>
        </p:nvSpPr>
        <p:spPr>
          <a:xfrm>
            <a:off x="6446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ction number 2"/>
          <p:cNvSpPr/>
          <p:nvPr/>
        </p:nvSpPr>
        <p:spPr>
          <a:xfrm>
            <a:off x="6720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2</a:t>
            </a:r>
          </a:p>
        </p:txBody>
      </p:sp>
      <p:sp>
        <p:nvSpPr>
          <p:cNvPr id="30" name="Action title 2"/>
          <p:cNvSpPr txBox="1"/>
          <p:nvPr/>
        </p:nvSpPr>
        <p:spPr>
          <a:xfrm>
            <a:off x="7726679"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Monitor and retrain</a:t>
            </a:r>
          </a:p>
        </p:txBody>
      </p:sp>
      <p:sp>
        <p:nvSpPr>
          <p:cNvPr id="31" name="Action text 2"/>
          <p:cNvSpPr txBox="1"/>
          <p:nvPr/>
        </p:nvSpPr>
        <p:spPr>
          <a:xfrm>
            <a:off x="7726679"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Track top-10% recall monthly; retrain quarterly</a:t>
            </a:r>
          </a:p>
        </p:txBody>
      </p:sp>
      <p:sp>
        <p:nvSpPr>
          <p:cNvPr id="32" name="Action 3"/>
          <p:cNvSpPr/>
          <p:nvPr/>
        </p:nvSpPr>
        <p:spPr>
          <a:xfrm>
            <a:off x="1216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ction number 3"/>
          <p:cNvSpPr/>
          <p:nvPr/>
        </p:nvSpPr>
        <p:spPr>
          <a:xfrm>
            <a:off x="1243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3</a:t>
            </a:r>
          </a:p>
        </p:txBody>
      </p:sp>
      <p:sp>
        <p:nvSpPr>
          <p:cNvPr id="34" name="Action title 3"/>
          <p:cNvSpPr txBox="1"/>
          <p:nvPr/>
        </p:nvSpPr>
        <p:spPr>
          <a:xfrm>
            <a:off x="13441680"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Invest in data</a:t>
            </a:r>
          </a:p>
        </p:txBody>
      </p:sp>
      <p:sp>
        <p:nvSpPr>
          <p:cNvPr id="35" name="Action text 3"/>
          <p:cNvSpPr txBox="1"/>
          <p:nvPr/>
        </p:nvSpPr>
        <p:spPr>
          <a:xfrm>
            <a:off x="13441680"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Dispatch scans, carrier data, a disruption calendar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false" flipV="false" rot="0">
            <a:off x="-13460393" y="349828"/>
            <a:ext cx="31950551" cy="8423327"/>
          </a:xfrm>
          <a:custGeom>
            <a:avLst/>
            <a:gdLst/>
            <a:ahLst/>
            <a:cxnLst/>
            <a:rect r="r" b="b" t="t" l="l"/>
            <a:pathLst>
              <a:path h="8423327" w="31950551">
                <a:moveTo>
                  <a:pt x="0" y="0"/>
                </a:moveTo>
                <a:lnTo>
                  <a:pt x="31950550" y="0"/>
                </a:lnTo>
                <a:lnTo>
                  <a:pt x="31950550" y="8423327"/>
                </a:lnTo>
                <a:lnTo>
                  <a:pt x="0" y="842332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9109795"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388997"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false" rot="0">
            <a:off x="1932754" y="3759871"/>
            <a:ext cx="7245451" cy="5796361"/>
          </a:xfrm>
          <a:custGeom>
            <a:avLst/>
            <a:gdLst/>
            <a:ahLst/>
            <a:cxnLst/>
            <a:rect r="r" b="b" t="t" l="l"/>
            <a:pathLst>
              <a:path h="5796361" w="7245451">
                <a:moveTo>
                  <a:pt x="7245451" y="0"/>
                </a:moveTo>
                <a:lnTo>
                  <a:pt x="0" y="0"/>
                </a:lnTo>
                <a:lnTo>
                  <a:pt x="0" y="5796361"/>
                </a:lnTo>
                <a:lnTo>
                  <a:pt x="7245451" y="5796361"/>
                </a:lnTo>
                <a:lnTo>
                  <a:pt x="7245451"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6" name="Closing title"/>
          <p:cNvSpPr txBox="1"/>
          <p:nvPr/>
        </p:nvSpPr>
        <p:spPr>
          <a:xfrm>
            <a:off x="9601200" y="685800"/>
            <a:ext cx="8138160" cy="914400"/>
          </a:xfrm>
          <a:prstGeom prst="rect">
            <a:avLst/>
          </a:prstGeom>
          <a:noFill/>
        </p:spPr>
        <p:txBody>
          <a:bodyPr wrap="square" lIns="0" rIns="0" tIns="0" bIns="0" anchor="t">
            <a:spAutoFit/>
          </a:bodyPr>
          <a:lstStyle/>
          <a:p>
            <a:pPr algn="l">
              <a:spcAft>
                <a:spcPts val="0"/>
              </a:spcAft>
            </a:pPr>
            <a:r>
              <a:rPr sz="4400" b="0" i="0">
                <a:solidFill>
                  <a:srgbClr val="111111"/>
                </a:solidFill>
                <a:latin typeface="Arial Black"/>
              </a:rPr>
              <a:t>Thank you · </a:t>
            </a:r>
            <a:r>
              <a:rPr sz="4400" b="0" i="0">
                <a:solidFill>
                  <a:srgbClr val="3669E8"/>
                </a:solidFill>
                <a:latin typeface="Arial Black"/>
              </a:rPr>
              <a:t>Questions?</a:t>
            </a:r>
          </a:p>
        </p:txBody>
      </p:sp>
      <p:sp>
        <p:nvSpPr>
          <p:cNvPr id="7" name="Repo link"/>
          <p:cNvSpPr txBox="1"/>
          <p:nvPr/>
        </p:nvSpPr>
        <p:spPr>
          <a:xfrm>
            <a:off x="9601200" y="1645920"/>
            <a:ext cx="813816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github.com/JustJay7/olist-late-delivery</a:t>
            </a:r>
          </a:p>
        </p:txBody>
      </p:sp>
      <p:sp>
        <p:nvSpPr>
          <p:cNvPr id="8" name="Contributors card"/>
          <p:cNvSpPr/>
          <p:nvPr/>
        </p:nvSpPr>
        <p:spPr>
          <a:xfrm>
            <a:off x="9601200" y="2331720"/>
            <a:ext cx="8138160" cy="5349240"/>
          </a:xfrm>
          <a:prstGeom prst="roundRect">
            <a:avLst>
              <a:gd name="adj" fmla="val 273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ntributors heading"/>
          <p:cNvSpPr txBox="1"/>
          <p:nvPr/>
        </p:nvSpPr>
        <p:spPr>
          <a:xfrm>
            <a:off x="9921240" y="2514600"/>
            <a:ext cx="7498079" cy="457200"/>
          </a:xfrm>
          <a:prstGeom prst="rect">
            <a:avLst/>
          </a:prstGeom>
          <a:noFill/>
        </p:spPr>
        <p:txBody>
          <a:bodyPr wrap="square" lIns="0" rIns="0" tIns="0" bIns="0" anchor="t">
            <a:spAutoFit/>
          </a:bodyPr>
          <a:lstStyle/>
          <a:p>
            <a:pPr algn="l">
              <a:spcAft>
                <a:spcPts val="600"/>
              </a:spcAft>
            </a:pPr>
            <a:r>
              <a:rPr sz="2200" b="0" i="0">
                <a:solidFill>
                  <a:srgbClr val="3669E8"/>
                </a:solidFill>
                <a:latin typeface="Arial Black"/>
              </a:rPr>
              <a:t>Contributors</a:t>
            </a:r>
          </a:p>
        </p:txBody>
      </p:sp>
      <p:graphicFrame>
        <p:nvGraphicFramePr>
          <p:cNvPr id="10" name="Contributors table"/>
          <p:cNvGraphicFramePr>
            <a:graphicFrameLocks noGrp="1"/>
          </p:cNvGraphicFramePr>
          <p:nvPr/>
        </p:nvGraphicFramePr>
        <p:xfrm>
          <a:off x="9921240" y="3063240"/>
          <a:ext cx="7498079" cy="4416552"/>
        </p:xfrm>
        <a:graphic>
          <a:graphicData uri="http://schemas.openxmlformats.org/drawingml/2006/table">
            <a:tbl>
              <a:tblPr firstRow="0" bandRow="0">
                <a:tableStyleId>{2D5ABB26-0587-4C30-8999-92F81FD0307C}</a:tableStyleId>
              </a:tblPr>
              <a:tblGrid>
                <a:gridCol w="2240280"/>
                <a:gridCol w="1874519"/>
                <a:gridCol w="3383280"/>
              </a:tblGrid>
              <a:tr h="630936">
                <a:tc>
                  <a:txBody>
                    <a:bodyPr wrap="square"/>
                    <a:lstStyle/>
                    <a:p>
                      <a:pPr algn="l"/>
                      <a:r>
                        <a:rPr sz="1700" b="1">
                          <a:solidFill>
                            <a:srgbClr val="111111"/>
                          </a:solidFill>
                          <a:latin typeface="Calibri"/>
                        </a:rPr>
                        <a:t>Jay Malhotra</a:t>
                      </a:r>
                    </a:p>
                  </a:txBody>
                  <a:tcPr marL="36576" marR="36576" marT="54864" marB="54864" anchor="ctr">
                    <a:noFill/>
                  </a:tcPr>
                </a:tc>
                <a:tc>
                  <a:txBody>
                    <a:bodyPr wrap="square"/>
                    <a:lstStyle/>
                    <a:p>
                      <a:pPr algn="l"/>
                      <a:r>
                        <a:rPr sz="1600" b="0">
                          <a:solidFill>
                            <a:srgbClr val="3669E8"/>
                          </a:solidFill>
                          <a:latin typeface="Calibri"/>
                        </a:rPr>
                        <a:t>@JustJay7</a:t>
                      </a:r>
                    </a:p>
                  </a:txBody>
                  <a:tcPr marL="36576" marR="36576" marT="54864" marB="54864" anchor="ctr">
                    <a:noFill/>
                  </a:tcPr>
                </a:tc>
                <a:tc>
                  <a:txBody>
                    <a:bodyPr wrap="square"/>
                    <a:lstStyle/>
                    <a:p>
                      <a:pPr algn="l"/>
                      <a:r>
                        <a:rPr sz="1600" b="0">
                          <a:solidFill>
                            <a:srgbClr val="111111"/>
                          </a:solidFill>
                          <a:latin typeface="Calibri"/>
                        </a:rPr>
                        <a:t>Project lead, framing, integration</a:t>
                      </a:r>
                    </a:p>
                  </a:txBody>
                  <a:tcPr marL="36576" marR="36576" marT="54864" marB="54864" anchor="ctr">
                    <a:noFill/>
                  </a:tcPr>
                </a:tc>
              </a:tr>
              <a:tr h="630936">
                <a:tc>
                  <a:txBody>
                    <a:bodyPr wrap="square"/>
                    <a:lstStyle/>
                    <a:p>
                      <a:pPr algn="l"/>
                      <a:r>
                        <a:rPr sz="1700" b="1">
                          <a:solidFill>
                            <a:srgbClr val="111111"/>
                          </a:solidFill>
                          <a:latin typeface="Calibri"/>
                        </a:rPr>
                        <a:t>Hasan Malik</a:t>
                      </a:r>
                    </a:p>
                  </a:txBody>
                  <a:tcPr marL="36576" marR="36576" marT="54864" marB="54864" anchor="ctr">
                    <a:noFill/>
                  </a:tcPr>
                </a:tc>
                <a:tc>
                  <a:txBody>
                    <a:bodyPr wrap="square"/>
                    <a:lstStyle/>
                    <a:p>
                      <a:pPr algn="l"/>
                      <a:r>
                        <a:rPr sz="1600" b="0">
                          <a:solidFill>
                            <a:srgbClr val="3669E8"/>
                          </a:solidFill>
                          <a:latin typeface="Calibri"/>
                        </a:rPr>
                        <a:t>@Hasan8036</a:t>
                      </a:r>
                    </a:p>
                  </a:txBody>
                  <a:tcPr marL="36576" marR="36576" marT="54864" marB="54864" anchor="ctr">
                    <a:noFill/>
                  </a:tcPr>
                </a:tc>
                <a:tc>
                  <a:txBody>
                    <a:bodyPr wrap="square"/>
                    <a:lstStyle/>
                    <a:p>
                      <a:pPr algn="l"/>
                      <a:r>
                        <a:rPr sz="1600" b="0">
                          <a:solidFill>
                            <a:srgbClr val="111111"/>
                          </a:solidFill>
                          <a:latin typeface="Calibri"/>
                        </a:rPr>
                        <a:t>Exploring the data</a:t>
                      </a:r>
                    </a:p>
                  </a:txBody>
                  <a:tcPr marL="36576" marR="36576" marT="54864" marB="54864" anchor="ctr">
                    <a:noFill/>
                  </a:tcPr>
                </a:tc>
              </a:tr>
              <a:tr h="630936">
                <a:tc>
                  <a:txBody>
                    <a:bodyPr wrap="square"/>
                    <a:lstStyle/>
                    <a:p>
                      <a:pPr algn="l"/>
                      <a:r>
                        <a:rPr sz="1700" b="1">
                          <a:solidFill>
                            <a:srgbClr val="111111"/>
                          </a:solidFill>
                          <a:latin typeface="Calibri"/>
                        </a:rPr>
                        <a:t>Fidan Shiraliyeva</a:t>
                      </a:r>
                    </a:p>
                  </a:txBody>
                  <a:tcPr marL="36576" marR="36576" marT="54864" marB="54864" anchor="ctr">
                    <a:noFill/>
                  </a:tcPr>
                </a:tc>
                <a:tc>
                  <a:txBody>
                    <a:bodyPr wrap="square"/>
                    <a:lstStyle/>
                    <a:p>
                      <a:pPr algn="l"/>
                      <a:r>
                        <a:rPr sz="1600" b="0">
                          <a:solidFill>
                            <a:srgbClr val="3669E8"/>
                          </a:solidFill>
                          <a:latin typeface="Calibri"/>
                        </a:rPr>
                        <a:t>@shiraliyeva</a:t>
                      </a:r>
                    </a:p>
                  </a:txBody>
                  <a:tcPr marL="36576" marR="36576" marT="54864" marB="54864" anchor="ctr">
                    <a:noFill/>
                  </a:tcPr>
                </a:tc>
                <a:tc>
                  <a:txBody>
                    <a:bodyPr wrap="square"/>
                    <a:lstStyle/>
                    <a:p>
                      <a:pPr algn="l"/>
                      <a:r>
                        <a:rPr sz="1600" b="0">
                          <a:solidFill>
                            <a:srgbClr val="111111"/>
                          </a:solidFill>
                          <a:latin typeface="Calibri"/>
                        </a:rPr>
                        <a:t>Model comparison and shortlist</a:t>
                      </a:r>
                    </a:p>
                  </a:txBody>
                  <a:tcPr marL="36576" marR="36576" marT="54864" marB="54864" anchor="ctr">
                    <a:noFill/>
                  </a:tcPr>
                </a:tc>
              </a:tr>
              <a:tr h="630936">
                <a:tc>
                  <a:txBody>
                    <a:bodyPr wrap="square"/>
                    <a:lstStyle/>
                    <a:p>
                      <a:pPr algn="l"/>
                      <a:r>
                        <a:rPr sz="1700" b="1">
                          <a:solidFill>
                            <a:srgbClr val="111111"/>
                          </a:solidFill>
                          <a:latin typeface="Calibri"/>
                        </a:rPr>
                        <a:t>Jingyu Wu</a:t>
                      </a:r>
                    </a:p>
                  </a:txBody>
                  <a:tcPr marL="36576" marR="36576" marT="54864" marB="54864" anchor="ctr">
                    <a:noFill/>
                  </a:tcPr>
                </a:tc>
                <a:tc>
                  <a:txBody>
                    <a:bodyPr wrap="square"/>
                    <a:lstStyle/>
                    <a:p>
                      <a:pPr algn="l"/>
                      <a:r>
                        <a:rPr sz="1600" b="0">
                          <a:solidFill>
                            <a:srgbClr val="3669E8"/>
                          </a:solidFill>
                          <a:latin typeface="Calibri"/>
                        </a:rPr>
                        <a:t>@Jing-yu-Wu</a:t>
                      </a:r>
                    </a:p>
                  </a:txBody>
                  <a:tcPr marL="36576" marR="36576" marT="54864" marB="54864" anchor="ctr">
                    <a:noFill/>
                  </a:tcPr>
                </a:tc>
                <a:tc>
                  <a:txBody>
                    <a:bodyPr wrap="square"/>
                    <a:lstStyle/>
                    <a:p>
                      <a:pPr algn="l"/>
                      <a:r>
                        <a:rPr sz="1600" b="0">
                          <a:solidFill>
                            <a:srgbClr val="111111"/>
                          </a:solidFill>
                          <a:latin typeface="Calibri"/>
                        </a:rPr>
                        <a:t>Interpretation and error analysis</a:t>
                      </a:r>
                    </a:p>
                  </a:txBody>
                  <a:tcPr marL="36576" marR="36576" marT="54864" marB="54864" anchor="ctr">
                    <a:noFill/>
                  </a:tcPr>
                </a:tc>
              </a:tr>
              <a:tr h="630936">
                <a:tc>
                  <a:txBody>
                    <a:bodyPr wrap="square"/>
                    <a:lstStyle/>
                    <a:p>
                      <a:pPr algn="l"/>
                      <a:r>
                        <a:rPr sz="1700" b="1">
                          <a:solidFill>
                            <a:srgbClr val="111111"/>
                          </a:solidFill>
                          <a:latin typeface="Calibri"/>
                        </a:rPr>
                        <a:t>Peace Isaac</a:t>
                      </a:r>
                    </a:p>
                  </a:txBody>
                  <a:tcPr marL="36576" marR="36576" marT="54864" marB="54864" anchor="ctr">
                    <a:noFill/>
                  </a:tcPr>
                </a:tc>
                <a:tc>
                  <a:txBody>
                    <a:bodyPr wrap="square"/>
                    <a:lstStyle/>
                    <a:p>
                      <a:pPr algn="l"/>
                      <a:r>
                        <a:rPr sz="1600" b="0">
                          <a:solidFill>
                            <a:srgbClr val="3669E8"/>
                          </a:solidFill>
                          <a:latin typeface="Calibri"/>
                        </a:rPr>
                        <a:t>@LoluPH</a:t>
                      </a:r>
                    </a:p>
                  </a:txBody>
                  <a:tcPr marL="36576" marR="36576" marT="54864" marB="54864" anchor="ctr">
                    <a:noFill/>
                  </a:tcPr>
                </a:tc>
                <a:tc>
                  <a:txBody>
                    <a:bodyPr wrap="square"/>
                    <a:lstStyle/>
                    <a:p>
                      <a:pPr algn="l"/>
                      <a:r>
                        <a:rPr sz="1600" b="0">
                          <a:solidFill>
                            <a:srgbClr val="111111"/>
                          </a:solidFill>
                          <a:latin typeface="Calibri"/>
                        </a:rPr>
                        <a:t>Presentation and slides</a:t>
                      </a:r>
                    </a:p>
                  </a:txBody>
                  <a:tcPr marL="36576" marR="36576" marT="54864" marB="54864" anchor="ctr">
                    <a:noFill/>
                  </a:tcPr>
                </a:tc>
              </a:tr>
              <a:tr h="630936">
                <a:tc>
                  <a:txBody>
                    <a:bodyPr wrap="square"/>
                    <a:lstStyle/>
                    <a:p>
                      <a:pPr algn="l"/>
                      <a:r>
                        <a:rPr sz="1700" b="1">
                          <a:solidFill>
                            <a:srgbClr val="111111"/>
                          </a:solidFill>
                          <a:latin typeface="Calibri"/>
                        </a:rPr>
                        <a:t>Tasnim Hassan</a:t>
                      </a:r>
                    </a:p>
                  </a:txBody>
                  <a:tcPr marL="36576" marR="36576" marT="54864" marB="54864" anchor="ctr">
                    <a:noFill/>
                  </a:tcPr>
                </a:tc>
                <a:tc>
                  <a:txBody>
                    <a:bodyPr wrap="square"/>
                    <a:lstStyle/>
                    <a:p>
                      <a:pPr algn="l"/>
                      <a:r>
                        <a:rPr sz="1600" b="0">
                          <a:solidFill>
                            <a:srgbClr val="3669E8"/>
                          </a:solidFill>
                          <a:latin typeface="Calibri"/>
                        </a:rPr>
                        <a:t>@tasnimrh</a:t>
                      </a:r>
                    </a:p>
                  </a:txBody>
                  <a:tcPr marL="36576" marR="36576" marT="54864" marB="54864" anchor="ctr">
                    <a:noFill/>
                  </a:tcPr>
                </a:tc>
                <a:tc>
                  <a:txBody>
                    <a:bodyPr wrap="square"/>
                    <a:lstStyle/>
                    <a:p>
                      <a:pPr algn="l"/>
                      <a:r>
                        <a:rPr sz="1600" b="0">
                          <a:solidFill>
                            <a:srgbClr val="111111"/>
                          </a:solidFill>
                          <a:latin typeface="Calibri"/>
                        </a:rPr>
                        <a:t>Tuning, ensembles, final test</a:t>
                      </a:r>
                    </a:p>
                  </a:txBody>
                  <a:tcPr marL="36576" marR="36576" marT="54864" marB="54864" anchor="ctr">
                    <a:noFill/>
                  </a:tcPr>
                </a:tc>
              </a:tr>
              <a:tr h="630936">
                <a:tc>
                  <a:txBody>
                    <a:bodyPr wrap="square"/>
                    <a:lstStyle/>
                    <a:p>
                      <a:pPr algn="l"/>
                      <a:r>
                        <a:rPr sz="1700" b="1">
                          <a:solidFill>
                            <a:srgbClr val="111111"/>
                          </a:solidFill>
                          <a:latin typeface="Calibri"/>
                        </a:rPr>
                        <a:t>Mia Scalabrin</a:t>
                      </a:r>
                    </a:p>
                  </a:txBody>
                  <a:tcPr marL="36576" marR="36576" marT="54864" marB="54864" anchor="ctr">
                    <a:noFill/>
                  </a:tcPr>
                </a:tc>
                <a:tc>
                  <a:txBody>
                    <a:bodyPr wrap="square"/>
                    <a:lstStyle/>
                    <a:p>
                      <a:pPr algn="l"/>
                      <a:r>
                        <a:rPr sz="1600" b="0">
                          <a:solidFill>
                            <a:srgbClr val="3669E8"/>
                          </a:solidFill>
                          <a:latin typeface="Calibri"/>
                        </a:rPr>
                        <a:t>@MiaMakarov</a:t>
                      </a:r>
                    </a:p>
                  </a:txBody>
                  <a:tcPr marL="36576" marR="36576" marT="54864" marB="54864" anchor="ctr">
                    <a:noFill/>
                  </a:tcPr>
                </a:tc>
                <a:tc>
                  <a:txBody>
                    <a:bodyPr wrap="square"/>
                    <a:lstStyle/>
                    <a:p>
                      <a:pPr algn="l"/>
                      <a:r>
                        <a:rPr sz="1600" b="0">
                          <a:solidFill>
                            <a:srgbClr val="111111"/>
                          </a:solidFill>
                          <a:latin typeface="Calibri"/>
                        </a:rPr>
                        <a:t>Preparing the data</a:t>
                      </a:r>
                    </a:p>
                  </a:txBody>
                  <a:tcPr marL="36576" marR="36576" marT="54864" marB="54864" anchor="ctr">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2965489" y="1418789"/>
            <a:ext cx="12153044" cy="6745149"/>
            <a:chOff x="0" y="0"/>
            <a:chExt cx="3200802" cy="1776500"/>
          </a:xfrm>
        </p:grpSpPr>
        <p:sp>
          <p:nvSpPr>
            <p:cNvPr name="Freeform 4" id="4"/>
            <p:cNvSpPr/>
            <p:nvPr/>
          </p:nvSpPr>
          <p:spPr>
            <a:xfrm flipH="false" flipV="false" rot="0">
              <a:off x="0" y="0"/>
              <a:ext cx="3200802" cy="1776500"/>
            </a:xfrm>
            <a:custGeom>
              <a:avLst/>
              <a:gdLst/>
              <a:ahLst/>
              <a:cxnLst/>
              <a:rect r="r" b="b" t="t" l="l"/>
              <a:pathLst>
                <a:path h="1776500" w="3200802">
                  <a:moveTo>
                    <a:pt x="32489" y="0"/>
                  </a:moveTo>
                  <a:lnTo>
                    <a:pt x="3168313" y="0"/>
                  </a:lnTo>
                  <a:cubicBezTo>
                    <a:pt x="3176930" y="0"/>
                    <a:pt x="3185193" y="3423"/>
                    <a:pt x="3191286" y="9516"/>
                  </a:cubicBezTo>
                  <a:cubicBezTo>
                    <a:pt x="3197379" y="15609"/>
                    <a:pt x="3200802" y="23872"/>
                    <a:pt x="3200802" y="32489"/>
                  </a:cubicBezTo>
                  <a:lnTo>
                    <a:pt x="3200802" y="1744011"/>
                  </a:lnTo>
                  <a:cubicBezTo>
                    <a:pt x="3200802" y="1761954"/>
                    <a:pt x="3186256" y="1776500"/>
                    <a:pt x="3168313" y="1776500"/>
                  </a:cubicBezTo>
                  <a:lnTo>
                    <a:pt x="32489" y="1776500"/>
                  </a:lnTo>
                  <a:cubicBezTo>
                    <a:pt x="23872" y="1776500"/>
                    <a:pt x="15609" y="1773077"/>
                    <a:pt x="9516" y="1766984"/>
                  </a:cubicBezTo>
                  <a:cubicBezTo>
                    <a:pt x="3423" y="1760892"/>
                    <a:pt x="0" y="1752628"/>
                    <a:pt x="0" y="1744011"/>
                  </a:cubicBezTo>
                  <a:lnTo>
                    <a:pt x="0" y="32489"/>
                  </a:lnTo>
                  <a:cubicBezTo>
                    <a:pt x="0" y="23872"/>
                    <a:pt x="3423" y="15609"/>
                    <a:pt x="9516" y="9516"/>
                  </a:cubicBezTo>
                  <a:cubicBezTo>
                    <a:pt x="15609" y="3423"/>
                    <a:pt x="23872" y="0"/>
                    <a:pt x="32489" y="0"/>
                  </a:cubicBezTo>
                  <a:close/>
                </a:path>
              </a:pathLst>
            </a:custGeom>
            <a:solidFill>
              <a:srgbClr val="3669E8"/>
            </a:solidFill>
            <a:ln w="66675" cap="rnd">
              <a:solidFill>
                <a:srgbClr val="000000"/>
              </a:solidFill>
              <a:prstDash val="solid"/>
              <a:round/>
            </a:ln>
          </p:spPr>
        </p:sp>
        <p:sp>
          <p:nvSpPr>
            <p:cNvPr name="TextBox 5" id="5"/>
            <p:cNvSpPr txBox="true"/>
            <p:nvPr/>
          </p:nvSpPr>
          <p:spPr>
            <a:xfrm>
              <a:off x="0" y="-38100"/>
              <a:ext cx="3200802" cy="1814600"/>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8485927" y="7517365"/>
            <a:ext cx="1316146" cy="1293146"/>
          </a:xfrm>
          <a:custGeom>
            <a:avLst/>
            <a:gdLst/>
            <a:ahLst/>
            <a:cxnLst/>
            <a:rect r="r" b="b" t="t" l="l"/>
            <a:pathLst>
              <a:path h="1293146" w="1316146">
                <a:moveTo>
                  <a:pt x="0" y="0"/>
                </a:moveTo>
                <a:lnTo>
                  <a:pt x="1316146" y="0"/>
                </a:lnTo>
                <a:lnTo>
                  <a:pt x="1316146" y="1293146"/>
                </a:lnTo>
                <a:lnTo>
                  <a:pt x="0" y="1293146"/>
                </a:lnTo>
                <a:lnTo>
                  <a:pt x="0" y="0"/>
                </a:lnTo>
                <a:close/>
              </a:path>
            </a:pathLst>
          </a:custGeom>
          <a:blipFill>
            <a:blip r:embed="rId4">
              <a:extLst>
                <a:ext uri="{96DAC541-7B7A-43D3-8B79-37D633B846F1}">
                  <asvg:svgBlip xmlns:asvg="http://schemas.microsoft.com/office/drawing/2016/SVG/main" r:embed="rId5"/>
                </a:ext>
              </a:extLst>
            </a:blip>
            <a:stretch>
              <a:fillRect l="0" t="0" r="-138187"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Appendix title"/>
          <p:cNvSpPr txBox="1"/>
          <p:nvPr/>
        </p:nvSpPr>
        <p:spPr>
          <a:xfrm>
            <a:off x="3931920" y="2377440"/>
            <a:ext cx="10241280" cy="1463040"/>
          </a:xfrm>
          <a:prstGeom prst="rect">
            <a:avLst/>
          </a:prstGeom>
          <a:noFill/>
        </p:spPr>
        <p:txBody>
          <a:bodyPr wrap="square" lIns="0" rIns="0" tIns="0" bIns="0" anchor="ctr">
            <a:spAutoFit/>
          </a:bodyPr>
          <a:lstStyle/>
          <a:p>
            <a:pPr algn="ctr">
              <a:spcAft>
                <a:spcPts val="600"/>
              </a:spcAft>
            </a:pPr>
            <a:r>
              <a:rPr sz="6000" b="0" i="0">
                <a:solidFill>
                  <a:srgbClr val="89EDD0"/>
                </a:solidFill>
                <a:latin typeface="Arial Black"/>
              </a:rPr>
              <a:t>Appendix</a:t>
            </a:r>
          </a:p>
        </p:txBody>
      </p:sp>
      <p:sp>
        <p:nvSpPr>
          <p:cNvPr id="14" name="Appendix subtitle"/>
          <p:cNvSpPr txBox="1"/>
          <p:nvPr/>
        </p:nvSpPr>
        <p:spPr>
          <a:xfrm>
            <a:off x="3931920" y="4023360"/>
            <a:ext cx="10241280" cy="2011680"/>
          </a:xfrm>
          <a:prstGeom prst="rect">
            <a:avLst/>
          </a:prstGeom>
          <a:noFill/>
        </p:spPr>
        <p:txBody>
          <a:bodyPr wrap="square" lIns="0" rIns="0" tIns="0" bIns="0" anchor="t">
            <a:spAutoFit/>
          </a:bodyPr>
          <a:lstStyle/>
          <a:p>
            <a:pPr algn="ctr">
              <a:spcAft>
                <a:spcPts val="600"/>
              </a:spcAft>
            </a:pPr>
            <a:r>
              <a:rPr sz="2400" b="0" i="0">
                <a:solidFill>
                  <a:srgbClr val="FFFFFF"/>
                </a:solidFill>
                <a:latin typeface="Calibri"/>
              </a:rPr>
              <a:t>Backup slides for Q&amp;A: full benchmark, leakage controls, validation choices, late rate by state, and test results by month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4.1</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Full model comparison, 5-fold time-series CV</a:t>
            </a:r>
          </a:p>
        </p:txBody>
      </p:sp>
      <p:sp>
        <p:nvSpPr>
          <p:cNvPr id="15" name="Benchmark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Benchmark table"/>
          <p:cNvGraphicFramePr>
            <a:graphicFrameLocks noGrp="1"/>
          </p:cNvGraphicFramePr>
          <p:nvPr/>
        </p:nvGraphicFramePr>
        <p:xfrm>
          <a:off x="1005840" y="2606040"/>
          <a:ext cx="16276320" cy="5669280"/>
        </p:xfrm>
        <a:graphic>
          <a:graphicData uri="http://schemas.openxmlformats.org/drawingml/2006/table">
            <a:tbl>
              <a:tblPr firstRow="0" bandRow="0">
                <a:tableStyleId>{2D5ABB26-0587-4C30-8999-92F81FD0307C}</a:tableStyleId>
              </a:tblPr>
              <a:tblGrid>
                <a:gridCol w="5120640"/>
                <a:gridCol w="2103120"/>
                <a:gridCol w="2377440"/>
                <a:gridCol w="2377440"/>
                <a:gridCol w="2377440"/>
                <a:gridCol w="1920240"/>
              </a:tblGrid>
              <a:tr h="566928">
                <a:tc>
                  <a:txBody>
                    <a:bodyPr wrap="square"/>
                    <a:lstStyle/>
                    <a:p>
                      <a:pPr algn="l"/>
                      <a:r>
                        <a:rPr sz="1700" b="1">
                          <a:solidFill>
                            <a:srgbClr val="3669E8"/>
                          </a:solidFill>
                          <a:latin typeface="Calibri"/>
                        </a:rPr>
                        <a:t>Model</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ROC-AUC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Fit time / fold</a:t>
                      </a:r>
                    </a:p>
                  </a:txBody>
                  <a:tcPr marL="109728" marR="109728" marT="54864" marB="54864" anchor="ctr">
                    <a:lnL>
                      <a:noFill/>
                    </a:lnL>
                    <a:lnR>
                      <a:noFill/>
                    </a:lnR>
                    <a:lnT>
                      <a:noFill/>
                    </a:lnT>
                    <a:lnB w="25400">
                      <a:solidFill>
                        <a:srgbClr val="111111"/>
                      </a:solidFill>
                    </a:lnB>
                    <a:noFill/>
                  </a:tcPr>
                </a:tc>
              </a:tr>
              <a:tr h="566928">
                <a:tc>
                  <a:txBody>
                    <a:bodyPr wrap="square"/>
                    <a:lstStyle/>
                    <a:p>
                      <a:pPr algn="l"/>
                      <a:r>
                        <a:rPr sz="1600" b="1">
                          <a:solidFill>
                            <a:srgbClr val="111111"/>
                          </a:solidFill>
                          <a:latin typeface="Calibri"/>
                        </a:rPr>
                        <a:t>Logistic regression</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1.81 ± 0.21</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0.158 ± 0.122</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21.5% ± 2.7</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0.667 ± 0.032</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0.8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Logistic regression, balanced</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 ± 0.19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0.157 ± 0.118</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 ± 2.4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0.664 ± 0.031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1.9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B1: promised days + customer state</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1.76 ± 0.35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0.150 ± 0.107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20.1% ± 5.1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0.646 ± 0.035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0.2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Linear SVM</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1.76 ± 0.26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0.155 ± 0.121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20.8% ± 3.1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0.663 ± 0.033</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0.7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Random forest</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1.61 ± 0.16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0.141 ± 0.107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18.6% ± 2.2</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0.638 ± 0.029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Gradient boosting (HistGB)</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1.54 ± 0.24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0.139 ± 0.109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17.1% ± 3.6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0.620 ± 0.049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7.1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Gaussian naive Bayes</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1.37 ± 0.11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0.119 ± 0.089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14.8% ± 1.0</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0.603 ± 0.025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0.3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Decision tree</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1.25 ± 0.16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0.110 ± 0.084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15.4% ± 2.1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0.569 ± 0.034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0.5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B0: random</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1.00 ± 0.03</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0.088 ± 0.067</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9.9% ± 0.9</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0.501 ± 0.007</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 s</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3.4, DECISIONS D3–D10</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How we kept the future out of the model</a:t>
            </a:r>
          </a:p>
        </p:txBody>
      </p:sp>
      <p:sp>
        <p:nvSpPr>
          <p:cNvPr id="15" name="Leakag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Leakage table"/>
          <p:cNvGraphicFramePr>
            <a:graphicFrameLocks noGrp="1"/>
          </p:cNvGraphicFramePr>
          <p:nvPr/>
        </p:nvGraphicFramePr>
        <p:xfrm>
          <a:off x="1005840" y="2606040"/>
          <a:ext cx="16276320" cy="5888736"/>
        </p:xfrm>
        <a:graphic>
          <a:graphicData uri="http://schemas.openxmlformats.org/drawingml/2006/table">
            <a:tbl>
              <a:tblPr firstRow="0" bandRow="0">
                <a:tableStyleId>{2D5ABB26-0587-4C30-8999-92F81FD0307C}</a:tableStyleId>
              </a:tblPr>
              <a:tblGrid>
                <a:gridCol w="4206240"/>
                <a:gridCol w="12070080"/>
              </a:tblGrid>
              <a:tr h="841248">
                <a:tc>
                  <a:txBody>
                    <a:bodyPr wrap="square"/>
                    <a:lstStyle/>
                    <a:p>
                      <a:pPr algn="l"/>
                      <a:r>
                        <a:rPr sz="1700" b="1">
                          <a:solidFill>
                            <a:srgbClr val="3669E8"/>
                          </a:solidFill>
                          <a:latin typeface="Calibri"/>
                        </a:rPr>
                        <a:t>Only approval-time features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Timing, location, distance, order size and cost, product. Delivery dates, status and reviews are banned (config.BANNED_FEATURE_COLUMNS).</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Time split</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Train on purchases before 1 Apr 2018, test on Apr–Jul 2018. A random split lets the model learn from the future.</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2,000-order gap</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Before every validation fold and the test set: those orders' outcomes weren't known yet.</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Pipeline inside the folds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Imputation, log transform, scaling and encoding are refitted on each fold's training part only.</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History features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Seller and route history may only use orders delivered before the current purchase (D10).</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Censoring rule</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Orders promised after 1 Aug 2018 are dropped: their late deliveries would not yet show up.</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Calendar-day target</a:t>
                      </a:r>
                    </a:p>
                  </a:txBody>
                  <a:tcPr marL="109728" marR="109728" marT="54864" marB="54864" anchor="ctr">
                    <a:lnL>
                      <a:noFill/>
                    </a:lnL>
                    <a:lnR>
                      <a:noFill/>
                    </a:lnR>
                    <a:lnT>
                      <a:noFill/>
                    </a:lnT>
                    <a:lnB>
                      <a:noFill/>
                    </a:lnB>
                    <a:noFill/>
                  </a:tcPr>
                </a:tc>
                <a:tc>
                  <a:txBody>
                    <a:bodyPr wrap="square"/>
                    <a:lstStyle/>
                    <a:p>
                      <a:pPr algn="l"/>
                      <a:r>
                        <a:rPr sz="1600" b="0">
                          <a:solidFill>
                            <a:srgbClr val="111111"/>
                          </a:solidFill>
                          <a:latin typeface="Calibri"/>
                        </a:rPr>
                        <a:t>Late = delivered on a later day than promised. Timestamps would inflate the rate from 6.8% to 8.1%.</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2.3</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Where the order goes: late rate by customer state</a:t>
            </a:r>
          </a:p>
        </p:txBody>
      </p:sp>
      <p:sp>
        <p:nvSpPr>
          <p:cNvPr id="15" name="Stat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State chart (Hasan)" descr="06_late_rate_by_customer_state.png"/>
          <p:cNvPicPr>
            <a:picLocks noChangeAspect="1"/>
          </p:cNvPicPr>
          <p:nvPr/>
        </p:nvPicPr>
        <p:blipFill>
          <a:blip r:embed="rId8"/>
          <a:stretch>
            <a:fillRect/>
          </a:stretch>
        </p:blipFill>
        <p:spPr>
          <a:xfrm>
            <a:off x="1097280" y="2560320"/>
            <a:ext cx="6701386" cy="6035040"/>
          </a:xfrm>
          <a:prstGeom prst="rect">
            <a:avLst/>
          </a:prstGeom>
        </p:spPr>
      </p:pic>
      <p:sp>
        <p:nvSpPr>
          <p:cNvPr id="17" name="State text"/>
          <p:cNvSpPr txBox="1"/>
          <p:nvPr/>
        </p:nvSpPr>
        <p:spPr>
          <a:xfrm>
            <a:off x="7680960" y="2926080"/>
            <a:ext cx="9509760" cy="5486400"/>
          </a:xfrm>
          <a:prstGeom prst="rect">
            <a:avLst/>
          </a:prstGeom>
          <a:noFill/>
        </p:spPr>
        <p:txBody>
          <a:bodyPr wrap="square" lIns="0" rIns="0" tIns="0" bIns="0" anchor="t">
            <a:spAutoFit/>
          </a:bodyPr>
          <a:lstStyle/>
          <a:p>
            <a:pPr algn="l">
              <a:spcAft>
                <a:spcPts val="1600"/>
              </a:spcAft>
            </a:pPr>
            <a:r>
              <a:rPr sz="2000" b="1" i="0">
                <a:solidFill>
                  <a:srgbClr val="111111"/>
                </a:solidFill>
                <a:latin typeface="Calibri"/>
              </a:rPr>
              <a:t>North-eastern states are worst: </a:t>
            </a:r>
            <a:r>
              <a:rPr sz="2000" b="0" i="0">
                <a:solidFill>
                  <a:srgbClr val="111111"/>
                </a:solidFill>
                <a:latin typeface="Calibri"/>
              </a:rPr>
              <a:t>Alagoas 25.0%, Maranhão 19.6%, Sergipe 17.3%, Ceará 16.1%, vs São Paulo 4.8% (40% of orders).</a:t>
            </a:r>
          </a:p>
          <a:p>
            <a:pPr algn="l">
              <a:spcAft>
                <a:spcPts val="1600"/>
              </a:spcAft>
            </a:pPr>
            <a:r>
              <a:rPr sz="2000" b="1" i="0">
                <a:solidFill>
                  <a:srgbClr val="111111"/>
                </a:solidFill>
                <a:latin typeface="Calibri"/>
              </a:rPr>
              <a:t>Rio vs Minas Gerais: </a:t>
            </a:r>
            <a:r>
              <a:rPr sz="2000" b="0" i="0">
                <a:solidFill>
                  <a:srgbClr val="111111"/>
                </a:solidFill>
                <a:latin typeface="Calibri"/>
              </a:rPr>
              <a:t>15.6% vs 5.3% late, even though Rio's customers are closer to their sellers and get the same promise.</a:t>
            </a:r>
          </a:p>
          <a:p>
            <a:pPr algn="l">
              <a:spcAft>
                <a:spcPts val="1600"/>
              </a:spcAft>
            </a:pPr>
            <a:r>
              <a:rPr sz="2000" b="1" i="0">
                <a:solidFill>
                  <a:srgbClr val="111111"/>
                </a:solidFill>
                <a:latin typeface="Calibri"/>
              </a:rPr>
              <a:t>Customer state is the strongest single feature </a:t>
            </a:r>
            <a:r>
              <a:rPr sz="2000" b="0" i="0">
                <a:solidFill>
                  <a:srgbClr val="111111"/>
                </a:solidFill>
                <a:latin typeface="Calibri"/>
              </a:rPr>
              <a:t>(AUC 0.633 on its 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5.1–5.2</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Tuning and ensembles: what we tried</a:t>
            </a:r>
          </a:p>
        </p:txBody>
      </p:sp>
      <p:sp>
        <p:nvSpPr>
          <p:cNvPr id="15" name="Tuning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Tuning table"/>
          <p:cNvGraphicFramePr>
            <a:graphicFrameLocks noGrp="1"/>
          </p:cNvGraphicFramePr>
          <p:nvPr/>
        </p:nvGraphicFramePr>
        <p:xfrm>
          <a:off x="1005840" y="2606040"/>
          <a:ext cx="16276320" cy="4352544"/>
        </p:xfrm>
        <a:graphic>
          <a:graphicData uri="http://schemas.openxmlformats.org/drawingml/2006/table">
            <a:tbl>
              <a:tblPr firstRow="0" bandRow="0">
                <a:tableStyleId>{2D5ABB26-0587-4C30-8999-92F81FD0307C}</a:tableStyleId>
              </a:tblPr>
              <a:tblGrid>
                <a:gridCol w="5120640"/>
                <a:gridCol w="5486400"/>
                <a:gridCol w="1828800"/>
                <a:gridCol w="1737360"/>
                <a:gridCol w="2103120"/>
              </a:tblGrid>
              <a:tr h="621792">
                <a:tc>
                  <a:txBody>
                    <a:bodyPr wrap="square"/>
                    <a:lstStyle/>
                    <a:p>
                      <a:pPr algn="l"/>
                      <a:r>
                        <a:rPr sz="1700" b="1">
                          <a:solidFill>
                            <a:srgbClr val="3669E8"/>
                          </a:solidFill>
                          <a:latin typeface="Calibri"/>
                        </a:rPr>
                        <a:t>Model (cross-validated)</a:t>
                      </a:r>
                    </a:p>
                  </a:txBody>
                  <a:tcPr marL="109728" marR="109728" marT="54864" marB="54864" anchor="ctr">
                    <a:lnL>
                      <a:noFill/>
                    </a:lnL>
                    <a:lnR>
                      <a:noFill/>
                    </a:lnR>
                    <a:lnT>
                      <a:noFill/>
                    </a:lnT>
                    <a:lnB w="25400">
                      <a:solidFill>
                        <a:srgbClr val="111111"/>
                      </a:solidFill>
                    </a:lnB>
                    <a:noFill/>
                  </a:tcPr>
                </a:tc>
                <a:tc>
                  <a:txBody>
                    <a:bodyPr wrap="square"/>
                    <a:lstStyle/>
                    <a:p>
                      <a:pPr algn="l"/>
                      <a:r>
                        <a:rPr sz="1700" b="1">
                          <a:solidFill>
                            <a:srgbClr val="3669E8"/>
                          </a:solidFill>
                          <a:latin typeface="Calibri"/>
                        </a:rPr>
                        <a:t>Selected settings</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r>
              <a:tr h="621792">
                <a:tc>
                  <a:txBody>
                    <a:bodyPr wrap="square"/>
                    <a:lstStyle/>
                    <a:p>
                      <a:pPr algn="l"/>
                      <a:r>
                        <a:rPr sz="1600" b="0">
                          <a:solidFill>
                            <a:srgbClr val="111111"/>
                          </a:solidFill>
                          <a:latin typeface="Calibri"/>
                        </a:rPr>
                        <a:t>LR, untuned</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C = 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0.158</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LR, tuned</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L1, C = 0.157, rare categories &lt; 20 grouped</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0.161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22.5%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1">
                          <a:solidFill>
                            <a:srgbClr val="111111"/>
                          </a:solidFill>
                          <a:latin typeface="Calibri"/>
                        </a:rPr>
                        <a:t>LR, tuned, no purchase_month (final)</a:t>
                      </a:r>
                    </a:p>
                  </a:txBody>
                  <a:tcPr marL="109728" marR="109728" marT="54864" marB="54864" anchor="ctr">
                    <a:lnL>
                      <a:noFill/>
                    </a:lnL>
                    <a:lnR>
                      <a:noFill/>
                    </a:lnR>
                    <a:lnT>
                      <a:noFill/>
                    </a:lnT>
                    <a:lnB w="12700">
                      <a:solidFill>
                        <a:srgbClr val="C9D3EE"/>
                      </a:solidFill>
                    </a:lnB>
                    <a:noFill/>
                  </a:tcPr>
                </a:tc>
                <a:tc>
                  <a:txBody>
                    <a:bodyPr wrap="square"/>
                    <a:lstStyle/>
                    <a:p>
                      <a:pPr algn="l"/>
                      <a:r>
                        <a:rPr sz="1600" b="1">
                          <a:solidFill>
                            <a:srgbClr val="111111"/>
                          </a:solidFill>
                          <a:latin typeface="Calibri"/>
                        </a:rPr>
                        <a:t>as above</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0.168</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1.98</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23.7%</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Random forest, tuned, no month</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depth 12, ≥ 18 orders per leaf</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0.161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1.80</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20.7%</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HistGB, tuned, no month</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learning rate 0.014, 395 trees, L2 4.9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Best ensemble (weighted vote)</a:t>
                      </a:r>
                    </a:p>
                  </a:txBody>
                  <a:tcPr marL="109728" marR="109728" marT="54864" marB="54864" anchor="ctr">
                    <a:lnL>
                      <a:noFill/>
                    </a:lnL>
                    <a:lnR>
                      <a:noFill/>
                    </a:lnR>
                    <a:lnT>
                      <a:noFill/>
                    </a:lnT>
                    <a:lnB>
                      <a:noFill/>
                    </a:lnB>
                    <a:noFill/>
                  </a:tcPr>
                </a:tc>
                <a:tc>
                  <a:txBody>
                    <a:bodyPr wrap="square"/>
                    <a:lstStyle/>
                    <a:p>
                      <a:pPr algn="l"/>
                      <a:r>
                        <a:rPr sz="1600" b="0">
                          <a:solidFill>
                            <a:srgbClr val="111111"/>
                          </a:solidFill>
                          <a:latin typeface="Calibri"/>
                        </a:rPr>
                        <a:t>2×LR + RF + HistGB</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0.168</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1.94</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23.1%</a:t>
                      </a:r>
                    </a:p>
                  </a:txBody>
                  <a:tcPr marL="109728" marR="109728" marT="54864" marB="54864" anchor="ctr">
                    <a:lnL>
                      <a:noFill/>
                    </a:lnL>
                    <a:lnR>
                      <a:noFill/>
                    </a:lnR>
                    <a:lnT>
                      <a:noFill/>
                    </a:lnT>
                    <a:lnB>
                      <a:noFill/>
                    </a:lnB>
                    <a:noFill/>
                  </a:tcPr>
                </a:tc>
              </a:tr>
            </a:tbl>
          </a:graphicData>
        </a:graphic>
      </p:graphicFrame>
      <p:sp>
        <p:nvSpPr>
          <p:cNvPr id="17" name="Rule text"/>
          <p:cNvSpPr txBox="1"/>
          <p:nvPr/>
        </p:nvSpPr>
        <p:spPr>
          <a:xfrm>
            <a:off x="1005840" y="7406640"/>
            <a:ext cx="16276320" cy="128016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Rule fixed in advance: a more complex model replaces LR only if it is better on at least 4 of 5 folds and its average gain exceeds one standard error. No ensemble passed. Stacking was not used: time-series folds don't partition the data, so its meta-model would learn from future 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5.3–5.4</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Test results by month, and why scores are a ranking</a:t>
            </a:r>
          </a:p>
        </p:txBody>
      </p:sp>
      <p:sp>
        <p:nvSpPr>
          <p:cNvPr id="15" name="Monthly card"/>
          <p:cNvSpPr/>
          <p:nvPr/>
        </p:nvSpPr>
        <p:spPr>
          <a:xfrm>
            <a:off x="731520" y="2377440"/>
            <a:ext cx="1005840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nthly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Test set by month: final model vs B1</a:t>
            </a:r>
          </a:p>
        </p:txBody>
      </p:sp>
      <p:graphicFrame>
        <p:nvGraphicFramePr>
          <p:cNvPr id="17" name="Monthly table"/>
          <p:cNvGraphicFramePr>
            <a:graphicFrameLocks noGrp="1"/>
          </p:cNvGraphicFramePr>
          <p:nvPr/>
        </p:nvGraphicFramePr>
        <p:xfrm>
          <a:off x="1097280" y="3246120"/>
          <a:ext cx="9326880" cy="3108960"/>
        </p:xfrm>
        <a:graphic>
          <a:graphicData uri="http://schemas.openxmlformats.org/drawingml/2006/table">
            <a:tbl>
              <a:tblPr firstRow="0" bandRow="0">
                <a:tableStyleId>{2D5ABB26-0587-4C30-8999-92F81FD0307C}</a:tableStyleId>
              </a:tblPr>
              <a:tblGrid>
                <a:gridCol w="2926080"/>
                <a:gridCol w="1463040"/>
                <a:gridCol w="1645920"/>
                <a:gridCol w="1645920"/>
                <a:gridCol w="1645920"/>
              </a:tblGrid>
              <a:tr h="621792">
                <a:tc>
                  <a:txBody>
                    <a:bodyPr wrap="square"/>
                    <a:lstStyle/>
                    <a:p>
                      <a:pPr algn="l"/>
                      <a:r>
                        <a:rPr sz="1700" b="1">
                          <a:solidFill>
                            <a:srgbClr val="3669E8"/>
                          </a:solidFill>
                          <a:latin typeface="Calibri"/>
                        </a:rPr>
                        <a:t>Month</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Orders</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Late rate</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 final</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 B1</a:t>
                      </a:r>
                    </a:p>
                  </a:txBody>
                  <a:tcPr marL="109728" marR="109728" marT="54864" marB="54864" anchor="ctr">
                    <a:lnL>
                      <a:noFill/>
                    </a:lnL>
                    <a:lnR>
                      <a:noFill/>
                    </a:lnR>
                    <a:lnT>
                      <a:noFill/>
                    </a:lnT>
                    <a:lnB w="25400">
                      <a:solidFill>
                        <a:srgbClr val="111111"/>
                      </a:solidFill>
                    </a:lnB>
                    <a:noFill/>
                  </a:tcPr>
                </a:tc>
              </a:tr>
              <a:tr h="621792">
                <a:tc>
                  <a:txBody>
                    <a:bodyPr wrap="square"/>
                    <a:lstStyle/>
                    <a:p>
                      <a:pPr algn="l"/>
                      <a:r>
                        <a:rPr sz="1700" b="0">
                          <a:solidFill>
                            <a:srgbClr val="111111"/>
                          </a:solidFill>
                          <a:latin typeface="Calibri"/>
                        </a:rPr>
                        <a:t>Apr 2018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6,798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4.5%</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3.85</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3.31</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May 2018 (strike)</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6,743</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6.6%</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2.32</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1.88</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Jun 2018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5,901</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1.2%</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5.10</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4.19</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Jul 2018</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1,891</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3.0%</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2.18</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2.86</a:t>
                      </a:r>
                    </a:p>
                  </a:txBody>
                  <a:tcPr marL="109728" marR="109728" marT="54864" marB="54864" anchor="ctr">
                    <a:lnL>
                      <a:noFill/>
                    </a:lnL>
                    <a:lnR>
                      <a:noFill/>
                    </a:lnR>
                    <a:lnT>
                      <a:noFill/>
                    </a:lnT>
                    <a:lnB>
                      <a:noFill/>
                    </a:lnB>
                    <a:noFill/>
                  </a:tcPr>
                </a:tc>
              </a:tr>
            </a:tbl>
          </a:graphicData>
        </a:graphic>
      </p:graphicFrame>
      <p:sp>
        <p:nvSpPr>
          <p:cNvPr id="18" name="Monthly note"/>
          <p:cNvSpPr txBox="1"/>
          <p:nvPr/>
        </p:nvSpPr>
        <p:spPr>
          <a:xfrm>
            <a:off x="1097280" y="6629400"/>
            <a:ext cx="9326880" cy="201168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The final model beats B1 in April and May. June and July each have fewer than 75 late orders, so those comparisons are noisy. May coincides with Brazil's truck drivers' strike, a shock no feature can see.</a:t>
            </a:r>
          </a:p>
        </p:txBody>
      </p:sp>
      <p:sp>
        <p:nvSpPr>
          <p:cNvPr id="19" name="Calibration"/>
          <p:cNvSpPr/>
          <p:nvPr/>
        </p:nvSpPr>
        <p:spPr>
          <a:xfrm>
            <a:off x="11155680" y="2377440"/>
            <a:ext cx="64008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libration number"/>
          <p:cNvSpPr txBox="1"/>
          <p:nvPr/>
        </p:nvSpPr>
        <p:spPr>
          <a:xfrm>
            <a:off x="11475719" y="2606040"/>
            <a:ext cx="5760720" cy="1357884"/>
          </a:xfrm>
          <a:prstGeom prst="rect">
            <a:avLst/>
          </a:prstGeom>
          <a:noFill/>
        </p:spPr>
        <p:txBody>
          <a:bodyPr wrap="square" lIns="0" rIns="0" tIns="0" bIns="0" anchor="b">
            <a:spAutoFit/>
          </a:bodyPr>
          <a:lstStyle/>
          <a:p>
            <a:pPr algn="l">
              <a:spcAft>
                <a:spcPts val="600"/>
              </a:spcAft>
            </a:pPr>
            <a:r>
              <a:rPr sz="3400" b="0" i="0">
                <a:solidFill>
                  <a:srgbClr val="89EDD0"/>
                </a:solidFill>
                <a:latin typeface="Arial Black"/>
              </a:rPr>
              <a:t>8.1% vs 4.1%</a:t>
            </a:r>
          </a:p>
        </p:txBody>
      </p:sp>
      <p:sp>
        <p:nvSpPr>
          <p:cNvPr id="21" name="Calibration label"/>
          <p:cNvSpPr txBox="1"/>
          <p:nvPr/>
        </p:nvSpPr>
        <p:spPr>
          <a:xfrm>
            <a:off x="11475719" y="4009644"/>
            <a:ext cx="5760720" cy="1202436"/>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mean predicted risk vs observed late rate on the test set</a:t>
            </a:r>
          </a:p>
        </p:txBody>
      </p:sp>
      <p:sp>
        <p:nvSpPr>
          <p:cNvPr id="22" name="Ranking card"/>
          <p:cNvSpPr/>
          <p:nvPr/>
        </p:nvSpPr>
        <p:spPr>
          <a:xfrm>
            <a:off x="11155680" y="5715000"/>
            <a:ext cx="6400800" cy="3063240"/>
          </a:xfrm>
          <a:prstGeom prst="roundRect">
            <a:avLst>
              <a:gd name="adj" fmla="val 4776"/>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anking text"/>
          <p:cNvSpPr txBox="1"/>
          <p:nvPr/>
        </p:nvSpPr>
        <p:spPr>
          <a:xfrm>
            <a:off x="11475720" y="5852160"/>
            <a:ext cx="5760720" cy="27889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Use it as a ranking. </a:t>
            </a:r>
            <a:r>
              <a:rPr sz="1700" b="0" i="0">
                <a:solidFill>
                  <a:srgbClr val="111111"/>
                </a:solidFill>
                <a:latin typeface="Calibri"/>
              </a:rPr>
              <a:t>The model learned from a period with twice the late rate. A cut-off chosen on training data would flag 10.9% of test orders instead of 10%, so flag the top 10% each day and recalibrate if real probabilities are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DAHZJLGY0zw</dc:identifier>
  <dcterms:modified xsi:type="dcterms:W3CDTF">2011-08-01T06:04:30Z</dcterms:modified>
  <cp:revision>1</cp:revision>
  <dc:title>Blue and Green Flat E-Commerce Presentation</dc:title>
</cp:coreProperties>
</file>