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charts/chart4.xml" ContentType="application/vnd.openxmlformats-officedocument.drawingml.chart+xml"/>
  <Override PartName="/ppt/notesSlides/notesSlide10.xml" ContentType="application/vnd.openxmlformats-officedocument.presentationml.notesSlide+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66" r:id="rId2"/>
    <p:sldId id="267" r:id="rId3"/>
    <p:sldId id="268" r:id="rId4"/>
    <p:sldId id="269" r:id="rId5"/>
    <p:sldId id="270" r:id="rId6"/>
    <p:sldId id="271" r:id="rId7"/>
    <p:sldId id="272" r:id="rId8"/>
    <p:sldId id="273" r:id="rId9"/>
    <p:sldId id="274" r:id="rId10"/>
    <p:sldId id="275" r:id="rId11"/>
    <p:sldId id="276" r:id="rId12"/>
    <p:sldId id="277" r:id="rId13"/>
    <p:sldId id="278" r:id="rId14"/>
    <p:sldId id="279" r:id="rId15"/>
    <p:sldId id="280" r:id="rId16"/>
    <p:sldId id="281" r:id="rId17"/>
    <p:sldId id="282" r:id="rId18"/>
    <p:sldId id="283" r:id="rId19"/>
    <p:sldId id="284" r:id="rId20"/>
    <p:sldId id="285" r:id="rId21"/>
  </p:sldIdLst>
  <p:sldSz cx="18288000" cy="10287000"/>
  <p:notesSz cx="6858000" cy="9144000"/>
  <p:embeddedFontLst>
    <p:embeddedFont>
      <p:font typeface="Arial Black" panose="020B0604020202020204" pitchFamily="34" charset="0"/>
      <p:bold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autoAdjust="0"/>
    <p:restoredTop sz="94589" autoAdjust="0"/>
  </p:normalViewPr>
  <p:slideViewPr>
    <p:cSldViewPr>
      <p:cViewPr varScale="1">
        <p:scale>
          <a:sx n="79" d="100"/>
          <a:sy n="79" d="100"/>
        </p:scale>
        <p:origin x="264" y="2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1–2★ share</c:v>
                </c:pt>
              </c:strCache>
            </c:strRef>
          </c:tx>
          <c:spPr>
            <a:solidFill>
              <a:srgbClr val="69D6B6"/>
            </a:solidFill>
            <a:ln>
              <a:noFill/>
            </a:ln>
          </c:spPr>
          <c:invertIfNegative val="1"/>
          <c:dPt>
            <c:idx val="1"/>
            <c:invertIfNegative val="1"/>
            <c:bubble3D val="0"/>
            <c:spPr>
              <a:solidFill>
                <a:srgbClr val="3669E8"/>
              </a:solidFill>
            </c:spPr>
            <c:extLst>
              <c:ext xmlns:c16="http://schemas.microsoft.com/office/drawing/2014/chart" uri="{C3380CC4-5D6E-409C-BE32-E72D297353CC}">
                <c16:uniqueId val="{00000001-5CC0-DE43-8886-91F5D1F099D5}"/>
              </c:ext>
            </c:extLst>
          </c:dPt>
          <c:dLbls>
            <c:numFmt formatCode="0.0%" sourceLinked="0"/>
            <c:spPr>
              <a:noFill/>
              <a:ln>
                <a:noFill/>
              </a:ln>
              <a:effectLst/>
            </c:spPr>
            <c:txPr>
              <a:bodyPr/>
              <a:lstStyle/>
              <a:p>
                <a:pPr>
                  <a:defRPr sz="260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On time</c:v>
                </c:pt>
                <c:pt idx="1">
                  <c:v>Late</c:v>
                </c:pt>
              </c:strCache>
            </c:strRef>
          </c:cat>
          <c:val>
            <c:numRef>
              <c:f>Sheet1!$B$2:$B$3</c:f>
              <c:numCache>
                <c:formatCode>General</c:formatCode>
                <c:ptCount val="2"/>
                <c:pt idx="0">
                  <c:v>9.2999999999999999E-2</c:v>
                </c:pt>
                <c:pt idx="1">
                  <c:v>0.625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5CC0-DE43-8886-91F5D1F099D5}"/>
            </c:ext>
          </c:extLst>
        </c:ser>
        <c:dLbls>
          <c:showLegendKey val="0"/>
          <c:showVal val="0"/>
          <c:showCatName val="0"/>
          <c:showSerName val="0"/>
          <c:showPercent val="0"/>
          <c:showBubbleSize val="0"/>
        </c:dLbls>
        <c:gapWidth val="7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111111"/>
            </a:solidFill>
          </a:ln>
        </c:spPr>
        <c:txPr>
          <a:bodyPr/>
          <a:lstStyle/>
          <a:p>
            <a:pPr>
              <a:defRPr sz="2000" b="1"/>
            </a:pPr>
            <a:endParaRPr lang="en-US"/>
          </a:p>
        </c:txPr>
        <c:crossAx val="-2113994440"/>
        <c:crosses val="autoZero"/>
        <c:auto val="1"/>
        <c:lblAlgn val="ctr"/>
        <c:lblOffset val="100"/>
        <c:noMultiLvlLbl val="0"/>
      </c:catAx>
      <c:valAx>
        <c:axId val="-2113994440"/>
        <c:scaling>
          <c:orientation val="minMax"/>
          <c:max val="0.75"/>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solidFill>
            <a:srgbClr val="111111"/>
          </a:solidFill>
          <a:latin typeface="Calibr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Training period</c:v>
                </c:pt>
              </c:strCache>
            </c:strRef>
          </c:tx>
          <c:spPr>
            <a:ln w="44450">
              <a:solidFill>
                <a:srgbClr val="3669E8"/>
              </a:solidFill>
            </a:ln>
          </c:spPr>
          <c:marker>
            <c:symbol val="circle"/>
            <c:size val="9"/>
            <c:spPr>
              <a:solidFill>
                <a:srgbClr val="3669E8"/>
              </a:solidFill>
              <a:ln>
                <a:solidFill>
                  <a:srgbClr val="3669E8"/>
                </a:solidFill>
              </a:ln>
            </c:spPr>
          </c:marker>
          <c:dLbls>
            <c:dLbl>
              <c:idx val="10"/>
              <c:tx>
                <c:rich>
                  <a:bodyPr/>
                  <a:lstStyle/>
                  <a:p>
                    <a:r>
                      <a:rPr lang="en-CA" sz="1800" b="1">
                        <a:solidFill>
                          <a:srgbClr val="111111"/>
                        </a:solidFill>
                      </a:rPr>
                      <a:t>12.4%</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4E72-5D47-A42B-EFDB9964780F}"/>
                </c:ext>
              </c:extLst>
            </c:dLbl>
            <c:dLbl>
              <c:idx val="13"/>
              <c:tx>
                <c:rich>
                  <a:bodyPr/>
                  <a:lstStyle/>
                  <a:p>
                    <a:r>
                      <a:rPr lang="en-CA" sz="1800" b="1">
                        <a:solidFill>
                          <a:srgbClr val="111111"/>
                        </a:solidFill>
                      </a:rPr>
                      <a:t>14.1%</a:t>
                    </a:r>
                  </a:p>
                </c:rich>
              </c:tx>
              <c:dLblPos val="l"/>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4E72-5D47-A42B-EFDB9964780F}"/>
                </c:ext>
              </c:extLst>
            </c:dLbl>
            <c:dLbl>
              <c:idx val="14"/>
              <c:tx>
                <c:rich>
                  <a:bodyPr/>
                  <a:lstStyle/>
                  <a:p>
                    <a:r>
                      <a:rPr lang="en-CA" sz="1800" b="1">
                        <a:solidFill>
                          <a:srgbClr val="111111"/>
                        </a:solidFill>
                      </a:rPr>
                      <a:t>19.0%</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4E72-5D47-A42B-EFDB9964780F}"/>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Sheet1!$A$2:$A$20</c:f>
              <c:strCache>
                <c:ptCount val="19"/>
                <c:pt idx="0">
                  <c:v>Jan 17</c:v>
                </c:pt>
                <c:pt idx="1">
                  <c:v>Feb</c:v>
                </c:pt>
                <c:pt idx="2">
                  <c:v>Mar</c:v>
                </c:pt>
                <c:pt idx="3">
                  <c:v>Apr</c:v>
                </c:pt>
                <c:pt idx="4">
                  <c:v>May</c:v>
                </c:pt>
                <c:pt idx="5">
                  <c:v>Jun</c:v>
                </c:pt>
                <c:pt idx="6">
                  <c:v>Jul</c:v>
                </c:pt>
                <c:pt idx="7">
                  <c:v>Aug</c:v>
                </c:pt>
                <c:pt idx="8">
                  <c:v>Sep</c:v>
                </c:pt>
                <c:pt idx="9">
                  <c:v>Oct</c:v>
                </c:pt>
                <c:pt idx="10">
                  <c:v>Nov</c:v>
                </c:pt>
                <c:pt idx="11">
                  <c:v>Dec</c:v>
                </c:pt>
                <c:pt idx="12">
                  <c:v>Jan 18</c:v>
                </c:pt>
                <c:pt idx="13">
                  <c:v>Feb</c:v>
                </c:pt>
                <c:pt idx="14">
                  <c:v>Mar</c:v>
                </c:pt>
                <c:pt idx="15">
                  <c:v>Apr</c:v>
                </c:pt>
                <c:pt idx="16">
                  <c:v>May</c:v>
                </c:pt>
                <c:pt idx="17">
                  <c:v>Jun</c:v>
                </c:pt>
                <c:pt idx="18">
                  <c:v>Jul 18</c:v>
                </c:pt>
              </c:strCache>
            </c:strRef>
          </c:cat>
          <c:val>
            <c:numRef>
              <c:f>Sheet1!$B$2:$B$20</c:f>
              <c:numCache>
                <c:formatCode>General</c:formatCode>
                <c:ptCount val="19"/>
                <c:pt idx="0">
                  <c:v>2.9399999999999999E-2</c:v>
                </c:pt>
                <c:pt idx="1">
                  <c:v>2.9899999999999999E-2</c:v>
                </c:pt>
                <c:pt idx="2">
                  <c:v>4.5600000000000002E-2</c:v>
                </c:pt>
                <c:pt idx="3">
                  <c:v>6.5600000000000006E-2</c:v>
                </c:pt>
                <c:pt idx="4">
                  <c:v>2.9899999999999999E-2</c:v>
                </c:pt>
                <c:pt idx="5">
                  <c:v>3.0300000000000001E-2</c:v>
                </c:pt>
                <c:pt idx="6">
                  <c:v>2.7900000000000001E-2</c:v>
                </c:pt>
                <c:pt idx="7">
                  <c:v>2.9100000000000001E-2</c:v>
                </c:pt>
                <c:pt idx="8">
                  <c:v>4.3900000000000002E-2</c:v>
                </c:pt>
                <c:pt idx="9">
                  <c:v>4.1799999999999997E-2</c:v>
                </c:pt>
                <c:pt idx="10">
                  <c:v>0.124</c:v>
                </c:pt>
                <c:pt idx="11">
                  <c:v>7.46E-2</c:v>
                </c:pt>
                <c:pt idx="12">
                  <c:v>5.7000000000000002E-2</c:v>
                </c:pt>
                <c:pt idx="13">
                  <c:v>0.14130000000000001</c:v>
                </c:pt>
                <c:pt idx="14">
                  <c:v>0.18970000000000001</c:v>
                </c:pt>
              </c:numCache>
            </c:numRef>
          </c:val>
          <c:smooth val="0"/>
          <c:extLst>
            <c:ext xmlns:c16="http://schemas.microsoft.com/office/drawing/2014/chart" uri="{C3380CC4-5D6E-409C-BE32-E72D297353CC}">
              <c16:uniqueId val="{00000003-4E72-5D47-A42B-EFDB9964780F}"/>
            </c:ext>
          </c:extLst>
        </c:ser>
        <c:ser>
          <c:idx val="1"/>
          <c:order val="1"/>
          <c:tx>
            <c:strRef>
              <c:f>Sheet1!$C$1</c:f>
              <c:strCache>
                <c:ptCount val="1"/>
                <c:pt idx="0">
                  <c:v>Test period</c:v>
                </c:pt>
              </c:strCache>
            </c:strRef>
          </c:tx>
          <c:spPr>
            <a:ln w="44450">
              <a:solidFill>
                <a:srgbClr val="69D6B6"/>
              </a:solidFill>
            </a:ln>
          </c:spPr>
          <c:marker>
            <c:symbol val="circle"/>
            <c:size val="9"/>
            <c:spPr>
              <a:solidFill>
                <a:srgbClr val="69D6B6"/>
              </a:solidFill>
              <a:ln>
                <a:solidFill>
                  <a:srgbClr val="69D6B6"/>
                </a:solidFill>
              </a:ln>
            </c:spPr>
          </c:marker>
          <c:cat>
            <c:strRef>
              <c:f>Sheet1!$A$2:$A$20</c:f>
              <c:strCache>
                <c:ptCount val="19"/>
                <c:pt idx="0">
                  <c:v>Jan 17</c:v>
                </c:pt>
                <c:pt idx="1">
                  <c:v>Feb</c:v>
                </c:pt>
                <c:pt idx="2">
                  <c:v>Mar</c:v>
                </c:pt>
                <c:pt idx="3">
                  <c:v>Apr</c:v>
                </c:pt>
                <c:pt idx="4">
                  <c:v>May</c:v>
                </c:pt>
                <c:pt idx="5">
                  <c:v>Jun</c:v>
                </c:pt>
                <c:pt idx="6">
                  <c:v>Jul</c:v>
                </c:pt>
                <c:pt idx="7">
                  <c:v>Aug</c:v>
                </c:pt>
                <c:pt idx="8">
                  <c:v>Sep</c:v>
                </c:pt>
                <c:pt idx="9">
                  <c:v>Oct</c:v>
                </c:pt>
                <c:pt idx="10">
                  <c:v>Nov</c:v>
                </c:pt>
                <c:pt idx="11">
                  <c:v>Dec</c:v>
                </c:pt>
                <c:pt idx="12">
                  <c:v>Jan 18</c:v>
                </c:pt>
                <c:pt idx="13">
                  <c:v>Feb</c:v>
                </c:pt>
                <c:pt idx="14">
                  <c:v>Mar</c:v>
                </c:pt>
                <c:pt idx="15">
                  <c:v>Apr</c:v>
                </c:pt>
                <c:pt idx="16">
                  <c:v>May</c:v>
                </c:pt>
                <c:pt idx="17">
                  <c:v>Jun</c:v>
                </c:pt>
                <c:pt idx="18">
                  <c:v>Jul 18</c:v>
                </c:pt>
              </c:strCache>
            </c:strRef>
          </c:cat>
          <c:val>
            <c:numRef>
              <c:f>Sheet1!$C$2:$C$20</c:f>
              <c:numCache>
                <c:formatCode>General</c:formatCode>
                <c:ptCount val="19"/>
                <c:pt idx="15">
                  <c:v>4.4999999999999998E-2</c:v>
                </c:pt>
                <c:pt idx="16">
                  <c:v>6.5699999999999995E-2</c:v>
                </c:pt>
                <c:pt idx="17">
                  <c:v>1.2E-2</c:v>
                </c:pt>
                <c:pt idx="18">
                  <c:v>2.9600000000000001E-2</c:v>
                </c:pt>
              </c:numCache>
            </c:numRef>
          </c:val>
          <c:smooth val="0"/>
          <c:extLst>
            <c:ext xmlns:c16="http://schemas.microsoft.com/office/drawing/2014/chart" uri="{C3380CC4-5D6E-409C-BE32-E72D297353CC}">
              <c16:uniqueId val="{00000004-4E72-5D47-A42B-EFDB9964780F}"/>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111111"/>
            </a:solidFill>
          </a:ln>
        </c:spPr>
        <c:txPr>
          <a:bodyPr/>
          <a:lstStyle/>
          <a:p>
            <a:pPr>
              <a:defRPr sz="1300"/>
            </a:pPr>
            <a:endParaRPr lang="en-US"/>
          </a:p>
        </c:txPr>
        <c:crossAx val="2140495176"/>
        <c:crosses val="autoZero"/>
        <c:auto val="1"/>
        <c:lblAlgn val="ctr"/>
        <c:lblOffset val="100"/>
        <c:noMultiLvlLbl val="0"/>
      </c:catAx>
      <c:valAx>
        <c:axId val="2140495176"/>
        <c:scaling>
          <c:orientation val="minMax"/>
          <c:max val="0.22"/>
          <c:min val="0"/>
        </c:scaling>
        <c:delete val="0"/>
        <c:axPos val="l"/>
        <c:majorGridlines>
          <c:spPr>
            <a:ln>
              <a:solidFill>
                <a:srgbClr val="E3E6EF"/>
              </a:solidFill>
            </a:ln>
          </c:spPr>
        </c:majorGridlines>
        <c:numFmt formatCode="0%" sourceLinked="0"/>
        <c:majorTickMark val="out"/>
        <c:minorTickMark val="none"/>
        <c:tickLblPos val="nextTo"/>
        <c:spPr>
          <a:ln>
            <a:noFill/>
          </a:ln>
        </c:spPr>
        <c:crossAx val="2118791784"/>
        <c:crosses val="autoZero"/>
        <c:crossBetween val="between"/>
        <c:majorUnit val="0.05"/>
      </c:valAx>
    </c:plotArea>
    <c:legend>
      <c:legendPos val="t"/>
      <c:overlay val="0"/>
      <c:txPr>
        <a:bodyPr/>
        <a:lstStyle/>
        <a:p>
          <a:pPr>
            <a:defRPr sz="1600"/>
          </a:pPr>
          <a:endParaRPr lang="en-US"/>
        </a:p>
      </c:txPr>
    </c:legend>
    <c:plotVisOnly val="1"/>
    <c:dispBlanksAs val="gap"/>
    <c:showDLblsOverMax val="0"/>
  </c:chart>
  <c:txPr>
    <a:bodyPr/>
    <a:lstStyle/>
    <a:p>
      <a:pPr>
        <a:defRPr sz="1500">
          <a:solidFill>
            <a:srgbClr val="111111"/>
          </a:solidFill>
          <a:latin typeface="Calibri"/>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Lift</c:v>
                </c:pt>
              </c:strCache>
            </c:strRef>
          </c:tx>
          <c:spPr>
            <a:solidFill>
              <a:srgbClr val="3669E8"/>
            </a:solidFill>
            <a:ln>
              <a:noFill/>
            </a:ln>
          </c:spPr>
          <c:invertIfNegative val="1"/>
          <c:dPt>
            <c:idx val="0"/>
            <c:invertIfNegative val="1"/>
            <c:bubble3D val="0"/>
            <c:spPr>
              <a:solidFill>
                <a:srgbClr val="3669E8"/>
              </a:solidFill>
            </c:spPr>
            <c:extLst>
              <c:ext xmlns:c16="http://schemas.microsoft.com/office/drawing/2014/chart" uri="{C3380CC4-5D6E-409C-BE32-E72D297353CC}">
                <c16:uniqueId val="{00000001-345B-4C4D-B699-4A4CC25A66F5}"/>
              </c:ext>
            </c:extLst>
          </c:dPt>
          <c:dPt>
            <c:idx val="1"/>
            <c:invertIfNegative val="1"/>
            <c:bubble3D val="0"/>
            <c:spPr>
              <a:solidFill>
                <a:srgbClr val="3669E8"/>
              </a:solidFill>
            </c:spPr>
            <c:extLst>
              <c:ext xmlns:c16="http://schemas.microsoft.com/office/drawing/2014/chart" uri="{C3380CC4-5D6E-409C-BE32-E72D297353CC}">
                <c16:uniqueId val="{00000003-345B-4C4D-B699-4A4CC25A66F5}"/>
              </c:ext>
            </c:extLst>
          </c:dPt>
          <c:dPt>
            <c:idx val="2"/>
            <c:invertIfNegative val="1"/>
            <c:bubble3D val="0"/>
            <c:spPr>
              <a:solidFill>
                <a:srgbClr val="111111"/>
              </a:solidFill>
            </c:spPr>
            <c:extLst>
              <c:ext xmlns:c16="http://schemas.microsoft.com/office/drawing/2014/chart" uri="{C3380CC4-5D6E-409C-BE32-E72D297353CC}">
                <c16:uniqueId val="{00000005-345B-4C4D-B699-4A4CC25A66F5}"/>
              </c:ext>
            </c:extLst>
          </c:dPt>
          <c:dPt>
            <c:idx val="3"/>
            <c:invertIfNegative val="1"/>
            <c:bubble3D val="0"/>
            <c:spPr>
              <a:solidFill>
                <a:srgbClr val="3669E8"/>
              </a:solidFill>
            </c:spPr>
            <c:extLst>
              <c:ext xmlns:c16="http://schemas.microsoft.com/office/drawing/2014/chart" uri="{C3380CC4-5D6E-409C-BE32-E72D297353CC}">
                <c16:uniqueId val="{00000007-345B-4C4D-B699-4A4CC25A66F5}"/>
              </c:ext>
            </c:extLst>
          </c:dPt>
          <c:dPt>
            <c:idx val="4"/>
            <c:invertIfNegative val="1"/>
            <c:bubble3D val="0"/>
            <c:spPr>
              <a:solidFill>
                <a:srgbClr val="69D6B6"/>
              </a:solidFill>
            </c:spPr>
            <c:extLst>
              <c:ext xmlns:c16="http://schemas.microsoft.com/office/drawing/2014/chart" uri="{C3380CC4-5D6E-409C-BE32-E72D297353CC}">
                <c16:uniqueId val="{00000009-345B-4C4D-B699-4A4CC25A66F5}"/>
              </c:ext>
            </c:extLst>
          </c:dPt>
          <c:dPt>
            <c:idx val="5"/>
            <c:invertIfNegative val="1"/>
            <c:bubble3D val="0"/>
            <c:spPr>
              <a:solidFill>
                <a:srgbClr val="69D6B6"/>
              </a:solidFill>
            </c:spPr>
            <c:extLst>
              <c:ext xmlns:c16="http://schemas.microsoft.com/office/drawing/2014/chart" uri="{C3380CC4-5D6E-409C-BE32-E72D297353CC}">
                <c16:uniqueId val="{0000000B-345B-4C4D-B699-4A4CC25A66F5}"/>
              </c:ext>
            </c:extLst>
          </c:dPt>
          <c:dPt>
            <c:idx val="6"/>
            <c:invertIfNegative val="1"/>
            <c:bubble3D val="0"/>
            <c:spPr>
              <a:solidFill>
                <a:srgbClr val="B5CAFF"/>
              </a:solidFill>
            </c:spPr>
            <c:extLst>
              <c:ext xmlns:c16="http://schemas.microsoft.com/office/drawing/2014/chart" uri="{C3380CC4-5D6E-409C-BE32-E72D297353CC}">
                <c16:uniqueId val="{0000000D-345B-4C4D-B699-4A4CC25A66F5}"/>
              </c:ext>
            </c:extLst>
          </c:dPt>
          <c:dPt>
            <c:idx val="7"/>
            <c:invertIfNegative val="1"/>
            <c:bubble3D val="0"/>
            <c:spPr>
              <a:solidFill>
                <a:srgbClr val="69D6B6"/>
              </a:solidFill>
            </c:spPr>
            <c:extLst>
              <c:ext xmlns:c16="http://schemas.microsoft.com/office/drawing/2014/chart" uri="{C3380CC4-5D6E-409C-BE32-E72D297353CC}">
                <c16:uniqueId val="{0000000F-345B-4C4D-B699-4A4CC25A66F5}"/>
              </c:ext>
            </c:extLst>
          </c:dPt>
          <c:dPt>
            <c:idx val="8"/>
            <c:invertIfNegative val="1"/>
            <c:bubble3D val="0"/>
            <c:spPr>
              <a:solidFill>
                <a:srgbClr val="111111"/>
              </a:solidFill>
            </c:spPr>
            <c:extLst>
              <c:ext xmlns:c16="http://schemas.microsoft.com/office/drawing/2014/chart" uri="{C3380CC4-5D6E-409C-BE32-E72D297353CC}">
                <c16:uniqueId val="{00000011-345B-4C4D-B699-4A4CC25A66F5}"/>
              </c:ext>
            </c:extLst>
          </c:dPt>
          <c:dLbls>
            <c:dLbl>
              <c:idx val="0"/>
              <c:tx>
                <c:rich>
                  <a:bodyPr/>
                  <a:lstStyle/>
                  <a:p>
                    <a:r>
                      <a:rPr sz="1600" b="1">
                        <a:solidFill>
                          <a:srgbClr val="111111"/>
                        </a:solidFill>
                      </a:rPr>
                      <a:t>1.81 ± 0.21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45B-4C4D-B699-4A4CC25A66F5}"/>
                </c:ext>
              </c:extLst>
            </c:dLbl>
            <c:dLbl>
              <c:idx val="1"/>
              <c:tx>
                <c:rich>
                  <a:bodyPr/>
                  <a:lstStyle/>
                  <a:p>
                    <a:r>
                      <a:rPr sz="1600" b="1">
                        <a:solidFill>
                          <a:srgbClr val="111111"/>
                        </a:solidFill>
                      </a:rPr>
                      <a:t>1.81 ± 0.19</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45B-4C4D-B699-4A4CC25A66F5}"/>
                </c:ext>
              </c:extLst>
            </c:dLbl>
            <c:dLbl>
              <c:idx val="2"/>
              <c:tx>
                <c:rich>
                  <a:bodyPr/>
                  <a:lstStyle/>
                  <a:p>
                    <a:r>
                      <a:rPr sz="1600" b="1">
                        <a:solidFill>
                          <a:srgbClr val="111111"/>
                        </a:solidFill>
                      </a:rPr>
                      <a:t>1.76 ± 0.35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45B-4C4D-B699-4A4CC25A66F5}"/>
                </c:ext>
              </c:extLst>
            </c:dLbl>
            <c:dLbl>
              <c:idx val="3"/>
              <c:tx>
                <c:rich>
                  <a:bodyPr/>
                  <a:lstStyle/>
                  <a:p>
                    <a:r>
                      <a:rPr sz="1600" b="1">
                        <a:solidFill>
                          <a:srgbClr val="111111"/>
                        </a:solidFill>
                      </a:rPr>
                      <a:t>1.76 ± 0.26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345B-4C4D-B699-4A4CC25A66F5}"/>
                </c:ext>
              </c:extLst>
            </c:dLbl>
            <c:dLbl>
              <c:idx val="4"/>
              <c:tx>
                <c:rich>
                  <a:bodyPr/>
                  <a:lstStyle/>
                  <a:p>
                    <a:r>
                      <a:rPr sz="1600" b="1">
                        <a:solidFill>
                          <a:srgbClr val="111111"/>
                        </a:solidFill>
                      </a:rPr>
                      <a:t>1.61 ± 0.16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345B-4C4D-B699-4A4CC25A66F5}"/>
                </c:ext>
              </c:extLst>
            </c:dLbl>
            <c:dLbl>
              <c:idx val="5"/>
              <c:tx>
                <c:rich>
                  <a:bodyPr/>
                  <a:lstStyle/>
                  <a:p>
                    <a:r>
                      <a:rPr sz="1600" b="1">
                        <a:solidFill>
                          <a:srgbClr val="111111"/>
                        </a:solidFill>
                      </a:rPr>
                      <a:t>1.54 ± 0.24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345B-4C4D-B699-4A4CC25A66F5}"/>
                </c:ext>
              </c:extLst>
            </c:dLbl>
            <c:dLbl>
              <c:idx val="6"/>
              <c:tx>
                <c:rich>
                  <a:bodyPr/>
                  <a:lstStyle/>
                  <a:p>
                    <a:r>
                      <a:rPr sz="1600" b="1">
                        <a:solidFill>
                          <a:srgbClr val="111111"/>
                        </a:solidFill>
                      </a:rPr>
                      <a:t>1.37 ± 0.11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45B-4C4D-B699-4A4CC25A66F5}"/>
                </c:ext>
              </c:extLst>
            </c:dLbl>
            <c:dLbl>
              <c:idx val="7"/>
              <c:tx>
                <c:rich>
                  <a:bodyPr/>
                  <a:lstStyle/>
                  <a:p>
                    <a:r>
                      <a:rPr sz="1600" b="1">
                        <a:solidFill>
                          <a:srgbClr val="111111"/>
                        </a:solidFill>
                      </a:rPr>
                      <a:t>1.25 ± 0.16</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345B-4C4D-B699-4A4CC25A66F5}"/>
                </c:ext>
              </c:extLst>
            </c:dLbl>
            <c:dLbl>
              <c:idx val="8"/>
              <c:tx>
                <c:rich>
                  <a:bodyPr/>
                  <a:lstStyle/>
                  <a:p>
                    <a:r>
                      <a:rPr sz="1600" b="1">
                        <a:solidFill>
                          <a:srgbClr val="111111"/>
                        </a:solidFill>
                      </a:rPr>
                      <a:t>1.00 ± 0.03</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1-345B-4C4D-B699-4A4CC25A66F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Sheet1!$A$2:$A$10</c:f>
              <c:strCache>
                <c:ptCount val="9"/>
                <c:pt idx="0">
                  <c:v>Logistic regression</c:v>
                </c:pt>
                <c:pt idx="1">
                  <c:v>Logistic reg., balanced</c:v>
                </c:pt>
                <c:pt idx="2">
                  <c:v>B1: 2-feature baseline</c:v>
                </c:pt>
                <c:pt idx="3">
                  <c:v>Linear SVM</c:v>
                </c:pt>
                <c:pt idx="4">
                  <c:v>Random forest</c:v>
                </c:pt>
                <c:pt idx="5">
                  <c:v>Gradient boosting</c:v>
                </c:pt>
                <c:pt idx="6">
                  <c:v>Naive Bayes</c:v>
                </c:pt>
                <c:pt idx="7">
                  <c:v>Decision tree</c:v>
                </c:pt>
                <c:pt idx="8">
                  <c:v>B0: random</c:v>
                </c:pt>
              </c:strCache>
            </c:strRef>
          </c:cat>
          <c:val>
            <c:numRef>
              <c:f>Sheet1!$B$2:$B$10</c:f>
              <c:numCache>
                <c:formatCode>General</c:formatCode>
                <c:ptCount val="9"/>
                <c:pt idx="0">
                  <c:v>1.81</c:v>
                </c:pt>
                <c:pt idx="1">
                  <c:v>1.81</c:v>
                </c:pt>
                <c:pt idx="2">
                  <c:v>1.76</c:v>
                </c:pt>
                <c:pt idx="3">
                  <c:v>1.76</c:v>
                </c:pt>
                <c:pt idx="4">
                  <c:v>1.61</c:v>
                </c:pt>
                <c:pt idx="5">
                  <c:v>1.54</c:v>
                </c:pt>
                <c:pt idx="6">
                  <c:v>1.37</c:v>
                </c:pt>
                <c:pt idx="7">
                  <c:v>1.25</c:v>
                </c:pt>
                <c:pt idx="8">
                  <c:v>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12-345B-4C4D-B699-4A4CC25A66F5}"/>
            </c:ext>
          </c:extLst>
        </c:ser>
        <c:dLbls>
          <c:showLegendKey val="0"/>
          <c:showVal val="0"/>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111111"/>
            </a:solidFill>
          </a:ln>
        </c:spPr>
        <c:txPr>
          <a:bodyPr/>
          <a:lstStyle/>
          <a:p>
            <a:pPr>
              <a:defRPr sz="1600"/>
            </a:pPr>
            <a:endParaRPr lang="en-US"/>
          </a:p>
        </c:txPr>
        <c:crossAx val="-2113994440"/>
        <c:crosses val="autoZero"/>
        <c:auto val="1"/>
        <c:lblAlgn val="ctr"/>
        <c:lblOffset val="100"/>
        <c:noMultiLvlLbl val="0"/>
      </c:catAx>
      <c:valAx>
        <c:axId val="-2113994440"/>
        <c:scaling>
          <c:orientation val="minMax"/>
          <c:max val="2.6"/>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600">
          <a:solidFill>
            <a:srgbClr val="111111"/>
          </a:solidFill>
          <a:latin typeface="Calibri"/>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Lift</c:v>
                </c:pt>
              </c:strCache>
            </c:strRef>
          </c:tx>
          <c:spPr>
            <a:solidFill>
              <a:srgbClr val="B5CAFF"/>
            </a:solidFill>
            <a:ln>
              <a:noFill/>
            </a:ln>
          </c:spPr>
          <c:invertIfNegative val="1"/>
          <c:dPt>
            <c:idx val="0"/>
            <c:invertIfNegative val="1"/>
            <c:bubble3D val="0"/>
            <c:spPr>
              <a:solidFill>
                <a:srgbClr val="B5CAFF"/>
              </a:solidFill>
            </c:spPr>
            <c:extLst>
              <c:ext xmlns:c16="http://schemas.microsoft.com/office/drawing/2014/chart" uri="{C3380CC4-5D6E-409C-BE32-E72D297353CC}">
                <c16:uniqueId val="{00000001-C6DF-9047-9AA5-81BE378A2FA5}"/>
              </c:ext>
            </c:extLst>
          </c:dPt>
          <c:dPt>
            <c:idx val="1"/>
            <c:invertIfNegative val="1"/>
            <c:bubble3D val="0"/>
            <c:spPr>
              <a:solidFill>
                <a:srgbClr val="B5CAFF"/>
              </a:solidFill>
            </c:spPr>
            <c:extLst>
              <c:ext xmlns:c16="http://schemas.microsoft.com/office/drawing/2014/chart" uri="{C3380CC4-5D6E-409C-BE32-E72D297353CC}">
                <c16:uniqueId val="{00000003-C6DF-9047-9AA5-81BE378A2FA5}"/>
              </c:ext>
            </c:extLst>
          </c:dPt>
          <c:dPt>
            <c:idx val="2"/>
            <c:invertIfNegative val="1"/>
            <c:bubble3D val="0"/>
            <c:spPr>
              <a:solidFill>
                <a:srgbClr val="3669E8"/>
              </a:solidFill>
            </c:spPr>
            <c:extLst>
              <c:ext xmlns:c16="http://schemas.microsoft.com/office/drawing/2014/chart" uri="{C3380CC4-5D6E-409C-BE32-E72D297353CC}">
                <c16:uniqueId val="{00000005-C6DF-9047-9AA5-81BE378A2FA5}"/>
              </c:ext>
            </c:extLst>
          </c:dPt>
          <c:dPt>
            <c:idx val="3"/>
            <c:invertIfNegative val="1"/>
            <c:bubble3D val="0"/>
            <c:spPr>
              <a:solidFill>
                <a:srgbClr val="69D6B6"/>
              </a:solidFill>
            </c:spPr>
            <c:extLst>
              <c:ext xmlns:c16="http://schemas.microsoft.com/office/drawing/2014/chart" uri="{C3380CC4-5D6E-409C-BE32-E72D297353CC}">
                <c16:uniqueId val="{00000007-C6DF-9047-9AA5-81BE378A2FA5}"/>
              </c:ext>
            </c:extLst>
          </c:dPt>
          <c:dPt>
            <c:idx val="4"/>
            <c:invertIfNegative val="1"/>
            <c:bubble3D val="0"/>
            <c:spPr>
              <a:solidFill>
                <a:srgbClr val="69D6B6"/>
              </a:solidFill>
            </c:spPr>
            <c:extLst>
              <c:ext xmlns:c16="http://schemas.microsoft.com/office/drawing/2014/chart" uri="{C3380CC4-5D6E-409C-BE32-E72D297353CC}">
                <c16:uniqueId val="{00000009-C6DF-9047-9AA5-81BE378A2FA5}"/>
              </c:ext>
            </c:extLst>
          </c:dPt>
          <c:dLbls>
            <c:dLbl>
              <c:idx val="0"/>
              <c:tx>
                <c:rich>
                  <a:bodyPr/>
                  <a:lstStyle/>
                  <a:p>
                    <a:r>
                      <a:rPr sz="1700" b="1">
                        <a:solidFill>
                          <a:srgbClr val="111111"/>
                        </a:solidFill>
                      </a:rPr>
                      <a:t>1.81 ± 0.21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C6DF-9047-9AA5-81BE378A2FA5}"/>
                </c:ext>
              </c:extLst>
            </c:dLbl>
            <c:dLbl>
              <c:idx val="1"/>
              <c:tx>
                <c:rich>
                  <a:bodyPr/>
                  <a:lstStyle/>
                  <a:p>
                    <a:r>
                      <a:rPr sz="1700" b="1">
                        <a:solidFill>
                          <a:srgbClr val="111111"/>
                        </a:solidFill>
                      </a:rPr>
                      <a:t>1.87 ± 0.21</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C6DF-9047-9AA5-81BE378A2FA5}"/>
                </c:ext>
              </c:extLst>
            </c:dLbl>
            <c:dLbl>
              <c:idx val="2"/>
              <c:tx>
                <c:rich>
                  <a:bodyPr/>
                  <a:lstStyle/>
                  <a:p>
                    <a:r>
                      <a:rPr sz="1700" b="1">
                        <a:solidFill>
                          <a:srgbClr val="111111"/>
                        </a:solidFill>
                      </a:rPr>
                      <a:t>1.98 ± 0.24</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C6DF-9047-9AA5-81BE378A2FA5}"/>
                </c:ext>
              </c:extLst>
            </c:dLbl>
            <c:dLbl>
              <c:idx val="3"/>
              <c:tx>
                <c:rich>
                  <a:bodyPr/>
                  <a:lstStyle/>
                  <a:p>
                    <a:r>
                      <a:rPr sz="1700" b="1">
                        <a:solidFill>
                          <a:srgbClr val="111111"/>
                        </a:solidFill>
                      </a:rPr>
                      <a:t>1.80 ± 0.30</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C6DF-9047-9AA5-81BE378A2FA5}"/>
                </c:ext>
              </c:extLst>
            </c:dLbl>
            <c:dLbl>
              <c:idx val="4"/>
              <c:tx>
                <c:rich>
                  <a:bodyPr/>
                  <a:lstStyle/>
                  <a:p>
                    <a:r>
                      <a:rPr sz="1700" b="1">
                        <a:solidFill>
                          <a:srgbClr val="111111"/>
                        </a:solidFill>
                      </a:rPr>
                      <a:t>1.79 ± 0.28</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C6DF-9047-9AA5-81BE378A2FA5}"/>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Sheet1!$A$2:$A$6</c:f>
              <c:strCache>
                <c:ptCount val="5"/>
                <c:pt idx="0">
                  <c:v>LR, untuned</c:v>
                </c:pt>
                <c:pt idx="1">
                  <c:v>LR, tuned</c:v>
                </c:pt>
                <c:pt idx="2">
                  <c:v>LR, tuned, no month</c:v>
                </c:pt>
                <c:pt idx="3">
                  <c:v>Random forest, tuned, no month</c:v>
                </c:pt>
                <c:pt idx="4">
                  <c:v>Gradient boosting, tuned, no month</c:v>
                </c:pt>
              </c:strCache>
            </c:strRef>
          </c:cat>
          <c:val>
            <c:numRef>
              <c:f>Sheet1!$B$2:$B$6</c:f>
              <c:numCache>
                <c:formatCode>General</c:formatCode>
                <c:ptCount val="5"/>
                <c:pt idx="0">
                  <c:v>1.81</c:v>
                </c:pt>
                <c:pt idx="1">
                  <c:v>1.87</c:v>
                </c:pt>
                <c:pt idx="2">
                  <c:v>1.98</c:v>
                </c:pt>
                <c:pt idx="3">
                  <c:v>1.8</c:v>
                </c:pt>
                <c:pt idx="4">
                  <c:v>1.79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A-C6DF-9047-9AA5-81BE378A2FA5}"/>
            </c:ext>
          </c:extLst>
        </c:ser>
        <c:dLbls>
          <c:showLegendKey val="0"/>
          <c:showVal val="0"/>
          <c:showCatName val="0"/>
          <c:showSerName val="0"/>
          <c:showPercent val="0"/>
          <c:showBubbleSize val="0"/>
        </c:dLbls>
        <c:gapWidth val="55"/>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111111"/>
            </a:solidFill>
          </a:ln>
        </c:spPr>
        <c:txPr>
          <a:bodyPr/>
          <a:lstStyle/>
          <a:p>
            <a:pPr>
              <a:defRPr sz="1500"/>
            </a:pPr>
            <a:endParaRPr lang="en-US"/>
          </a:p>
        </c:txPr>
        <c:crossAx val="-2113994440"/>
        <c:crosses val="autoZero"/>
        <c:auto val="1"/>
        <c:lblAlgn val="ctr"/>
        <c:lblOffset val="100"/>
        <c:noMultiLvlLbl val="0"/>
      </c:catAx>
      <c:valAx>
        <c:axId val="-2113994440"/>
        <c:scaling>
          <c:orientation val="minMax"/>
          <c:max val="2.2999999999999998"/>
          <c:min val="0"/>
        </c:scaling>
        <c:delete val="1"/>
        <c:axPos val="l"/>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600">
          <a:solidFill>
            <a:srgbClr val="111111"/>
          </a:solidFill>
          <a:latin typeface="Calibri"/>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Final model</c:v>
                </c:pt>
              </c:strCache>
            </c:strRef>
          </c:tx>
          <c:spPr>
            <a:solidFill>
              <a:srgbClr val="3669E8"/>
            </a:solidFill>
            <a:ln>
              <a:noFill/>
            </a:ln>
          </c:spPr>
          <c:invertIfNegative val="1"/>
          <c:dLbls>
            <c:numFmt formatCode="0.0%" sourceLinked="0"/>
            <c:spPr>
              <a:noFill/>
              <a:ln>
                <a:noFill/>
              </a:ln>
              <a:effectLst/>
            </c:spPr>
            <c:txPr>
              <a:bodyPr/>
              <a:lstStyle/>
              <a:p>
                <a:pPr>
                  <a:defRPr sz="140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Review 5%</c:v>
                </c:pt>
                <c:pt idx="1">
                  <c:v>Review 10% (ops budget)</c:v>
                </c:pt>
                <c:pt idx="2">
                  <c:v>Review 20%</c:v>
                </c:pt>
              </c:strCache>
            </c:strRef>
          </c:cat>
          <c:val>
            <c:numRef>
              <c:f>Sheet1!$B$2:$B$4</c:f>
              <c:numCache>
                <c:formatCode>General</c:formatCode>
                <c:ptCount val="3"/>
                <c:pt idx="0">
                  <c:v>0.22</c:v>
                </c:pt>
                <c:pt idx="1">
                  <c:v>0.36099999999999999</c:v>
                </c:pt>
                <c:pt idx="2">
                  <c:v>0.54</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86D6-F74E-81D0-A1B686030B76}"/>
            </c:ext>
          </c:extLst>
        </c:ser>
        <c:ser>
          <c:idx val="1"/>
          <c:order val="1"/>
          <c:tx>
            <c:strRef>
              <c:f>Sheet1!$C$1</c:f>
              <c:strCache>
                <c:ptCount val="1"/>
                <c:pt idx="0">
                  <c:v>B1: 2-feature baseline</c:v>
                </c:pt>
              </c:strCache>
            </c:strRef>
          </c:tx>
          <c:spPr>
            <a:solidFill>
              <a:srgbClr val="69D6B6"/>
            </a:solidFill>
            <a:ln>
              <a:noFill/>
            </a:ln>
          </c:spPr>
          <c:invertIfNegative val="1"/>
          <c:dLbls>
            <c:numFmt formatCode="0.0%" sourceLinked="0"/>
            <c:spPr>
              <a:noFill/>
              <a:ln>
                <a:noFill/>
              </a:ln>
              <a:effectLst/>
            </c:spPr>
            <c:txPr>
              <a:bodyPr/>
              <a:lstStyle/>
              <a:p>
                <a:pPr>
                  <a:defRPr sz="140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Review 5%</c:v>
                </c:pt>
                <c:pt idx="1">
                  <c:v>Review 10% (ops budget)</c:v>
                </c:pt>
                <c:pt idx="2">
                  <c:v>Review 20%</c:v>
                </c:pt>
              </c:strCache>
            </c:strRef>
          </c:cat>
          <c:val>
            <c:numRef>
              <c:f>Sheet1!$C$2:$C$4</c:f>
              <c:numCache>
                <c:formatCode>General</c:formatCode>
                <c:ptCount val="3"/>
                <c:pt idx="0">
                  <c:v>0.20100000000000001</c:v>
                </c:pt>
                <c:pt idx="1">
                  <c:v>0.33600000000000002</c:v>
                </c:pt>
                <c:pt idx="2">
                  <c:v>0.502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86D6-F74E-81D0-A1B686030B76}"/>
            </c:ext>
          </c:extLst>
        </c:ser>
        <c:ser>
          <c:idx val="2"/>
          <c:order val="2"/>
          <c:tx>
            <c:strRef>
              <c:f>Sheet1!$D$1</c:f>
              <c:strCache>
                <c:ptCount val="1"/>
                <c:pt idx="0">
                  <c:v>Random checks</c:v>
                </c:pt>
              </c:strCache>
            </c:strRef>
          </c:tx>
          <c:spPr>
            <a:solidFill>
              <a:srgbClr val="8A8FA3"/>
            </a:solidFill>
            <a:ln>
              <a:noFill/>
            </a:ln>
          </c:spPr>
          <c:invertIfNegative val="1"/>
          <c:dLbls>
            <c:numFmt formatCode="0.0%" sourceLinked="0"/>
            <c:spPr>
              <a:noFill/>
              <a:ln>
                <a:noFill/>
              </a:ln>
              <a:effectLst/>
            </c:spPr>
            <c:txPr>
              <a:bodyPr/>
              <a:lstStyle/>
              <a:p>
                <a:pPr>
                  <a:defRPr sz="140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Review 5%</c:v>
                </c:pt>
                <c:pt idx="1">
                  <c:v>Review 10% (ops budget)</c:v>
                </c:pt>
                <c:pt idx="2">
                  <c:v>Review 20%</c:v>
                </c:pt>
              </c:strCache>
            </c:strRef>
          </c:cat>
          <c:val>
            <c:numRef>
              <c:f>Sheet1!$D$2:$D$4</c:f>
              <c:numCache>
                <c:formatCode>General</c:formatCode>
                <c:ptCount val="3"/>
                <c:pt idx="0">
                  <c:v>4.9000000000000002E-2</c:v>
                </c:pt>
                <c:pt idx="1">
                  <c:v>0.10199999999999999</c:v>
                </c:pt>
                <c:pt idx="2">
                  <c:v>0.19600000000000001</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86D6-F74E-81D0-A1B686030B76}"/>
            </c:ext>
          </c:extLst>
        </c:ser>
        <c:dLbls>
          <c:showLegendKey val="0"/>
          <c:showVal val="0"/>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111111"/>
            </a:solidFill>
          </a:ln>
        </c:spPr>
        <c:txPr>
          <a:bodyPr/>
          <a:lstStyle/>
          <a:p>
            <a:pPr>
              <a:defRPr sz="1600" b="1"/>
            </a:pPr>
            <a:endParaRPr lang="en-US"/>
          </a:p>
        </c:txPr>
        <c:crossAx val="-2113994440"/>
        <c:crosses val="autoZero"/>
        <c:auto val="1"/>
        <c:lblAlgn val="ctr"/>
        <c:lblOffset val="100"/>
        <c:noMultiLvlLbl val="0"/>
      </c:catAx>
      <c:valAx>
        <c:axId val="-2113994440"/>
        <c:scaling>
          <c:orientation val="minMax"/>
          <c:max val="0.62"/>
          <c:min val="0"/>
        </c:scaling>
        <c:delete val="1"/>
        <c:axPos val="l"/>
        <c:numFmt formatCode="General" sourceLinked="1"/>
        <c:majorTickMark val="out"/>
        <c:minorTickMark val="none"/>
        <c:tickLblPos val="nextTo"/>
        <c:crossAx val="-2068027336"/>
        <c:crosses val="autoZero"/>
        <c:crossBetween val="between"/>
      </c:valAx>
    </c:plotArea>
    <c:legend>
      <c:legendPos val="t"/>
      <c:overlay val="0"/>
      <c:txPr>
        <a:bodyPr/>
        <a:lstStyle/>
        <a:p>
          <a:pPr>
            <a:defRPr sz="1600"/>
          </a:pPr>
          <a:endParaRPr lang="en-US"/>
        </a:p>
      </c:txPr>
    </c:legend>
    <c:plotVisOnly val="1"/>
    <c:dispBlanksAs val="gap"/>
    <c:showDLblsOverMax val="1"/>
  </c:chart>
  <c:txPr>
    <a:bodyPr/>
    <a:lstStyle/>
    <a:p>
      <a:pPr>
        <a:defRPr sz="1500">
          <a:solidFill>
            <a:srgbClr val="111111"/>
          </a:solidFill>
          <a:latin typeface="Calibri"/>
        </a:defRPr>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1"/>
        <c:ser>
          <c:idx val="0"/>
          <c:order val="0"/>
          <c:tx>
            <c:strRef>
              <c:f>Sheet1!$B$1</c:f>
              <c:strCache>
                <c:ptCount val="1"/>
                <c:pt idx="0">
                  <c:v>PR-AUC drop</c:v>
                </c:pt>
              </c:strCache>
            </c:strRef>
          </c:tx>
          <c:spPr>
            <a:solidFill>
              <a:srgbClr val="B5CAFF"/>
            </a:solidFill>
            <a:ln>
              <a:noFill/>
            </a:ln>
          </c:spPr>
          <c:invertIfNegative val="1"/>
          <c:dPt>
            <c:idx val="0"/>
            <c:invertIfNegative val="1"/>
            <c:bubble3D val="0"/>
            <c:spPr>
              <a:solidFill>
                <a:srgbClr val="3669E8"/>
              </a:solidFill>
            </c:spPr>
            <c:extLst>
              <c:ext xmlns:c16="http://schemas.microsoft.com/office/drawing/2014/chart" uri="{C3380CC4-5D6E-409C-BE32-E72D297353CC}">
                <c16:uniqueId val="{00000001-6DC0-874C-9FF9-92DC312BCDE8}"/>
              </c:ext>
            </c:extLst>
          </c:dPt>
          <c:dPt>
            <c:idx val="1"/>
            <c:invertIfNegative val="1"/>
            <c:bubble3D val="0"/>
            <c:spPr>
              <a:solidFill>
                <a:srgbClr val="3669E8"/>
              </a:solidFill>
            </c:spPr>
            <c:extLst>
              <c:ext xmlns:c16="http://schemas.microsoft.com/office/drawing/2014/chart" uri="{C3380CC4-5D6E-409C-BE32-E72D297353CC}">
                <c16:uniqueId val="{00000003-6DC0-874C-9FF9-92DC312BCDE8}"/>
              </c:ext>
            </c:extLst>
          </c:dPt>
          <c:dPt>
            <c:idx val="2"/>
            <c:invertIfNegative val="1"/>
            <c:bubble3D val="0"/>
            <c:spPr>
              <a:solidFill>
                <a:srgbClr val="3669E8"/>
              </a:solidFill>
            </c:spPr>
            <c:extLst>
              <c:ext xmlns:c16="http://schemas.microsoft.com/office/drawing/2014/chart" uri="{C3380CC4-5D6E-409C-BE32-E72D297353CC}">
                <c16:uniqueId val="{00000005-6DC0-874C-9FF9-92DC312BCDE8}"/>
              </c:ext>
            </c:extLst>
          </c:dPt>
          <c:dPt>
            <c:idx val="3"/>
            <c:invertIfNegative val="1"/>
            <c:bubble3D val="0"/>
            <c:spPr>
              <a:solidFill>
                <a:srgbClr val="3669E8"/>
              </a:solidFill>
            </c:spPr>
            <c:extLst>
              <c:ext xmlns:c16="http://schemas.microsoft.com/office/drawing/2014/chart" uri="{C3380CC4-5D6E-409C-BE32-E72D297353CC}">
                <c16:uniqueId val="{00000007-6DC0-874C-9FF9-92DC312BCDE8}"/>
              </c:ext>
            </c:extLst>
          </c:dPt>
          <c:dPt>
            <c:idx val="4"/>
            <c:invertIfNegative val="1"/>
            <c:bubble3D val="0"/>
            <c:spPr>
              <a:solidFill>
                <a:srgbClr val="3669E8"/>
              </a:solidFill>
            </c:spPr>
            <c:extLst>
              <c:ext xmlns:c16="http://schemas.microsoft.com/office/drawing/2014/chart" uri="{C3380CC4-5D6E-409C-BE32-E72D297353CC}">
                <c16:uniqueId val="{00000009-6DC0-874C-9FF9-92DC312BCDE8}"/>
              </c:ext>
            </c:extLst>
          </c:dPt>
          <c:dLbls>
            <c:numFmt formatCode="0.000" sourceLinked="0"/>
            <c:spPr>
              <a:noFill/>
              <a:ln>
                <a:noFill/>
              </a:ln>
              <a:effectLst/>
            </c:spPr>
            <c:txPr>
              <a:bodyPr/>
              <a:lstStyle/>
              <a:p>
                <a:pPr>
                  <a:defRPr sz="1700" b="1">
                    <a:solidFill>
                      <a:srgbClr val="111111"/>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Promised days</c:v>
                </c:pt>
                <c:pt idx="1">
                  <c:v>Distance</c:v>
                </c:pt>
                <c:pt idx="2">
                  <c:v>Customer state</c:v>
                </c:pt>
                <c:pt idx="3">
                  <c:v>Freight cost</c:v>
                </c:pt>
                <c:pt idx="4">
                  <c:v>Same-state share</c:v>
                </c:pt>
                <c:pt idx="5">
                  <c:v>Item count</c:v>
                </c:pt>
                <c:pt idx="6">
                  <c:v>Seller state</c:v>
                </c:pt>
              </c:strCache>
            </c:strRef>
          </c:cat>
          <c:val>
            <c:numRef>
              <c:f>Sheet1!$B$2:$B$8</c:f>
              <c:numCache>
                <c:formatCode>General</c:formatCode>
                <c:ptCount val="7"/>
                <c:pt idx="0">
                  <c:v>6.2600000000000003E-2</c:v>
                </c:pt>
                <c:pt idx="1">
                  <c:v>4.6300000000000001E-2</c:v>
                </c:pt>
                <c:pt idx="2">
                  <c:v>2.93E-2</c:v>
                </c:pt>
                <c:pt idx="3">
                  <c:v>2.5600000000000001E-2</c:v>
                </c:pt>
                <c:pt idx="4">
                  <c:v>1.9300000000000001E-2</c:v>
                </c:pt>
                <c:pt idx="5">
                  <c:v>1.09E-2</c:v>
                </c:pt>
                <c:pt idx="6">
                  <c:v>6.4999999999999997E-3</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A-6DC0-874C-9FF9-92DC312BCDE8}"/>
            </c:ext>
          </c:extLst>
        </c:ser>
        <c:dLbls>
          <c:showLegendKey val="0"/>
          <c:showVal val="0"/>
          <c:showCatName val="0"/>
          <c:showSerName val="0"/>
          <c:showPercent val="0"/>
          <c:showBubbleSize val="0"/>
        </c:dLbls>
        <c:gapWidth val="4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111111"/>
            </a:solidFill>
          </a:ln>
        </c:spPr>
        <c:txPr>
          <a:bodyPr/>
          <a:lstStyle/>
          <a:p>
            <a:pPr>
              <a:defRPr sz="1700"/>
            </a:pPr>
            <a:endParaRPr lang="en-US"/>
          </a:p>
        </c:txPr>
        <c:crossAx val="-2113994440"/>
        <c:crosses val="autoZero"/>
        <c:auto val="1"/>
        <c:lblAlgn val="ctr"/>
        <c:lblOffset val="100"/>
        <c:noMultiLvlLbl val="0"/>
      </c:catAx>
      <c:valAx>
        <c:axId val="-2113994440"/>
        <c:scaling>
          <c:orientation val="minMax"/>
          <c:max val="7.4999999999999997E-2"/>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600">
          <a:solidFill>
            <a:srgbClr val="111111"/>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2896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[0:10] Introduce the team and the project in one line: we predict which Olist orders will arrive late, at the moment the order is approved.</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About 1 in 14 delivered orders arrived late. Late orders average 2.21 stars against 4.28, and 62.5% get a 1 or 2-star review, against 9.3% of on-time orders. That's an association, but a strong one. Our goal is to flag likely-late orders early enough to act, instead of finding out from a bad review. Reviews never feed the model. (README 1.1)</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[0:40] The user is Olist's operations team. Every morning, the orders approved the day before get a risk score, and the riskiest 10%, about 18 orders a day, are flagged. For those, ops can push the seller to ship sooner, chase the carrier, or warn the customer and give a new date. The model only ranks orders so people know where to look. (README 1.3, 5.4)</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Olist's safeguard today is a generous promise: the median promise is 24 days, but the median delivery takes 10. That works for the average order, but there's no order-level risk score. Lateness comes in waves: 12.4% in November 2017, 14.1% in February and 19.0% in March 2018. Those three months hold a third of the training orders but 62% of the late ones, and in Feb–Mar even São Paulo's late rate nearly tripled. (README 1.4, 2.2)</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We used the public Olist Kaggle dataset, nine tables joined into one row per order. After the filters, including dropping orders promised after 1 August 2018 whose late deliveries wouldn't be recorded yet, we have 85,371 orders. It's binary classification, scored daily at approval with only what's known then. We measure PR-AUC and recall in the top 10%; accuracy is useless, since 'always on time' is 95.9% accurate and catches nothing. (README 1.5–1.8)</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[0:35] We followed the checklist end to end. The key design choice is the time split: train on January 2017 to March 2018, test on April to July 2018, touched once at the end. A 2,000-order gap, about two weeks, separates training from validation and test, because those orders hadn't been delivered yet, so their outcomes wouldn't have been known. All preprocessing lives in one pipeline refitted inside every fold. A random split would have flattered us: 27.7% recall instead of the honest 23.7%. (README 3, 4.4, DECISIONS D6–D7)</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[0:50] This is the headline insight from exploring the data. Down each column, risk rises with distance; across each row, it falls as the promise gets longer. Orders travelling over 889 km with a promise of 22 days or less were late about 1 in 5 times; short routes with long promises, 1.7%. Olist already gives far customers longer promises, just not long enough. And where the parcel goes matters more than what's in it: Rio is late 2.9 times as often as Minas Gerais. (README 2.3, 2.7)</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Fidan compared seven models from five families plus two baselines, all on the same pipeline and time-series folds. We compare on lift, PR-AUC divided by the fold's late rate, because fold late rates swing from 2.8% to 18.8%. Linear models led, only a little ahead of the two-feature baseline. Tree models started below it: they overfit, with training lift 6 to 12 times their validation lift. The surprise: the EDA pointed to tree models, and they didn't win. We shortlisted logistic regression, random forest and gradient boosting, one per family. (README 4.1, 4.5, 2.7)</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[0:45] Tasnim tuned the three shortlisted models with randomized search, 90 trials, chosen over grid search because each model has 5 to 7 hyperparameters, several continuous. Tuning helped a little. Dropping purchase_month helped more than all the tuning, and it helped all three models, though every gain here is within the fold-to-fold noise. With only 15 months of data, the month column remembered which months had been bad, not seasonality. February was 3% late in 2017 and 14% in 2018. Four voting ensembles and eight extra features didn't beat it. The final model is a tuned logistic regression: the best, the fastest and the easiest to explain. (README 4.4, 5.1, 5.2)</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[0:50] On the four test months, touched once, checking the riskiest 10% of orders each day would have caught 316 of 876 late orders, 36%. Random checks catch about 88, and the two-feature baseline 294. Flagged orders were late 3.6 times as often as a random order. To be honest about it: the PR-AUC gain over the baseline is real, but at the 10% budget the gain over the baseline is within the noise, because promised days and customer state already carry most of the signal. (README 5.3, 5.4, 6)</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[0:50] On the test set, the strongest drivers are the promised window, distance, customer state, freight and whether the order ships within one state. A promise one standard deviation longer roughly halves the odds of being late. Price, weight, category and purchase time barely matter. Jingyu's error analysis on the last validation fold, before tuning, shows what the model misses: late orders that look ordinary, shorter and more often within one state. All three shortlisted models miss the same two-thirds, so the limit is the data, not the algorithm. A person would have needed the seller's hand-off to the carrier, carrier backlogs, strikes or holidays. (README 4.3, 5.4)</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[0:50] Three assumptions: the promised date is the one the customer saw, ops can review about 10% a day, and the training period's patterns still hold in the test months. The limitations: every model levels off at about 2.0 lift, so 64% of late orders are still missed; the fix is new data such as dispatch scans, carrier data and strike calendars. Scores run about twice too high on the calmer test period, so flag the top 10% rather than using a probability cut-off. At the 10% budget the gain over the baseline is within the noise. And the test window is short and includes the May 2018 truckers' strike. (README 7)</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[0:40] Our answer: moderately well. Checking 10% of orders catches 36% of late ones, 3.6 times random, and the risk comes from promises too short for the distance and from the destination, not the product. What worked: the time-based split, comparing on lift, dropping purchase_month, and a simple regularised logistic regression. What didn't: trees, ensembles and extra features. Our recommendation: score nightly and review the top 10%, track recall and retrain, and invest in new data rather than more modelling. (README 6)</a:t>
            </a:r>
          </a:p>
          <a:p>
            <a:r>
              <a:t>Speaker: ________</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the floor for questions. Backup slides follow for Q&amp;A.</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slides. Not presented; use for Q&amp;A.</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full benchmark from README 4.1. Std across the 5 folds.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every leakage control. Random-split comparison: shuffled CV would give PR-AUC 0.189 and 27.7% recall vs the honest 0.168 and 23.7% (README 4.4).</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Hasan's state chart, training period only. Regional delivery conditions matter beyond distance.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tuning and ensemble comparison (README 5.1, 5.2; ensemble numbers from reports/figures/outputs/tasnim_5_2_ensemble_comparison.csv).</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monthly test results (reports/figures/outputs/tasnim_5_3_monthly.csv) and calibration (README 5.4).</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10/29/26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10/29/26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10/29/26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10/29/26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10/29/26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10/29/26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chart" Target="../charts/chart1.xml"/><Relationship Id="rId4" Type="http://schemas.openxmlformats.org/officeDocument/2006/relationships/image" Target="../media/image2.svg"/></Relationships>
</file>

<file path=ppt/slides/_rels/slide3.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7.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chart" Target="../charts/chart2.xml"/><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chart" Target="../charts/chart3.xml"/><Relationship Id="rId4" Type="http://schemas.openxmlformats.org/officeDocument/2006/relationships/image" Target="../media/image2.svg"/></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chart" Target="../charts/chart4.xml"/><Relationship Id="rId4" Type="http://schemas.openxmlformats.org/officeDocument/2006/relationships/image" Target="../media/image2.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chart" Target="../charts/chart5.xml"/><Relationship Id="rId4" Type="http://schemas.openxmlformats.org/officeDocument/2006/relationships/image" Target="../media/image2.svg"/></Relationships>
</file>

<file path=ppt/slides/_rels/slide1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chart" Target="../charts/chart6.xml"/><Relationship Id="rId4" Type="http://schemas.openxmlformats.org/officeDocument/2006/relationships/image" Target="../media/image2.svg"/></Relationships>
</file>

<file path=ppt/slides/_rels/slide12.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3.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svg"/><Relationship Id="rId4" Type="http://schemas.openxmlformats.org/officeDocument/2006/relationships/image" Target="../media/image2.svg"/></Relationships>
</file>

<file path=ppt/slides/_rels/slide1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2.svg"/><Relationship Id="rId4" Type="http://schemas.openxmlformats.org/officeDocument/2006/relationships/image" Target="../media/image7.svg"/></Relationships>
</file>

<file path=ppt/slides/_rels/slide16.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7.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7.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18.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2.svg"/></Relationships>
</file>

<file path=ppt/slides/_rels/slide1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9.xml"/><Relationship Id="rId1" Type="http://schemas.openxmlformats.org/officeDocument/2006/relationships/slideLayout" Target="../slideLayouts/slideLayout7.xml"/><Relationship Id="rId4" Type="http://schemas.openxmlformats.org/officeDocument/2006/relationships/image" Target="../media/image2.svg"/></Relationships>
</file>

<file path=ppt/slides/_rels/slide2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221359" y="403500"/>
            <a:ext cx="31950551" cy="8423327"/>
          </a:xfrm>
          <a:custGeom>
            <a:avLst/>
            <a:gdLst/>
            <a:ahLst/>
            <a:cxnLst/>
            <a:rect l="l" t="t" r="r" b="b"/>
            <a:pathLst>
              <a:path w="31950551" h="8423327">
                <a:moveTo>
                  <a:pt x="31950551" y="0"/>
                </a:moveTo>
                <a:lnTo>
                  <a:pt x="0" y="0"/>
                </a:lnTo>
                <a:lnTo>
                  <a:pt x="0" y="8423327"/>
                </a:lnTo>
                <a:lnTo>
                  <a:pt x="31950551" y="8423327"/>
                </a:lnTo>
                <a:lnTo>
                  <a:pt x="31950551"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09795" y="8201982"/>
            <a:ext cx="11567202" cy="2458031"/>
          </a:xfrm>
          <a:custGeom>
            <a:avLst/>
            <a:gdLst/>
            <a:ahLst/>
            <a:cxnLst/>
            <a:rect l="l" t="t" r="r" b="b"/>
            <a:pathLst>
              <a:path w="11567202" h="2458031">
                <a:moveTo>
                  <a:pt x="0" y="0"/>
                </a:moveTo>
                <a:lnTo>
                  <a:pt x="11567202" y="0"/>
                </a:lnTo>
                <a:lnTo>
                  <a:pt x="11567202" y="2458031"/>
                </a:lnTo>
                <a:lnTo>
                  <a:pt x="0" y="24580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2388997" y="8201982"/>
            <a:ext cx="11567202" cy="2458031"/>
          </a:xfrm>
          <a:custGeom>
            <a:avLst/>
            <a:gdLst/>
            <a:ahLst/>
            <a:cxnLst/>
            <a:rect l="l" t="t" r="r" b="b"/>
            <a:pathLst>
              <a:path w="11567202" h="2458031">
                <a:moveTo>
                  <a:pt x="0" y="0"/>
                </a:moveTo>
                <a:lnTo>
                  <a:pt x="11567202" y="0"/>
                </a:lnTo>
                <a:lnTo>
                  <a:pt x="11567202" y="2458031"/>
                </a:lnTo>
                <a:lnTo>
                  <a:pt x="0" y="24580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a:off x="10020394" y="3883320"/>
            <a:ext cx="7238906" cy="5791125"/>
          </a:xfrm>
          <a:custGeom>
            <a:avLst/>
            <a:gdLst/>
            <a:ahLst/>
            <a:cxnLst/>
            <a:rect l="l" t="t" r="r" b="b"/>
            <a:pathLst>
              <a:path w="7238906" h="5791125">
                <a:moveTo>
                  <a:pt x="0" y="0"/>
                </a:moveTo>
                <a:lnTo>
                  <a:pt x="7238906" y="0"/>
                </a:lnTo>
                <a:lnTo>
                  <a:pt x="7238906" y="5791125"/>
                </a:lnTo>
                <a:lnTo>
                  <a:pt x="0" y="5791125"/>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Course"/>
          <p:cNvSpPr txBox="1"/>
          <p:nvPr/>
        </p:nvSpPr>
        <p:spPr>
          <a:xfrm>
            <a:off x="1554480" y="1874519"/>
            <a:ext cx="8412480" cy="45720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INSY 674 · Enterprise Data Science · McGill · Fall 2026</a:t>
            </a:r>
          </a:p>
        </p:txBody>
      </p:sp>
      <p:sp>
        <p:nvSpPr>
          <p:cNvPr id="7" name="Deck title"/>
          <p:cNvSpPr txBox="1"/>
          <p:nvPr/>
        </p:nvSpPr>
        <p:spPr>
          <a:xfrm>
            <a:off x="1554480" y="2377440"/>
            <a:ext cx="8412480" cy="2194560"/>
          </a:xfrm>
          <a:prstGeom prst="rect">
            <a:avLst/>
          </a:prstGeom>
          <a:noFill/>
        </p:spPr>
        <p:txBody>
          <a:bodyPr wrap="square" lIns="0" tIns="0" rIns="0" bIns="0" anchor="t">
            <a:spAutoFit/>
          </a:bodyPr>
          <a:lstStyle/>
          <a:p>
            <a:pPr algn="l">
              <a:lnSpc>
                <a:spcPct val="90000"/>
              </a:lnSpc>
              <a:spcAft>
                <a:spcPts val="600"/>
              </a:spcAft>
            </a:pPr>
            <a:r>
              <a:rPr sz="6400" b="0" i="0">
                <a:solidFill>
                  <a:srgbClr val="111111"/>
                </a:solidFill>
                <a:latin typeface="Arial Black"/>
              </a:rPr>
              <a:t>Predicting </a:t>
            </a:r>
            <a:r>
              <a:rPr sz="6400" b="0" i="0">
                <a:solidFill>
                  <a:srgbClr val="3669E8"/>
                </a:solidFill>
                <a:latin typeface="Arial Black"/>
              </a:rPr>
              <a:t>late</a:t>
            </a:r>
            <a:r>
              <a:rPr sz="6400" b="0" i="0">
                <a:solidFill>
                  <a:srgbClr val="111111"/>
                </a:solidFill>
                <a:latin typeface="Arial Black"/>
              </a:rPr>
              <a:t> deliveries</a:t>
            </a:r>
          </a:p>
        </p:txBody>
      </p:sp>
      <p:sp>
        <p:nvSpPr>
          <p:cNvPr id="8" name="Subtitle"/>
          <p:cNvSpPr txBox="1"/>
          <p:nvPr/>
        </p:nvSpPr>
        <p:spPr>
          <a:xfrm>
            <a:off x="1554480" y="4617720"/>
            <a:ext cx="8138160" cy="1097280"/>
          </a:xfrm>
          <a:prstGeom prst="rect">
            <a:avLst/>
          </a:prstGeom>
          <a:noFill/>
        </p:spPr>
        <p:txBody>
          <a:bodyPr wrap="square" lIns="0" tIns="0" rIns="0" bIns="0" anchor="t">
            <a:spAutoFit/>
          </a:bodyPr>
          <a:lstStyle/>
          <a:p>
            <a:pPr algn="l">
              <a:spcAft>
                <a:spcPts val="600"/>
              </a:spcAft>
            </a:pPr>
            <a:r>
              <a:rPr sz="2400" b="0" i="0">
                <a:solidFill>
                  <a:srgbClr val="111111"/>
                </a:solidFill>
                <a:latin typeface="Calibri"/>
              </a:rPr>
              <a:t>Flagging risky Olist orders at approval, so ops can act before the customer notices</a:t>
            </a:r>
          </a:p>
        </p:txBody>
      </p:sp>
      <p:sp>
        <p:nvSpPr>
          <p:cNvPr id="9" name="Team"/>
          <p:cNvSpPr txBox="1"/>
          <p:nvPr/>
        </p:nvSpPr>
        <p:spPr>
          <a:xfrm>
            <a:off x="1554480" y="5943600"/>
            <a:ext cx="8138160" cy="1280160"/>
          </a:xfrm>
          <a:prstGeom prst="rect">
            <a:avLst/>
          </a:prstGeom>
          <a:noFill/>
        </p:spPr>
        <p:txBody>
          <a:bodyPr wrap="square" lIns="0" tIns="0" rIns="0" bIns="0" anchor="t">
            <a:spAutoFit/>
          </a:bodyPr>
          <a:lstStyle/>
          <a:p>
            <a:pPr algn="l">
              <a:spcAft>
                <a:spcPts val="600"/>
              </a:spcAft>
            </a:pPr>
            <a:r>
              <a:rPr sz="2000" b="1" i="0">
                <a:solidFill>
                  <a:srgbClr val="3669E8"/>
                </a:solidFill>
                <a:latin typeface="Calibri"/>
              </a:rPr>
              <a:t>Group 9</a:t>
            </a:r>
          </a:p>
          <a:p>
            <a:pPr algn="l">
              <a:spcAft>
                <a:spcPts val="600"/>
              </a:spcAft>
            </a:pPr>
            <a:r>
              <a:rPr sz="1800" b="0" i="0">
                <a:solidFill>
                  <a:srgbClr val="111111"/>
                </a:solidFill>
                <a:latin typeface="Calibri"/>
              </a:rPr>
              <a:t>Fidan Shiraliyeva · Hasan Malik · Jay Malhotra · Jingyu Wu · Mia Scalabrin · Peace Isaac · Tasnim Hassan</a:t>
            </a:r>
          </a:p>
          <a:p>
            <a:pPr algn="l">
              <a:spcAft>
                <a:spcPts val="600"/>
              </a:spcAft>
            </a:pPr>
            <a:r>
              <a:rPr sz="1800" b="0" i="0">
                <a:solidFill>
                  <a:srgbClr val="3669E8"/>
                </a:solidFill>
                <a:latin typeface="Calibri"/>
              </a:rPr>
              <a:t>GitHub repository: olist-late-delivery (github.com/JustJay7/olist-late-delivery)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OBJECTIVE · THE PROBLEM</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Late orders come with far worse reviews</a:t>
            </a:r>
          </a:p>
        </p:txBody>
      </p:sp>
      <p:sp>
        <p:nvSpPr>
          <p:cNvPr id="15" name="Late share"/>
          <p:cNvSpPr/>
          <p:nvPr/>
        </p:nvSpPr>
        <p:spPr>
          <a:xfrm>
            <a:off x="731520" y="2377440"/>
            <a:ext cx="5120640" cy="3017520"/>
          </a:xfrm>
          <a:prstGeom prst="roundRect">
            <a:avLst>
              <a:gd name="adj" fmla="val 4848"/>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Late share number"/>
          <p:cNvSpPr txBox="1"/>
          <p:nvPr/>
        </p:nvSpPr>
        <p:spPr>
          <a:xfrm>
            <a:off x="1051560" y="2606040"/>
            <a:ext cx="4480559" cy="1357884"/>
          </a:xfrm>
          <a:prstGeom prst="rect">
            <a:avLst/>
          </a:prstGeom>
          <a:noFill/>
        </p:spPr>
        <p:txBody>
          <a:bodyPr wrap="square" lIns="0" tIns="0" rIns="0" bIns="0" anchor="b">
            <a:spAutoFit/>
          </a:bodyPr>
          <a:lstStyle/>
          <a:p>
            <a:pPr algn="l">
              <a:spcAft>
                <a:spcPts val="600"/>
              </a:spcAft>
            </a:pPr>
            <a:r>
              <a:rPr sz="5400" b="0" i="0">
                <a:solidFill>
                  <a:srgbClr val="89EDD0"/>
                </a:solidFill>
                <a:latin typeface="Arial Black"/>
              </a:rPr>
              <a:t>1 in 14</a:t>
            </a:r>
          </a:p>
        </p:txBody>
      </p:sp>
      <p:sp>
        <p:nvSpPr>
          <p:cNvPr id="17" name="Late share label"/>
          <p:cNvSpPr txBox="1"/>
          <p:nvPr/>
        </p:nvSpPr>
        <p:spPr>
          <a:xfrm>
            <a:off x="1051560" y="4009644"/>
            <a:ext cx="4480559" cy="1202436"/>
          </a:xfrm>
          <a:prstGeom prst="rect">
            <a:avLst/>
          </a:prstGeom>
          <a:noFill/>
        </p:spPr>
        <p:txBody>
          <a:bodyPr wrap="square" lIns="0" tIns="0" rIns="0" bIns="0" anchor="t">
            <a:spAutoFit/>
          </a:bodyPr>
          <a:lstStyle/>
          <a:p>
            <a:pPr algn="l">
              <a:spcAft>
                <a:spcPts val="600"/>
              </a:spcAft>
            </a:pPr>
            <a:r>
              <a:rPr sz="2000" b="0" i="0">
                <a:solidFill>
                  <a:srgbClr val="FFFFFF"/>
                </a:solidFill>
                <a:latin typeface="Calibri"/>
              </a:rPr>
              <a:t>delivered orders arrived late
(5,986 of 85,371, Jan 2017 – Jul 2018)</a:t>
            </a:r>
          </a:p>
        </p:txBody>
      </p:sp>
      <p:sp>
        <p:nvSpPr>
          <p:cNvPr id="18" name="Stars"/>
          <p:cNvSpPr/>
          <p:nvPr/>
        </p:nvSpPr>
        <p:spPr>
          <a:xfrm>
            <a:off x="731520" y="5715000"/>
            <a:ext cx="5120640" cy="3017520"/>
          </a:xfrm>
          <a:prstGeom prst="roundRect">
            <a:avLst>
              <a:gd name="adj" fmla="val 4848"/>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Stars number"/>
          <p:cNvSpPr txBox="1"/>
          <p:nvPr/>
        </p:nvSpPr>
        <p:spPr>
          <a:xfrm>
            <a:off x="1051560" y="5943600"/>
            <a:ext cx="4480559" cy="1357884"/>
          </a:xfrm>
          <a:prstGeom prst="rect">
            <a:avLst/>
          </a:prstGeom>
          <a:noFill/>
        </p:spPr>
        <p:txBody>
          <a:bodyPr wrap="square" lIns="0" tIns="0" rIns="0" bIns="0" anchor="b">
            <a:spAutoFit/>
          </a:bodyPr>
          <a:lstStyle/>
          <a:p>
            <a:pPr algn="l">
              <a:spcAft>
                <a:spcPts val="600"/>
              </a:spcAft>
            </a:pPr>
            <a:r>
              <a:rPr sz="5400" b="0" i="0">
                <a:solidFill>
                  <a:srgbClr val="111111"/>
                </a:solidFill>
                <a:latin typeface="Arial Black"/>
              </a:rPr>
              <a:t>2.21★</a:t>
            </a:r>
          </a:p>
        </p:txBody>
      </p:sp>
      <p:sp>
        <p:nvSpPr>
          <p:cNvPr id="20" name="Stars label"/>
          <p:cNvSpPr txBox="1"/>
          <p:nvPr/>
        </p:nvSpPr>
        <p:spPr>
          <a:xfrm>
            <a:off x="1051560" y="7347204"/>
            <a:ext cx="4480559" cy="1202436"/>
          </a:xfrm>
          <a:prstGeom prst="rect">
            <a:avLst/>
          </a:prstGeom>
          <a:noFill/>
        </p:spPr>
        <p:txBody>
          <a:bodyPr wrap="square" lIns="0" tIns="0" rIns="0" bIns="0" anchor="t">
            <a:spAutoFit/>
          </a:bodyPr>
          <a:lstStyle/>
          <a:p>
            <a:pPr algn="l">
              <a:spcAft>
                <a:spcPts val="600"/>
              </a:spcAft>
            </a:pPr>
            <a:r>
              <a:rPr sz="2000" b="0" i="0">
                <a:solidFill>
                  <a:srgbClr val="111111"/>
                </a:solidFill>
                <a:latin typeface="Calibri"/>
              </a:rPr>
              <a:t>average review when late,
vs 4.28★ when on time</a:t>
            </a:r>
          </a:p>
        </p:txBody>
      </p:sp>
      <p:sp>
        <p:nvSpPr>
          <p:cNvPr id="21" name="Review chart card"/>
          <p:cNvSpPr/>
          <p:nvPr/>
        </p:nvSpPr>
        <p:spPr>
          <a:xfrm>
            <a:off x="6217920" y="2377440"/>
            <a:ext cx="11338560" cy="6355080"/>
          </a:xfrm>
          <a:prstGeom prst="roundRect">
            <a:avLst>
              <a:gd name="adj" fmla="val 230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Chart title"/>
          <p:cNvSpPr txBox="1"/>
          <p:nvPr/>
        </p:nvSpPr>
        <p:spPr>
          <a:xfrm>
            <a:off x="6583680" y="2606040"/>
            <a:ext cx="10607040" cy="457200"/>
          </a:xfrm>
          <a:prstGeom prst="rect">
            <a:avLst/>
          </a:prstGeom>
          <a:noFill/>
        </p:spPr>
        <p:txBody>
          <a:bodyPr wrap="square" lIns="0" tIns="0" rIns="0" bIns="0" anchor="t">
            <a:spAutoFit/>
          </a:bodyPr>
          <a:lstStyle/>
          <a:p>
            <a:pPr algn="l">
              <a:spcAft>
                <a:spcPts val="600"/>
              </a:spcAft>
            </a:pPr>
            <a:r>
              <a:rPr sz="2200" b="1" i="0">
                <a:solidFill>
                  <a:srgbClr val="111111"/>
                </a:solidFill>
                <a:latin typeface="Calibri"/>
              </a:rPr>
              <a:t>Share of orders with a 1 or 2-star review</a:t>
            </a:r>
          </a:p>
        </p:txBody>
      </p:sp>
      <p:graphicFrame>
        <p:nvGraphicFramePr>
          <p:cNvPr id="23" name="Review chart"/>
          <p:cNvGraphicFramePr>
            <a:graphicFrameLocks noGrp="1"/>
          </p:cNvGraphicFramePr>
          <p:nvPr/>
        </p:nvGraphicFramePr>
        <p:xfrm>
          <a:off x="6583680" y="3108960"/>
          <a:ext cx="7315200" cy="4892040"/>
        </p:xfrm>
        <a:graphic>
          <a:graphicData uri="http://schemas.openxmlformats.org/drawingml/2006/chart">
            <c:chart xmlns:c="http://schemas.openxmlformats.org/drawingml/2006/chart" xmlns:r="http://schemas.openxmlformats.org/officeDocument/2006/relationships" r:id="rId5"/>
          </a:graphicData>
        </a:graphic>
      </p:graphicFrame>
      <p:sp>
        <p:nvSpPr>
          <p:cNvPr id="3" name="Store icon"/>
          <p:cNvSpPr/>
          <p:nvPr/>
        </p:nvSpPr>
        <p:spPr>
          <a:xfrm>
            <a:off x="14401800" y="3291840"/>
            <a:ext cx="2234108" cy="2651760"/>
          </a:xfrm>
          <a:custGeom>
            <a:avLst/>
            <a:gdLst/>
            <a:ahLst/>
            <a:cxnLst/>
            <a:rect l="l" t="t" r="r" b="b"/>
            <a:pathLst>
              <a:path w="3087035" h="3664136">
                <a:moveTo>
                  <a:pt x="0" y="0"/>
                </a:moveTo>
                <a:lnTo>
                  <a:pt x="3087035" y="0"/>
                </a:lnTo>
                <a:lnTo>
                  <a:pt x="3087035" y="3664136"/>
                </a:lnTo>
                <a:lnTo>
                  <a:pt x="0" y="366413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4" name="Chart takeaway"/>
          <p:cNvSpPr txBox="1"/>
          <p:nvPr/>
        </p:nvSpPr>
        <p:spPr>
          <a:xfrm>
            <a:off x="14081760" y="6309360"/>
            <a:ext cx="3200400" cy="2194560"/>
          </a:xfrm>
          <a:prstGeom prst="rect">
            <a:avLst/>
          </a:prstGeom>
          <a:noFill/>
        </p:spPr>
        <p:txBody>
          <a:bodyPr wrap="square" lIns="0" tIns="0" rIns="0" bIns="0" anchor="t">
            <a:spAutoFit/>
          </a:bodyPr>
          <a:lstStyle/>
          <a:p>
            <a:pPr algn="l">
              <a:spcAft>
                <a:spcPts val="600"/>
              </a:spcAft>
            </a:pPr>
            <a:r>
              <a:rPr sz="2000" b="1" i="0">
                <a:solidFill>
                  <a:srgbClr val="3669E8"/>
                </a:solidFill>
                <a:latin typeface="Calibri"/>
              </a:rPr>
              <a:t>6.7× more likely to get a 1–2★ review when late</a:t>
            </a:r>
          </a:p>
        </p:txBody>
      </p:sp>
      <p:sp>
        <p:nvSpPr>
          <p:cNvPr id="25" name="Chart note"/>
          <p:cNvSpPr txBox="1"/>
          <p:nvPr/>
        </p:nvSpPr>
        <p:spPr>
          <a:xfrm>
            <a:off x="6583680" y="8229600"/>
            <a:ext cx="10607040" cy="365760"/>
          </a:xfrm>
          <a:prstGeom prst="rect">
            <a:avLst/>
          </a:prstGeom>
          <a:noFill/>
        </p:spPr>
        <p:txBody>
          <a:bodyPr wrap="square" lIns="0" tIns="0" rIns="0" bIns="0" anchor="t">
            <a:spAutoFit/>
          </a:bodyPr>
          <a:lstStyle/>
          <a:p>
            <a:pPr algn="l">
              <a:spcAft>
                <a:spcPts val="600"/>
              </a:spcAft>
            </a:pPr>
            <a:r>
              <a:rPr sz="1600" b="0" i="0">
                <a:solidFill>
                  <a:srgbClr val="8A8FA3"/>
                </a:solidFill>
                <a:latin typeface="Calibri"/>
              </a:rPr>
              <a:t>Reviews only size the problem. They are never used as model inputs.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OBJECTIVE · WHO IT SERVES</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Ops needs a daily shortlist of risky orders</a:t>
            </a:r>
          </a:p>
        </p:txBody>
      </p:sp>
      <p:sp>
        <p:nvSpPr>
          <p:cNvPr id="15" name="Icon card 1"/>
          <p:cNvSpPr/>
          <p:nvPr/>
        </p:nvSpPr>
        <p:spPr>
          <a:xfrm>
            <a:off x="731520" y="2377440"/>
            <a:ext cx="3566160" cy="2286000"/>
          </a:xfrm>
          <a:prstGeom prst="roundRect">
            <a:avLst>
              <a:gd name="adj" fmla="val 6400"/>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 name="Step icon 1"/>
          <p:cNvSpPr/>
          <p:nvPr/>
        </p:nvSpPr>
        <p:spPr>
          <a:xfrm>
            <a:off x="1688268" y="2651760"/>
            <a:ext cx="1652663" cy="1737360"/>
          </a:xfrm>
          <a:custGeom>
            <a:avLst/>
            <a:gdLst/>
            <a:ahLst/>
            <a:cxnLst/>
            <a:rect l="l" t="t" r="r" b="b"/>
            <a:pathLst>
              <a:path w="3522899" h="3703442">
                <a:moveTo>
                  <a:pt x="0" y="0"/>
                </a:moveTo>
                <a:lnTo>
                  <a:pt x="3522899" y="0"/>
                </a:lnTo>
                <a:lnTo>
                  <a:pt x="3522899" y="3703442"/>
                </a:lnTo>
                <a:lnTo>
                  <a:pt x="0" y="3703442"/>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6" name="Step card 1"/>
          <p:cNvSpPr/>
          <p:nvPr/>
        </p:nvSpPr>
        <p:spPr>
          <a:xfrm>
            <a:off x="731520" y="4892040"/>
            <a:ext cx="3566160" cy="3108960"/>
          </a:xfrm>
          <a:prstGeom prst="roundRect">
            <a:avLst>
              <a:gd name="adj" fmla="val 4705"/>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7" name="Step title 1"/>
          <p:cNvSpPr txBox="1"/>
          <p:nvPr/>
        </p:nvSpPr>
        <p:spPr>
          <a:xfrm>
            <a:off x="1005840" y="5120640"/>
            <a:ext cx="3017520" cy="822960"/>
          </a:xfrm>
          <a:prstGeom prst="rect">
            <a:avLst/>
          </a:prstGeom>
          <a:noFill/>
        </p:spPr>
        <p:txBody>
          <a:bodyPr wrap="square" lIns="0" tIns="0" rIns="0" bIns="0" anchor="t">
            <a:spAutoFit/>
          </a:bodyPr>
          <a:lstStyle/>
          <a:p>
            <a:pPr algn="l">
              <a:spcAft>
                <a:spcPts val="600"/>
              </a:spcAft>
            </a:pPr>
            <a:r>
              <a:rPr sz="2200" b="0" i="0">
                <a:solidFill>
                  <a:srgbClr val="89EDD0"/>
                </a:solidFill>
                <a:latin typeface="Arial Black"/>
              </a:rPr>
              <a:t>1. Order approved</a:t>
            </a:r>
          </a:p>
        </p:txBody>
      </p:sp>
      <p:sp>
        <p:nvSpPr>
          <p:cNvPr id="18" name="Step text 1"/>
          <p:cNvSpPr txBox="1"/>
          <p:nvPr/>
        </p:nvSpPr>
        <p:spPr>
          <a:xfrm>
            <a:off x="1005840" y="5989320"/>
            <a:ext cx="3017520" cy="1920240"/>
          </a:xfrm>
          <a:prstGeom prst="rect">
            <a:avLst/>
          </a:prstGeom>
          <a:noFill/>
        </p:spPr>
        <p:txBody>
          <a:bodyPr wrap="square" lIns="0" tIns="0" rIns="0" bIns="0" anchor="t">
            <a:spAutoFit/>
          </a:bodyPr>
          <a:lstStyle/>
          <a:p>
            <a:pPr algn="l">
              <a:spcAft>
                <a:spcPts val="600"/>
              </a:spcAft>
            </a:pPr>
            <a:r>
              <a:rPr sz="1900" b="0" i="0">
                <a:solidFill>
                  <a:srgbClr val="FFFFFF"/>
                </a:solidFill>
                <a:latin typeface="Calibri"/>
              </a:rPr>
              <a:t>Every order gets scored using only what is known at approval</a:t>
            </a:r>
          </a:p>
        </p:txBody>
      </p:sp>
      <p:sp>
        <p:nvSpPr>
          <p:cNvPr id="19" name="Arrow 1"/>
          <p:cNvSpPr/>
          <p:nvPr/>
        </p:nvSpPr>
        <p:spPr>
          <a:xfrm>
            <a:off x="4462272" y="6172200"/>
            <a:ext cx="521207" cy="548640"/>
          </a:xfrm>
          <a:prstGeom prst="rightArrow">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Icon card 2"/>
          <p:cNvSpPr/>
          <p:nvPr/>
        </p:nvSpPr>
        <p:spPr>
          <a:xfrm>
            <a:off x="5148072" y="2377440"/>
            <a:ext cx="3566160" cy="2286000"/>
          </a:xfrm>
          <a:prstGeom prst="roundRect">
            <a:avLst>
              <a:gd name="adj" fmla="val 6400"/>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Rank bar 1"/>
          <p:cNvSpPr/>
          <p:nvPr/>
        </p:nvSpPr>
        <p:spPr>
          <a:xfrm>
            <a:off x="5879592" y="2761488"/>
            <a:ext cx="2103120" cy="384048"/>
          </a:xfrm>
          <a:prstGeom prst="roundRect">
            <a:avLst>
              <a:gd name="adj" fmla="val 19047"/>
            </a:avLst>
          </a:prstGeom>
          <a:solidFill>
            <a:srgbClr val="3669E8"/>
          </a:solidFill>
          <a:ln w="381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ank bar 2"/>
          <p:cNvSpPr/>
          <p:nvPr/>
        </p:nvSpPr>
        <p:spPr>
          <a:xfrm>
            <a:off x="5879592" y="3328416"/>
            <a:ext cx="1508760" cy="384048"/>
          </a:xfrm>
          <a:prstGeom prst="roundRect">
            <a:avLst>
              <a:gd name="adj" fmla="val 19047"/>
            </a:avLst>
          </a:prstGeom>
          <a:solidFill>
            <a:srgbClr val="69D6B6"/>
          </a:solidFill>
          <a:ln w="381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ank bar 3"/>
          <p:cNvSpPr/>
          <p:nvPr/>
        </p:nvSpPr>
        <p:spPr>
          <a:xfrm>
            <a:off x="5879592" y="3895344"/>
            <a:ext cx="1005840" cy="384048"/>
          </a:xfrm>
          <a:prstGeom prst="roundRect">
            <a:avLst>
              <a:gd name="adj" fmla="val 19047"/>
            </a:avLst>
          </a:prstGeom>
          <a:solidFill>
            <a:srgbClr val="E1F44B"/>
          </a:solidFill>
          <a:ln w="381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tep card 2"/>
          <p:cNvSpPr/>
          <p:nvPr/>
        </p:nvSpPr>
        <p:spPr>
          <a:xfrm>
            <a:off x="5148072" y="4892040"/>
            <a:ext cx="3566160" cy="3108960"/>
          </a:xfrm>
          <a:prstGeom prst="roundRect">
            <a:avLst>
              <a:gd name="adj" fmla="val 4705"/>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Step title 2"/>
          <p:cNvSpPr txBox="1"/>
          <p:nvPr/>
        </p:nvSpPr>
        <p:spPr>
          <a:xfrm>
            <a:off x="5422392" y="5120640"/>
            <a:ext cx="3017520" cy="822960"/>
          </a:xfrm>
          <a:prstGeom prst="rect">
            <a:avLst/>
          </a:prstGeom>
          <a:noFill/>
        </p:spPr>
        <p:txBody>
          <a:bodyPr wrap="square" lIns="0" tIns="0" rIns="0" bIns="0" anchor="t">
            <a:spAutoFit/>
          </a:bodyPr>
          <a:lstStyle/>
          <a:p>
            <a:pPr algn="l">
              <a:spcAft>
                <a:spcPts val="600"/>
              </a:spcAft>
            </a:pPr>
            <a:r>
              <a:rPr sz="2200" b="0" i="0">
                <a:solidFill>
                  <a:srgbClr val="111111"/>
                </a:solidFill>
                <a:latin typeface="Arial Black"/>
              </a:rPr>
              <a:t>2. Nightly risk score</a:t>
            </a:r>
          </a:p>
        </p:txBody>
      </p:sp>
      <p:sp>
        <p:nvSpPr>
          <p:cNvPr id="26" name="Step text 2"/>
          <p:cNvSpPr txBox="1"/>
          <p:nvPr/>
        </p:nvSpPr>
        <p:spPr>
          <a:xfrm>
            <a:off x="5422392" y="5989320"/>
            <a:ext cx="3017520" cy="1920240"/>
          </a:xfrm>
          <a:prstGeom prst="rect">
            <a:avLst/>
          </a:prstGeom>
          <a:noFill/>
        </p:spPr>
        <p:txBody>
          <a:bodyPr wrap="square" lIns="0" tIns="0" rIns="0" bIns="0" anchor="t">
            <a:spAutoFit/>
          </a:bodyPr>
          <a:lstStyle/>
          <a:p>
            <a:pPr algn="l">
              <a:spcAft>
                <a:spcPts val="600"/>
              </a:spcAft>
            </a:pPr>
            <a:r>
              <a:rPr sz="1900" b="0" i="0">
                <a:solidFill>
                  <a:srgbClr val="111111"/>
                </a:solidFill>
                <a:latin typeface="Calibri"/>
              </a:rPr>
              <a:t>Yesterday's approved orders are ranked by risk of arriving late</a:t>
            </a:r>
          </a:p>
        </p:txBody>
      </p:sp>
      <p:sp>
        <p:nvSpPr>
          <p:cNvPr id="27" name="Arrow 2"/>
          <p:cNvSpPr/>
          <p:nvPr/>
        </p:nvSpPr>
        <p:spPr>
          <a:xfrm>
            <a:off x="8878824" y="6172200"/>
            <a:ext cx="521207" cy="548640"/>
          </a:xfrm>
          <a:prstGeom prst="rightArrow">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Icon card 3"/>
          <p:cNvSpPr/>
          <p:nvPr/>
        </p:nvSpPr>
        <p:spPr>
          <a:xfrm>
            <a:off x="9564624" y="2377440"/>
            <a:ext cx="3566160" cy="2286000"/>
          </a:xfrm>
          <a:prstGeom prst="roundRect">
            <a:avLst>
              <a:gd name="adj" fmla="val 6400"/>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 name="Step icon 3"/>
          <p:cNvSpPr/>
          <p:nvPr/>
        </p:nvSpPr>
        <p:spPr>
          <a:xfrm>
            <a:off x="10175792" y="2651760"/>
            <a:ext cx="2343824" cy="1737360"/>
          </a:xfrm>
          <a:custGeom>
            <a:avLst/>
            <a:gdLst/>
            <a:ahLst/>
            <a:cxnLst/>
            <a:rect l="l" t="t" r="r" b="b"/>
            <a:pathLst>
              <a:path w="2630380" h="1949769">
                <a:moveTo>
                  <a:pt x="0" y="0"/>
                </a:moveTo>
                <a:lnTo>
                  <a:pt x="2630380" y="0"/>
                </a:lnTo>
                <a:lnTo>
                  <a:pt x="2630380" y="1949769"/>
                </a:lnTo>
                <a:lnTo>
                  <a:pt x="0" y="1949769"/>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en-US"/>
          </a:p>
        </p:txBody>
      </p:sp>
      <p:sp>
        <p:nvSpPr>
          <p:cNvPr id="29" name="Step card 3"/>
          <p:cNvSpPr/>
          <p:nvPr/>
        </p:nvSpPr>
        <p:spPr>
          <a:xfrm>
            <a:off x="9564624" y="4892040"/>
            <a:ext cx="3566160" cy="3108960"/>
          </a:xfrm>
          <a:prstGeom prst="roundRect">
            <a:avLst>
              <a:gd name="adj" fmla="val 4705"/>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Step title 3"/>
          <p:cNvSpPr txBox="1"/>
          <p:nvPr/>
        </p:nvSpPr>
        <p:spPr>
          <a:xfrm>
            <a:off x="9838944" y="5120640"/>
            <a:ext cx="3017520" cy="822960"/>
          </a:xfrm>
          <a:prstGeom prst="rect">
            <a:avLst/>
          </a:prstGeom>
          <a:noFill/>
        </p:spPr>
        <p:txBody>
          <a:bodyPr wrap="square" lIns="0" tIns="0" rIns="0" bIns="0" anchor="t">
            <a:spAutoFit/>
          </a:bodyPr>
          <a:lstStyle/>
          <a:p>
            <a:pPr algn="l">
              <a:spcAft>
                <a:spcPts val="600"/>
              </a:spcAft>
            </a:pPr>
            <a:r>
              <a:rPr sz="2200" b="0" i="0">
                <a:solidFill>
                  <a:srgbClr val="89EDD0"/>
                </a:solidFill>
                <a:latin typeface="Arial Black"/>
              </a:rPr>
              <a:t>3. Top 10% flagged</a:t>
            </a:r>
          </a:p>
        </p:txBody>
      </p:sp>
      <p:sp>
        <p:nvSpPr>
          <p:cNvPr id="31" name="Step text 3"/>
          <p:cNvSpPr txBox="1"/>
          <p:nvPr/>
        </p:nvSpPr>
        <p:spPr>
          <a:xfrm>
            <a:off x="9838944" y="5989320"/>
            <a:ext cx="3017520" cy="1920240"/>
          </a:xfrm>
          <a:prstGeom prst="rect">
            <a:avLst/>
          </a:prstGeom>
          <a:noFill/>
        </p:spPr>
        <p:txBody>
          <a:bodyPr wrap="square" lIns="0" tIns="0" rIns="0" bIns="0" anchor="t">
            <a:spAutoFit/>
          </a:bodyPr>
          <a:lstStyle/>
          <a:p>
            <a:pPr algn="l">
              <a:spcAft>
                <a:spcPts val="600"/>
              </a:spcAft>
            </a:pPr>
            <a:r>
              <a:rPr sz="1900" b="0" i="0">
                <a:solidFill>
                  <a:srgbClr val="FFFFFF"/>
                </a:solidFill>
                <a:latin typeface="Calibri"/>
              </a:rPr>
              <a:t>About 18 orders a day go to the ops team</a:t>
            </a:r>
          </a:p>
        </p:txBody>
      </p:sp>
      <p:sp>
        <p:nvSpPr>
          <p:cNvPr id="32" name="Arrow 3"/>
          <p:cNvSpPr/>
          <p:nvPr/>
        </p:nvSpPr>
        <p:spPr>
          <a:xfrm>
            <a:off x="13295376" y="6172200"/>
            <a:ext cx="521207" cy="548640"/>
          </a:xfrm>
          <a:prstGeom prst="rightArrow">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Icon card 4"/>
          <p:cNvSpPr/>
          <p:nvPr/>
        </p:nvSpPr>
        <p:spPr>
          <a:xfrm>
            <a:off x="13981176" y="2377440"/>
            <a:ext cx="3566160" cy="2286000"/>
          </a:xfrm>
          <a:prstGeom prst="roundRect">
            <a:avLst>
              <a:gd name="adj" fmla="val 6400"/>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Step icon 4"/>
          <p:cNvSpPr/>
          <p:nvPr/>
        </p:nvSpPr>
        <p:spPr>
          <a:xfrm>
            <a:off x="14880126" y="2651760"/>
            <a:ext cx="1768260" cy="1737360"/>
          </a:xfrm>
          <a:custGeom>
            <a:avLst/>
            <a:gdLst/>
            <a:ahLst/>
            <a:cxnLst/>
            <a:rect l="l" t="t" r="r" b="b"/>
            <a:pathLst>
              <a:path w="1316146" h="1293146">
                <a:moveTo>
                  <a:pt x="0" y="0"/>
                </a:moveTo>
                <a:lnTo>
                  <a:pt x="1316146" y="0"/>
                </a:lnTo>
                <a:lnTo>
                  <a:pt x="1316146" y="1293146"/>
                </a:lnTo>
                <a:lnTo>
                  <a:pt x="0" y="1293146"/>
                </a:lnTo>
                <a:lnTo>
                  <a:pt x="0" y="0"/>
                </a:lnTo>
                <a:close/>
              </a:path>
            </a:pathLst>
          </a:custGeom>
          <a:blipFill>
            <a:blip>
              <a:extLst>
                <a:ext uri="{96DAC541-7B7A-43D3-8B79-37D633B846F1}">
                  <asvg:svgBlip xmlns:asvg="http://schemas.microsoft.com/office/drawing/2016/SVG/main" r:embed="rId7"/>
                </a:ext>
              </a:extLst>
            </a:blip>
            <a:stretch>
              <a:fillRect r="-138187"/>
            </a:stretch>
          </a:blipFill>
        </p:spPr>
        <p:txBody>
          <a:bodyPr/>
          <a:lstStyle/>
          <a:p>
            <a:endParaRPr lang="en-US"/>
          </a:p>
        </p:txBody>
      </p:sp>
      <p:sp>
        <p:nvSpPr>
          <p:cNvPr id="34" name="Step card 4"/>
          <p:cNvSpPr/>
          <p:nvPr/>
        </p:nvSpPr>
        <p:spPr>
          <a:xfrm>
            <a:off x="13981176" y="4892040"/>
            <a:ext cx="3566160" cy="3108960"/>
          </a:xfrm>
          <a:prstGeom prst="roundRect">
            <a:avLst>
              <a:gd name="adj" fmla="val 4705"/>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5" name="Step title 4"/>
          <p:cNvSpPr txBox="1"/>
          <p:nvPr/>
        </p:nvSpPr>
        <p:spPr>
          <a:xfrm>
            <a:off x="14255496" y="5120640"/>
            <a:ext cx="3017520" cy="822960"/>
          </a:xfrm>
          <a:prstGeom prst="rect">
            <a:avLst/>
          </a:prstGeom>
          <a:noFill/>
        </p:spPr>
        <p:txBody>
          <a:bodyPr wrap="square" lIns="0" tIns="0" rIns="0" bIns="0" anchor="t">
            <a:spAutoFit/>
          </a:bodyPr>
          <a:lstStyle/>
          <a:p>
            <a:pPr algn="l">
              <a:spcAft>
                <a:spcPts val="600"/>
              </a:spcAft>
            </a:pPr>
            <a:r>
              <a:rPr sz="2200" b="0" i="0">
                <a:solidFill>
                  <a:srgbClr val="111111"/>
                </a:solidFill>
                <a:latin typeface="Arial Black"/>
              </a:rPr>
              <a:t>4. Ops acts</a:t>
            </a:r>
          </a:p>
        </p:txBody>
      </p:sp>
      <p:sp>
        <p:nvSpPr>
          <p:cNvPr id="36" name="Step text 4"/>
          <p:cNvSpPr txBox="1"/>
          <p:nvPr/>
        </p:nvSpPr>
        <p:spPr>
          <a:xfrm>
            <a:off x="14255496" y="5989320"/>
            <a:ext cx="3017520" cy="1920240"/>
          </a:xfrm>
          <a:prstGeom prst="rect">
            <a:avLst/>
          </a:prstGeom>
          <a:noFill/>
        </p:spPr>
        <p:txBody>
          <a:bodyPr wrap="square" lIns="0" tIns="0" rIns="0" bIns="0" anchor="t">
            <a:spAutoFit/>
          </a:bodyPr>
          <a:lstStyle/>
          <a:p>
            <a:pPr algn="l">
              <a:spcAft>
                <a:spcPts val="600"/>
              </a:spcAft>
            </a:pPr>
            <a:r>
              <a:rPr sz="1900" b="0" i="0">
                <a:solidFill>
                  <a:srgbClr val="111111"/>
                </a:solidFill>
                <a:latin typeface="Calibri"/>
              </a:rPr>
              <a:t>Push the seller to ship, chase the carrier, or warn the customer with a new date</a:t>
            </a:r>
          </a:p>
        </p:txBody>
      </p:sp>
      <p:sp>
        <p:nvSpPr>
          <p:cNvPr id="37" name="Footnote"/>
          <p:cNvSpPr txBox="1"/>
          <p:nvPr/>
        </p:nvSpPr>
        <p:spPr>
          <a:xfrm>
            <a:off x="731520" y="8275320"/>
            <a:ext cx="16824960" cy="457200"/>
          </a:xfrm>
          <a:prstGeom prst="rect">
            <a:avLst/>
          </a:prstGeom>
          <a:noFill/>
        </p:spPr>
        <p:txBody>
          <a:bodyPr wrap="square" lIns="0" tIns="0" rIns="0" bIns="0" anchor="t">
            <a:spAutoFit/>
          </a:bodyPr>
          <a:lstStyle/>
          <a:p>
            <a:pPr algn="l">
              <a:spcAft>
                <a:spcPts val="600"/>
              </a:spcAft>
            </a:pPr>
            <a:r>
              <a:rPr sz="2000" b="1" i="0">
                <a:solidFill>
                  <a:srgbClr val="111111"/>
                </a:solidFill>
                <a:latin typeface="Calibri"/>
              </a:rPr>
              <a:t>The model ranks orders for people to review. It never changes delivery dates on its own.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OBJECTIVE · WHAT OLIST DOES TODAY</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Padding the promise isn't enough: lateness comes in waves</a:t>
            </a:r>
          </a:p>
        </p:txBody>
      </p:sp>
      <p:sp>
        <p:nvSpPr>
          <p:cNvPr id="15" name="Padding"/>
          <p:cNvSpPr/>
          <p:nvPr/>
        </p:nvSpPr>
        <p:spPr>
          <a:xfrm>
            <a:off x="731520" y="2377440"/>
            <a:ext cx="4937760" cy="3017520"/>
          </a:xfrm>
          <a:prstGeom prst="roundRect">
            <a:avLst>
              <a:gd name="adj" fmla="val 4848"/>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Padding number"/>
          <p:cNvSpPr txBox="1"/>
          <p:nvPr/>
        </p:nvSpPr>
        <p:spPr>
          <a:xfrm>
            <a:off x="1051560" y="2606040"/>
            <a:ext cx="4297680" cy="1357884"/>
          </a:xfrm>
          <a:prstGeom prst="rect">
            <a:avLst/>
          </a:prstGeom>
          <a:noFill/>
        </p:spPr>
        <p:txBody>
          <a:bodyPr wrap="square" lIns="0" tIns="0" rIns="0" bIns="0" anchor="b">
            <a:spAutoFit/>
          </a:bodyPr>
          <a:lstStyle/>
          <a:p>
            <a:pPr algn="l">
              <a:spcAft>
                <a:spcPts val="600"/>
              </a:spcAft>
            </a:pPr>
            <a:r>
              <a:rPr sz="4800" b="0" i="0">
                <a:solidFill>
                  <a:srgbClr val="89EDD0"/>
                </a:solidFill>
                <a:latin typeface="Arial Black"/>
              </a:rPr>
              <a:t>24 vs 10</a:t>
            </a:r>
          </a:p>
        </p:txBody>
      </p:sp>
      <p:sp>
        <p:nvSpPr>
          <p:cNvPr id="17" name="Padding label"/>
          <p:cNvSpPr txBox="1"/>
          <p:nvPr/>
        </p:nvSpPr>
        <p:spPr>
          <a:xfrm>
            <a:off x="1051560" y="4009644"/>
            <a:ext cx="4297680" cy="1202436"/>
          </a:xfrm>
          <a:prstGeom prst="rect">
            <a:avLst/>
          </a:prstGeom>
          <a:noFill/>
        </p:spPr>
        <p:txBody>
          <a:bodyPr wrap="square" lIns="0" tIns="0" rIns="0" bIns="0" anchor="t">
            <a:spAutoFit/>
          </a:bodyPr>
          <a:lstStyle/>
          <a:p>
            <a:pPr algn="l">
              <a:spcAft>
                <a:spcPts val="600"/>
              </a:spcAft>
            </a:pPr>
            <a:r>
              <a:rPr sz="2000" b="0" i="0">
                <a:solidFill>
                  <a:srgbClr val="FFFFFF"/>
                </a:solidFill>
                <a:latin typeface="Calibri"/>
              </a:rPr>
              <a:t>days promised vs days actually taken (medians). A one-size safeguard, with no order-level risk score.</a:t>
            </a:r>
          </a:p>
        </p:txBody>
      </p:sp>
      <p:sp>
        <p:nvSpPr>
          <p:cNvPr id="18" name="Waves"/>
          <p:cNvSpPr/>
          <p:nvPr/>
        </p:nvSpPr>
        <p:spPr>
          <a:xfrm>
            <a:off x="731520" y="5715000"/>
            <a:ext cx="4937760" cy="3017520"/>
          </a:xfrm>
          <a:prstGeom prst="roundRect">
            <a:avLst>
              <a:gd name="adj" fmla="val 4848"/>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Waves number"/>
          <p:cNvSpPr txBox="1"/>
          <p:nvPr/>
        </p:nvSpPr>
        <p:spPr>
          <a:xfrm>
            <a:off x="1051560" y="5943600"/>
            <a:ext cx="4297680" cy="1357884"/>
          </a:xfrm>
          <a:prstGeom prst="rect">
            <a:avLst/>
          </a:prstGeom>
          <a:noFill/>
        </p:spPr>
        <p:txBody>
          <a:bodyPr wrap="square" lIns="0" tIns="0" rIns="0" bIns="0" anchor="b">
            <a:spAutoFit/>
          </a:bodyPr>
          <a:lstStyle/>
          <a:p>
            <a:pPr algn="l">
              <a:spcAft>
                <a:spcPts val="600"/>
              </a:spcAft>
            </a:pPr>
            <a:r>
              <a:rPr sz="4400" b="0" i="0">
                <a:solidFill>
                  <a:srgbClr val="111111"/>
                </a:solidFill>
                <a:latin typeface="Arial Black"/>
              </a:rPr>
              <a:t>33% → 62%</a:t>
            </a:r>
          </a:p>
        </p:txBody>
      </p:sp>
      <p:sp>
        <p:nvSpPr>
          <p:cNvPr id="20" name="Waves label"/>
          <p:cNvSpPr txBox="1"/>
          <p:nvPr/>
        </p:nvSpPr>
        <p:spPr>
          <a:xfrm>
            <a:off x="1051560" y="7347204"/>
            <a:ext cx="4297680" cy="1202436"/>
          </a:xfrm>
          <a:prstGeom prst="rect">
            <a:avLst/>
          </a:prstGeom>
          <a:noFill/>
        </p:spPr>
        <p:txBody>
          <a:bodyPr wrap="square" lIns="0" tIns="0" rIns="0" bIns="0" anchor="t">
            <a:spAutoFit/>
          </a:bodyPr>
          <a:lstStyle/>
          <a:p>
            <a:pPr algn="l">
              <a:spcAft>
                <a:spcPts val="600"/>
              </a:spcAft>
            </a:pPr>
            <a:r>
              <a:rPr sz="2000" b="0" i="0">
                <a:solidFill>
                  <a:srgbClr val="111111"/>
                </a:solidFill>
                <a:latin typeface="Calibri"/>
              </a:rPr>
              <a:t>Nov 2017, Feb and Mar 2018 hold 33% of training orders but 62% of the late ones</a:t>
            </a:r>
          </a:p>
        </p:txBody>
      </p:sp>
      <p:sp>
        <p:nvSpPr>
          <p:cNvPr id="21" name="Monthly chart card"/>
          <p:cNvSpPr/>
          <p:nvPr/>
        </p:nvSpPr>
        <p:spPr>
          <a:xfrm>
            <a:off x="6035040" y="2377440"/>
            <a:ext cx="11521440" cy="6355080"/>
          </a:xfrm>
          <a:prstGeom prst="roundRect">
            <a:avLst>
              <a:gd name="adj" fmla="val 230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Chart title"/>
          <p:cNvSpPr txBox="1"/>
          <p:nvPr/>
        </p:nvSpPr>
        <p:spPr>
          <a:xfrm>
            <a:off x="6400800" y="2606040"/>
            <a:ext cx="10789920" cy="457200"/>
          </a:xfrm>
          <a:prstGeom prst="rect">
            <a:avLst/>
          </a:prstGeom>
          <a:noFill/>
        </p:spPr>
        <p:txBody>
          <a:bodyPr wrap="square" lIns="0" tIns="0" rIns="0" bIns="0" anchor="t">
            <a:spAutoFit/>
          </a:bodyPr>
          <a:lstStyle/>
          <a:p>
            <a:pPr algn="l">
              <a:spcAft>
                <a:spcPts val="600"/>
              </a:spcAft>
            </a:pPr>
            <a:r>
              <a:rPr sz="2200" b="1" i="0">
                <a:solidFill>
                  <a:srgbClr val="111111"/>
                </a:solidFill>
                <a:latin typeface="Calibri"/>
              </a:rPr>
              <a:t>Late rate by month of purchase</a:t>
            </a:r>
          </a:p>
        </p:txBody>
      </p:sp>
      <p:graphicFrame>
        <p:nvGraphicFramePr>
          <p:cNvPr id="23" name="Monthly late rate chart"/>
          <p:cNvGraphicFramePr>
            <a:graphicFrameLocks noGrp="1"/>
          </p:cNvGraphicFramePr>
          <p:nvPr/>
        </p:nvGraphicFramePr>
        <p:xfrm>
          <a:off x="6400800" y="3108960"/>
          <a:ext cx="10789920" cy="5074920"/>
        </p:xfrm>
        <a:graphic>
          <a:graphicData uri="http://schemas.openxmlformats.org/drawingml/2006/chart">
            <c:chart xmlns:c="http://schemas.openxmlformats.org/drawingml/2006/chart" xmlns:r="http://schemas.openxmlformats.org/officeDocument/2006/relationships" r:id="rId5"/>
          </a:graphicData>
        </a:graphic>
      </p:graphicFrame>
      <p:sp>
        <p:nvSpPr>
          <p:cNvPr id="24" name="Chart note"/>
          <p:cNvSpPr txBox="1"/>
          <p:nvPr/>
        </p:nvSpPr>
        <p:spPr>
          <a:xfrm>
            <a:off x="6400800" y="8229600"/>
            <a:ext cx="10789920" cy="411480"/>
          </a:xfrm>
          <a:prstGeom prst="rect">
            <a:avLst/>
          </a:prstGeom>
          <a:noFill/>
        </p:spPr>
        <p:txBody>
          <a:bodyPr wrap="square" lIns="0" tIns="0" rIns="0" bIns="0" anchor="t">
            <a:spAutoFit/>
          </a:bodyPr>
          <a:lstStyle/>
          <a:p>
            <a:pPr algn="l">
              <a:spcAft>
                <a:spcPts val="600"/>
              </a:spcAft>
            </a:pPr>
            <a:r>
              <a:rPr sz="1600" b="0" i="0">
                <a:solidFill>
                  <a:srgbClr val="8A8FA3"/>
                </a:solidFill>
                <a:latin typeface="Calibri"/>
              </a:rPr>
              <a:t>Feb–Mar 2018 was network-wide: even São Paulo's late rate nearly tripled (3.4% → 9.4%).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OBJECTIVE · HOW THE DATA FITS</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Olist's public data lets us predict at the moment ops can act</a:t>
            </a:r>
          </a:p>
        </p:txBody>
      </p:sp>
      <p:sp>
        <p:nvSpPr>
          <p:cNvPr id="15" name="Funnel card"/>
          <p:cNvSpPr/>
          <p:nvPr/>
        </p:nvSpPr>
        <p:spPr>
          <a:xfrm>
            <a:off x="731520" y="2377440"/>
            <a:ext cx="8778240" cy="6355080"/>
          </a:xfrm>
          <a:prstGeom prst="roundRect">
            <a:avLst>
              <a:gd name="adj" fmla="val 230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Funnel title"/>
          <p:cNvSpPr txBox="1"/>
          <p:nvPr/>
        </p:nvSpPr>
        <p:spPr>
          <a:xfrm>
            <a:off x="1097280" y="2606040"/>
            <a:ext cx="8046720" cy="457200"/>
          </a:xfrm>
          <a:prstGeom prst="rect">
            <a:avLst/>
          </a:prstGeom>
          <a:noFill/>
        </p:spPr>
        <p:txBody>
          <a:bodyPr wrap="square" lIns="0" tIns="0" rIns="0" bIns="0" anchor="t">
            <a:spAutoFit/>
          </a:bodyPr>
          <a:lstStyle/>
          <a:p>
            <a:pPr algn="l">
              <a:spcAft>
                <a:spcPts val="600"/>
              </a:spcAft>
            </a:pPr>
            <a:r>
              <a:rPr sz="2200" b="1" i="0">
                <a:solidFill>
                  <a:srgbClr val="111111"/>
                </a:solidFill>
                <a:latin typeface="Calibri"/>
              </a:rPr>
              <a:t>From raw orders to a clean, labelled population</a:t>
            </a:r>
          </a:p>
        </p:txBody>
      </p:sp>
      <p:sp>
        <p:nvSpPr>
          <p:cNvPr id="17" name="Funnel bar 1"/>
          <p:cNvSpPr/>
          <p:nvPr/>
        </p:nvSpPr>
        <p:spPr>
          <a:xfrm>
            <a:off x="1097280" y="3291840"/>
            <a:ext cx="7863840" cy="868680"/>
          </a:xfrm>
          <a:prstGeom prst="roundRect">
            <a:avLst>
              <a:gd name="adj" fmla="val 10526"/>
            </a:avLst>
          </a:prstGeom>
          <a:solidFill>
            <a:srgbClr val="B5C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Funnel label 1"/>
          <p:cNvSpPr txBox="1"/>
          <p:nvPr/>
        </p:nvSpPr>
        <p:spPr>
          <a:xfrm>
            <a:off x="1325880" y="3364992"/>
            <a:ext cx="5852160" cy="731520"/>
          </a:xfrm>
          <a:prstGeom prst="rect">
            <a:avLst/>
          </a:prstGeom>
          <a:noFill/>
        </p:spPr>
        <p:txBody>
          <a:bodyPr wrap="square" lIns="0" tIns="0" rIns="0" bIns="0" anchor="ctr">
            <a:spAutoFit/>
          </a:bodyPr>
          <a:lstStyle/>
          <a:p>
            <a:pPr algn="l">
              <a:spcAft>
                <a:spcPts val="600"/>
              </a:spcAft>
            </a:pPr>
            <a:r>
              <a:rPr sz="1700" b="0" i="0">
                <a:solidFill>
                  <a:srgbClr val="111111"/>
                </a:solidFill>
                <a:latin typeface="Calibri"/>
              </a:rPr>
              <a:t>All orders, Sep 2016 – Oct 2018</a:t>
            </a:r>
          </a:p>
        </p:txBody>
      </p:sp>
      <p:sp>
        <p:nvSpPr>
          <p:cNvPr id="19" name="Funnel value 1"/>
          <p:cNvSpPr txBox="1"/>
          <p:nvPr/>
        </p:nvSpPr>
        <p:spPr>
          <a:xfrm>
            <a:off x="6995159" y="3364992"/>
            <a:ext cx="1737360" cy="731520"/>
          </a:xfrm>
          <a:prstGeom prst="rect">
            <a:avLst/>
          </a:prstGeom>
          <a:noFill/>
        </p:spPr>
        <p:txBody>
          <a:bodyPr wrap="square" lIns="0" tIns="0" rIns="0" bIns="0" anchor="ctr">
            <a:spAutoFit/>
          </a:bodyPr>
          <a:lstStyle/>
          <a:p>
            <a:pPr algn="r">
              <a:spcAft>
                <a:spcPts val="600"/>
              </a:spcAft>
            </a:pPr>
            <a:r>
              <a:rPr sz="2000" b="1" i="0">
                <a:solidFill>
                  <a:srgbClr val="111111"/>
                </a:solidFill>
                <a:latin typeface="Calibri"/>
              </a:rPr>
              <a:t>99,441</a:t>
            </a:r>
          </a:p>
        </p:txBody>
      </p:sp>
      <p:sp>
        <p:nvSpPr>
          <p:cNvPr id="20" name="Funnel bar 2"/>
          <p:cNvSpPr/>
          <p:nvPr/>
        </p:nvSpPr>
        <p:spPr>
          <a:xfrm>
            <a:off x="1097280" y="4315968"/>
            <a:ext cx="7629524" cy="868680"/>
          </a:xfrm>
          <a:prstGeom prst="roundRect">
            <a:avLst>
              <a:gd name="adj" fmla="val 10526"/>
            </a:avLst>
          </a:prstGeom>
          <a:solidFill>
            <a:srgbClr val="B5C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Funnel label 2"/>
          <p:cNvSpPr txBox="1"/>
          <p:nvPr/>
        </p:nvSpPr>
        <p:spPr>
          <a:xfrm>
            <a:off x="1325880" y="4389120"/>
            <a:ext cx="5852160" cy="731520"/>
          </a:xfrm>
          <a:prstGeom prst="rect">
            <a:avLst/>
          </a:prstGeom>
          <a:noFill/>
        </p:spPr>
        <p:txBody>
          <a:bodyPr wrap="square" lIns="0" tIns="0" rIns="0" bIns="0" anchor="ctr">
            <a:spAutoFit/>
          </a:bodyPr>
          <a:lstStyle/>
          <a:p>
            <a:pPr algn="l">
              <a:spcAft>
                <a:spcPts val="600"/>
              </a:spcAft>
            </a:pPr>
            <a:r>
              <a:rPr sz="1700" b="0" i="0">
                <a:solidFill>
                  <a:srgbClr val="111111"/>
                </a:solidFill>
                <a:latin typeface="Calibri"/>
              </a:rPr>
              <a:t>Status is delivered</a:t>
            </a:r>
          </a:p>
        </p:txBody>
      </p:sp>
      <p:sp>
        <p:nvSpPr>
          <p:cNvPr id="22" name="Funnel value 2"/>
          <p:cNvSpPr txBox="1"/>
          <p:nvPr/>
        </p:nvSpPr>
        <p:spPr>
          <a:xfrm>
            <a:off x="6760844" y="4389120"/>
            <a:ext cx="1737360" cy="731520"/>
          </a:xfrm>
          <a:prstGeom prst="rect">
            <a:avLst/>
          </a:prstGeom>
          <a:noFill/>
        </p:spPr>
        <p:txBody>
          <a:bodyPr wrap="square" lIns="0" tIns="0" rIns="0" bIns="0" anchor="ctr">
            <a:spAutoFit/>
          </a:bodyPr>
          <a:lstStyle/>
          <a:p>
            <a:pPr algn="r">
              <a:spcAft>
                <a:spcPts val="600"/>
              </a:spcAft>
            </a:pPr>
            <a:r>
              <a:rPr sz="2000" b="1" i="0">
                <a:solidFill>
                  <a:srgbClr val="111111"/>
                </a:solidFill>
                <a:latin typeface="Calibri"/>
              </a:rPr>
              <a:t>96,478</a:t>
            </a:r>
          </a:p>
        </p:txBody>
      </p:sp>
      <p:sp>
        <p:nvSpPr>
          <p:cNvPr id="23" name="Funnel bar 3"/>
          <p:cNvSpPr/>
          <p:nvPr/>
        </p:nvSpPr>
        <p:spPr>
          <a:xfrm>
            <a:off x="1097280" y="5340096"/>
            <a:ext cx="7627784" cy="868680"/>
          </a:xfrm>
          <a:prstGeom prst="roundRect">
            <a:avLst>
              <a:gd name="adj" fmla="val 10526"/>
            </a:avLst>
          </a:prstGeom>
          <a:solidFill>
            <a:srgbClr val="B5C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Funnel label 3"/>
          <p:cNvSpPr txBox="1"/>
          <p:nvPr/>
        </p:nvSpPr>
        <p:spPr>
          <a:xfrm>
            <a:off x="1325880" y="5413248"/>
            <a:ext cx="5852160" cy="731520"/>
          </a:xfrm>
          <a:prstGeom prst="rect">
            <a:avLst/>
          </a:prstGeom>
          <a:noFill/>
        </p:spPr>
        <p:txBody>
          <a:bodyPr wrap="square" lIns="0" tIns="0" rIns="0" bIns="0" anchor="ctr">
            <a:spAutoFit/>
          </a:bodyPr>
          <a:lstStyle/>
          <a:p>
            <a:pPr algn="l">
              <a:spcAft>
                <a:spcPts val="600"/>
              </a:spcAft>
            </a:pPr>
            <a:r>
              <a:rPr sz="1700" b="0" i="0">
                <a:solidFill>
                  <a:srgbClr val="111111"/>
                </a:solidFill>
                <a:latin typeface="Calibri"/>
              </a:rPr>
              <a:t>Has approval and delivery dates</a:t>
            </a:r>
          </a:p>
        </p:txBody>
      </p:sp>
      <p:sp>
        <p:nvSpPr>
          <p:cNvPr id="25" name="Funnel value 3"/>
          <p:cNvSpPr txBox="1"/>
          <p:nvPr/>
        </p:nvSpPr>
        <p:spPr>
          <a:xfrm>
            <a:off x="6759104" y="5413248"/>
            <a:ext cx="1737360" cy="731520"/>
          </a:xfrm>
          <a:prstGeom prst="rect">
            <a:avLst/>
          </a:prstGeom>
          <a:noFill/>
        </p:spPr>
        <p:txBody>
          <a:bodyPr wrap="square" lIns="0" tIns="0" rIns="0" bIns="0" anchor="ctr">
            <a:spAutoFit/>
          </a:bodyPr>
          <a:lstStyle/>
          <a:p>
            <a:pPr algn="r">
              <a:spcAft>
                <a:spcPts val="600"/>
              </a:spcAft>
            </a:pPr>
            <a:r>
              <a:rPr sz="2000" b="1" i="0">
                <a:solidFill>
                  <a:srgbClr val="111111"/>
                </a:solidFill>
                <a:latin typeface="Calibri"/>
              </a:rPr>
              <a:t>96,456</a:t>
            </a:r>
          </a:p>
        </p:txBody>
      </p:sp>
      <p:sp>
        <p:nvSpPr>
          <p:cNvPr id="26" name="Funnel bar 4"/>
          <p:cNvSpPr/>
          <p:nvPr/>
        </p:nvSpPr>
        <p:spPr>
          <a:xfrm>
            <a:off x="1097280" y="6364224"/>
            <a:ext cx="7606670" cy="868680"/>
          </a:xfrm>
          <a:prstGeom prst="roundRect">
            <a:avLst>
              <a:gd name="adj" fmla="val 10526"/>
            </a:avLst>
          </a:prstGeom>
          <a:solidFill>
            <a:srgbClr val="B5C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Funnel label 4"/>
          <p:cNvSpPr txBox="1"/>
          <p:nvPr/>
        </p:nvSpPr>
        <p:spPr>
          <a:xfrm>
            <a:off x="1325880" y="6437376"/>
            <a:ext cx="5852160" cy="731520"/>
          </a:xfrm>
          <a:prstGeom prst="rect">
            <a:avLst/>
          </a:prstGeom>
          <a:noFill/>
        </p:spPr>
        <p:txBody>
          <a:bodyPr wrap="square" lIns="0" tIns="0" rIns="0" bIns="0" anchor="ctr">
            <a:spAutoFit/>
          </a:bodyPr>
          <a:lstStyle/>
          <a:p>
            <a:pPr algn="l">
              <a:spcAft>
                <a:spcPts val="600"/>
              </a:spcAft>
            </a:pPr>
            <a:r>
              <a:rPr sz="1700" b="0" i="0">
                <a:solidFill>
                  <a:srgbClr val="111111"/>
                </a:solidFill>
                <a:latin typeface="Calibri"/>
              </a:rPr>
              <a:t>Bought from Jan 2017 onward</a:t>
            </a:r>
          </a:p>
        </p:txBody>
      </p:sp>
      <p:sp>
        <p:nvSpPr>
          <p:cNvPr id="28" name="Funnel value 4"/>
          <p:cNvSpPr txBox="1"/>
          <p:nvPr/>
        </p:nvSpPr>
        <p:spPr>
          <a:xfrm>
            <a:off x="6737990" y="6437376"/>
            <a:ext cx="1737360" cy="731520"/>
          </a:xfrm>
          <a:prstGeom prst="rect">
            <a:avLst/>
          </a:prstGeom>
          <a:noFill/>
        </p:spPr>
        <p:txBody>
          <a:bodyPr wrap="square" lIns="0" tIns="0" rIns="0" bIns="0" anchor="ctr">
            <a:spAutoFit/>
          </a:bodyPr>
          <a:lstStyle/>
          <a:p>
            <a:pPr algn="r">
              <a:spcAft>
                <a:spcPts val="600"/>
              </a:spcAft>
            </a:pPr>
            <a:r>
              <a:rPr sz="2000" b="1" i="0">
                <a:solidFill>
                  <a:srgbClr val="111111"/>
                </a:solidFill>
                <a:latin typeface="Calibri"/>
              </a:rPr>
              <a:t>96,189</a:t>
            </a:r>
          </a:p>
        </p:txBody>
      </p:sp>
      <p:sp>
        <p:nvSpPr>
          <p:cNvPr id="29" name="Funnel bar 5"/>
          <p:cNvSpPr/>
          <p:nvPr/>
        </p:nvSpPr>
        <p:spPr>
          <a:xfrm>
            <a:off x="1097280" y="7388352"/>
            <a:ext cx="6751177" cy="868680"/>
          </a:xfrm>
          <a:prstGeom prst="roundRect">
            <a:avLst>
              <a:gd name="adj" fmla="val 10526"/>
            </a:avLst>
          </a:prstGeom>
          <a:solidFill>
            <a:srgbClr val="366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Funnel label 5"/>
          <p:cNvSpPr txBox="1"/>
          <p:nvPr/>
        </p:nvSpPr>
        <p:spPr>
          <a:xfrm>
            <a:off x="1325880" y="7461504"/>
            <a:ext cx="5852160" cy="731520"/>
          </a:xfrm>
          <a:prstGeom prst="rect">
            <a:avLst/>
          </a:prstGeom>
          <a:noFill/>
        </p:spPr>
        <p:txBody>
          <a:bodyPr wrap="square" lIns="0" tIns="0" rIns="0" bIns="0" anchor="ctr">
            <a:spAutoFit/>
          </a:bodyPr>
          <a:lstStyle/>
          <a:p>
            <a:pPr algn="l">
              <a:spcAft>
                <a:spcPts val="600"/>
              </a:spcAft>
            </a:pPr>
            <a:r>
              <a:rPr sz="1700" b="0" i="0">
                <a:solidFill>
                  <a:srgbClr val="FFFFFF"/>
                </a:solidFill>
                <a:latin typeface="Calibri"/>
              </a:rPr>
              <a:t>Promised by 1 Aug 2018 (censoring rule)</a:t>
            </a:r>
          </a:p>
        </p:txBody>
      </p:sp>
      <p:sp>
        <p:nvSpPr>
          <p:cNvPr id="31" name="Funnel value 5"/>
          <p:cNvSpPr txBox="1"/>
          <p:nvPr/>
        </p:nvSpPr>
        <p:spPr>
          <a:xfrm>
            <a:off x="5882497" y="7461504"/>
            <a:ext cx="1737360" cy="731520"/>
          </a:xfrm>
          <a:prstGeom prst="rect">
            <a:avLst/>
          </a:prstGeom>
          <a:noFill/>
        </p:spPr>
        <p:txBody>
          <a:bodyPr wrap="square" lIns="0" tIns="0" rIns="0" bIns="0" anchor="ctr">
            <a:spAutoFit/>
          </a:bodyPr>
          <a:lstStyle/>
          <a:p>
            <a:pPr algn="r">
              <a:spcAft>
                <a:spcPts val="600"/>
              </a:spcAft>
            </a:pPr>
            <a:r>
              <a:rPr sz="2000" b="1" i="0">
                <a:solidFill>
                  <a:srgbClr val="FFFFFF"/>
                </a:solidFill>
                <a:latin typeface="Calibri"/>
              </a:rPr>
              <a:t>85,371</a:t>
            </a:r>
          </a:p>
        </p:txBody>
      </p:sp>
      <p:sp>
        <p:nvSpPr>
          <p:cNvPr id="32" name="The frame card"/>
          <p:cNvSpPr/>
          <p:nvPr/>
        </p:nvSpPr>
        <p:spPr>
          <a:xfrm>
            <a:off x="9875520" y="2377440"/>
            <a:ext cx="7680960" cy="2331720"/>
          </a:xfrm>
          <a:prstGeom prst="roundRect">
            <a:avLst>
              <a:gd name="adj" fmla="val 6274"/>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he frame heading"/>
          <p:cNvSpPr txBox="1"/>
          <p:nvPr/>
        </p:nvSpPr>
        <p:spPr>
          <a:xfrm>
            <a:off x="10195560" y="2560320"/>
            <a:ext cx="7040880" cy="502920"/>
          </a:xfrm>
          <a:prstGeom prst="rect">
            <a:avLst/>
          </a:prstGeom>
          <a:noFill/>
        </p:spPr>
        <p:txBody>
          <a:bodyPr wrap="square" lIns="0" tIns="0" rIns="0" bIns="0" anchor="t">
            <a:spAutoFit/>
          </a:bodyPr>
          <a:lstStyle/>
          <a:p>
            <a:pPr algn="l">
              <a:spcAft>
                <a:spcPts val="600"/>
              </a:spcAft>
            </a:pPr>
            <a:r>
              <a:rPr sz="2200" b="0" i="0">
                <a:solidFill>
                  <a:srgbClr val="89EDD0"/>
                </a:solidFill>
                <a:latin typeface="Arial Black"/>
              </a:rPr>
              <a:t>The frame</a:t>
            </a:r>
          </a:p>
        </p:txBody>
      </p:sp>
      <p:sp>
        <p:nvSpPr>
          <p:cNvPr id="34" name="The frame text"/>
          <p:cNvSpPr txBox="1"/>
          <p:nvPr/>
        </p:nvSpPr>
        <p:spPr>
          <a:xfrm>
            <a:off x="10195560" y="3108960"/>
            <a:ext cx="7040880" cy="1508760"/>
          </a:xfrm>
          <a:prstGeom prst="rect">
            <a:avLst/>
          </a:prstGeom>
          <a:noFill/>
        </p:spPr>
        <p:txBody>
          <a:bodyPr wrap="square" lIns="0" tIns="0" rIns="0" bIns="0" anchor="t">
            <a:spAutoFit/>
          </a:bodyPr>
          <a:lstStyle/>
          <a:p>
            <a:pPr marL="292608" indent="-292608" algn="l">
              <a:spcAft>
                <a:spcPts val="400"/>
              </a:spcAft>
              <a:buClr>
                <a:srgbClr val="89EDD0"/>
              </a:buClr>
              <a:buChar char="•"/>
            </a:pPr>
            <a:r>
              <a:rPr sz="1800" b="0" i="0">
                <a:solidFill>
                  <a:srgbClr val="FFFFFF"/>
                </a:solidFill>
                <a:latin typeface="Calibri"/>
              </a:rPr>
              <a:t>Supervised binary classification: late or not</a:t>
            </a:r>
          </a:p>
          <a:p>
            <a:pPr marL="292608" indent="-292608" algn="l">
              <a:spcAft>
                <a:spcPts val="400"/>
              </a:spcAft>
              <a:buClr>
                <a:srgbClr val="89EDD0"/>
              </a:buClr>
              <a:buChar char="•"/>
            </a:pPr>
            <a:r>
              <a:rPr sz="1800" b="0" i="0">
                <a:solidFill>
                  <a:srgbClr val="FFFFFF"/>
                </a:solidFill>
                <a:latin typeface="Calibri"/>
              </a:rPr>
              <a:t>Scored offline in a daily batch</a:t>
            </a:r>
          </a:p>
          <a:p>
            <a:pPr marL="292608" indent="-292608" algn="l">
              <a:spcAft>
                <a:spcPts val="400"/>
              </a:spcAft>
              <a:buClr>
                <a:srgbClr val="89EDD0"/>
              </a:buClr>
              <a:buChar char="•"/>
            </a:pPr>
            <a:r>
              <a:rPr sz="1800" b="0" i="0">
                <a:solidFill>
                  <a:srgbClr val="FFFFFF"/>
                </a:solidFill>
                <a:latin typeface="Calibri"/>
              </a:rPr>
              <a:t>Predict at order approval, using only what is known then</a:t>
            </a:r>
          </a:p>
        </p:txBody>
      </p:sp>
      <p:sp>
        <p:nvSpPr>
          <p:cNvPr id="35" name="The metrics card"/>
          <p:cNvSpPr/>
          <p:nvPr/>
        </p:nvSpPr>
        <p:spPr>
          <a:xfrm>
            <a:off x="9875520" y="4892040"/>
            <a:ext cx="7680960" cy="2011680"/>
          </a:xfrm>
          <a:prstGeom prst="roundRect">
            <a:avLst>
              <a:gd name="adj" fmla="val 7272"/>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he metrics heading"/>
          <p:cNvSpPr txBox="1"/>
          <p:nvPr/>
        </p:nvSpPr>
        <p:spPr>
          <a:xfrm>
            <a:off x="10195560" y="5074920"/>
            <a:ext cx="7040880" cy="502920"/>
          </a:xfrm>
          <a:prstGeom prst="rect">
            <a:avLst/>
          </a:prstGeom>
          <a:noFill/>
        </p:spPr>
        <p:txBody>
          <a:bodyPr wrap="square" lIns="0" tIns="0" rIns="0" bIns="0" anchor="t">
            <a:spAutoFit/>
          </a:bodyPr>
          <a:lstStyle/>
          <a:p>
            <a:pPr algn="l">
              <a:spcAft>
                <a:spcPts val="600"/>
              </a:spcAft>
            </a:pPr>
            <a:r>
              <a:rPr sz="2200" b="0" i="0">
                <a:solidFill>
                  <a:srgbClr val="111111"/>
                </a:solidFill>
                <a:latin typeface="Arial Black"/>
              </a:rPr>
              <a:t>The metrics</a:t>
            </a:r>
          </a:p>
        </p:txBody>
      </p:sp>
      <p:sp>
        <p:nvSpPr>
          <p:cNvPr id="37" name="The metrics text"/>
          <p:cNvSpPr txBox="1"/>
          <p:nvPr/>
        </p:nvSpPr>
        <p:spPr>
          <a:xfrm>
            <a:off x="10195560" y="5623559"/>
            <a:ext cx="7040880" cy="1188720"/>
          </a:xfrm>
          <a:prstGeom prst="rect">
            <a:avLst/>
          </a:prstGeom>
          <a:noFill/>
        </p:spPr>
        <p:txBody>
          <a:bodyPr wrap="square" lIns="0" tIns="0" rIns="0" bIns="0" anchor="t">
            <a:spAutoFit/>
          </a:bodyPr>
          <a:lstStyle/>
          <a:p>
            <a:pPr marL="292608" indent="-292608" algn="l">
              <a:spcAft>
                <a:spcPts val="400"/>
              </a:spcAft>
              <a:buClr>
                <a:srgbClr val="3669E8"/>
              </a:buClr>
              <a:buChar char="•"/>
            </a:pPr>
            <a:r>
              <a:rPr sz="1800" b="0" i="0">
                <a:solidFill>
                  <a:srgbClr val="111111"/>
                </a:solidFill>
                <a:latin typeface="Calibri"/>
              </a:rPr>
              <a:t>PR-AUC: ranks the rare late orders</a:t>
            </a:r>
          </a:p>
          <a:p>
            <a:pPr marL="292608" indent="-292608" algn="l">
              <a:spcAft>
                <a:spcPts val="400"/>
              </a:spcAft>
              <a:buClr>
                <a:srgbClr val="3669E8"/>
              </a:buClr>
              <a:buChar char="•"/>
            </a:pPr>
            <a:r>
              <a:rPr sz="1800" b="0" i="0">
                <a:solidFill>
                  <a:srgbClr val="111111"/>
                </a:solidFill>
                <a:latin typeface="Calibri"/>
              </a:rPr>
              <a:t>Recall in the top 10%: of all late orders, how many does ops catch?</a:t>
            </a:r>
          </a:p>
        </p:txBody>
      </p:sp>
      <p:sp>
        <p:nvSpPr>
          <p:cNvPr id="38" name="Why not accuracy? card"/>
          <p:cNvSpPr/>
          <p:nvPr/>
        </p:nvSpPr>
        <p:spPr>
          <a:xfrm>
            <a:off x="9875520" y="7086600"/>
            <a:ext cx="7680960" cy="1645920"/>
          </a:xfrm>
          <a:prstGeom prst="roundRect">
            <a:avLst>
              <a:gd name="adj" fmla="val 8888"/>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9" name="Why not accuracy? heading"/>
          <p:cNvSpPr txBox="1"/>
          <p:nvPr/>
        </p:nvSpPr>
        <p:spPr>
          <a:xfrm>
            <a:off x="10195560" y="7269480"/>
            <a:ext cx="7040880" cy="502920"/>
          </a:xfrm>
          <a:prstGeom prst="rect">
            <a:avLst/>
          </a:prstGeom>
          <a:noFill/>
        </p:spPr>
        <p:txBody>
          <a:bodyPr wrap="square" lIns="0" tIns="0" rIns="0" bIns="0" anchor="t">
            <a:spAutoFit/>
          </a:bodyPr>
          <a:lstStyle/>
          <a:p>
            <a:pPr algn="l">
              <a:spcAft>
                <a:spcPts val="600"/>
              </a:spcAft>
            </a:pPr>
            <a:r>
              <a:rPr sz="2200" b="0" i="0">
                <a:solidFill>
                  <a:srgbClr val="3669E8"/>
                </a:solidFill>
                <a:latin typeface="Arial Black"/>
              </a:rPr>
              <a:t>Why not accuracy?</a:t>
            </a:r>
          </a:p>
        </p:txBody>
      </p:sp>
      <p:sp>
        <p:nvSpPr>
          <p:cNvPr id="40" name="Why not accuracy? text"/>
          <p:cNvSpPr txBox="1"/>
          <p:nvPr/>
        </p:nvSpPr>
        <p:spPr>
          <a:xfrm>
            <a:off x="10195560" y="7818120"/>
            <a:ext cx="7040880" cy="822960"/>
          </a:xfrm>
          <a:prstGeom prst="rect">
            <a:avLst/>
          </a:prstGeom>
          <a:noFill/>
        </p:spPr>
        <p:txBody>
          <a:bodyPr wrap="square" lIns="0" tIns="0" rIns="0" bIns="0" anchor="t">
            <a:spAutoFit/>
          </a:bodyPr>
          <a:lstStyle/>
          <a:p>
            <a:pPr marL="292608" indent="-292608" algn="l">
              <a:spcAft>
                <a:spcPts val="400"/>
              </a:spcAft>
              <a:buClr>
                <a:srgbClr val="3669E8"/>
              </a:buClr>
              <a:buChar char="•"/>
            </a:pPr>
            <a:r>
              <a:rPr sz="1800" b="0" i="0">
                <a:solidFill>
                  <a:srgbClr val="111111"/>
                </a:solidFill>
                <a:latin typeface="Calibri"/>
              </a:rPr>
              <a:t>"Always on time" is 95.9% accurate on the test set and catches zero late orders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PROCESS</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Our process, end to end, with no peeking at the future</a:t>
            </a:r>
          </a:p>
        </p:txBody>
      </p:sp>
      <p:sp>
        <p:nvSpPr>
          <p:cNvPr id="15" name="Stage 1"/>
          <p:cNvSpPr/>
          <p:nvPr/>
        </p:nvSpPr>
        <p:spPr>
          <a:xfrm>
            <a:off x="731520" y="2377440"/>
            <a:ext cx="2606040" cy="1600200"/>
          </a:xfrm>
          <a:prstGeom prst="roundRect">
            <a:avLst>
              <a:gd name="adj" fmla="val 914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Stage 1 name"/>
          <p:cNvSpPr txBox="1"/>
          <p:nvPr/>
        </p:nvSpPr>
        <p:spPr>
          <a:xfrm>
            <a:off x="914400" y="2514600"/>
            <a:ext cx="2240280" cy="1325880"/>
          </a:xfrm>
          <a:prstGeom prst="rect">
            <a:avLst/>
          </a:prstGeom>
          <a:noFill/>
        </p:spPr>
        <p:txBody>
          <a:bodyPr wrap="square" lIns="0" tIns="0" rIns="0" bIns="0" anchor="ctr">
            <a:spAutoFit/>
          </a:bodyPr>
          <a:lstStyle/>
          <a:p>
            <a:pPr algn="l">
              <a:spcAft>
                <a:spcPts val="600"/>
              </a:spcAft>
            </a:pPr>
            <a:r>
              <a:rPr sz="2000" b="0" i="0">
                <a:solidFill>
                  <a:srgbClr val="111111"/>
                </a:solidFill>
                <a:latin typeface="Arial Black"/>
              </a:rPr>
              <a:t>1. Frame</a:t>
            </a:r>
          </a:p>
        </p:txBody>
      </p:sp>
      <p:sp>
        <p:nvSpPr>
          <p:cNvPr id="17" name="Stage 2"/>
          <p:cNvSpPr/>
          <p:nvPr/>
        </p:nvSpPr>
        <p:spPr>
          <a:xfrm>
            <a:off x="3575304" y="2377440"/>
            <a:ext cx="2606040" cy="1600200"/>
          </a:xfrm>
          <a:prstGeom prst="roundRect">
            <a:avLst>
              <a:gd name="adj" fmla="val 9142"/>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Stage 2 name"/>
          <p:cNvSpPr txBox="1"/>
          <p:nvPr/>
        </p:nvSpPr>
        <p:spPr>
          <a:xfrm>
            <a:off x="3758184" y="2514600"/>
            <a:ext cx="2240280" cy="1325880"/>
          </a:xfrm>
          <a:prstGeom prst="rect">
            <a:avLst/>
          </a:prstGeom>
          <a:noFill/>
        </p:spPr>
        <p:txBody>
          <a:bodyPr wrap="square" lIns="0" tIns="0" rIns="0" bIns="0" anchor="ctr">
            <a:spAutoFit/>
          </a:bodyPr>
          <a:lstStyle/>
          <a:p>
            <a:pPr algn="l">
              <a:spcAft>
                <a:spcPts val="600"/>
              </a:spcAft>
            </a:pPr>
            <a:r>
              <a:rPr sz="2000" b="0" i="0">
                <a:solidFill>
                  <a:srgbClr val="111111"/>
                </a:solidFill>
                <a:latin typeface="Arial Black"/>
              </a:rPr>
              <a:t>2. Explore</a:t>
            </a:r>
          </a:p>
        </p:txBody>
      </p:sp>
      <p:sp>
        <p:nvSpPr>
          <p:cNvPr id="19" name="Stage 3"/>
          <p:cNvSpPr/>
          <p:nvPr/>
        </p:nvSpPr>
        <p:spPr>
          <a:xfrm>
            <a:off x="6419088" y="2377440"/>
            <a:ext cx="2606040" cy="1600200"/>
          </a:xfrm>
          <a:prstGeom prst="roundRect">
            <a:avLst>
              <a:gd name="adj" fmla="val 914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Stage 3 name"/>
          <p:cNvSpPr txBox="1"/>
          <p:nvPr/>
        </p:nvSpPr>
        <p:spPr>
          <a:xfrm>
            <a:off x="6601968" y="2514600"/>
            <a:ext cx="2240280" cy="1325880"/>
          </a:xfrm>
          <a:prstGeom prst="rect">
            <a:avLst/>
          </a:prstGeom>
          <a:noFill/>
        </p:spPr>
        <p:txBody>
          <a:bodyPr wrap="square" lIns="0" tIns="0" rIns="0" bIns="0" anchor="ctr">
            <a:spAutoFit/>
          </a:bodyPr>
          <a:lstStyle/>
          <a:p>
            <a:pPr algn="l">
              <a:spcAft>
                <a:spcPts val="600"/>
              </a:spcAft>
            </a:pPr>
            <a:r>
              <a:rPr sz="2000" b="0" i="0">
                <a:solidFill>
                  <a:srgbClr val="111111"/>
                </a:solidFill>
                <a:latin typeface="Arial Black"/>
              </a:rPr>
              <a:t>3. Prepare</a:t>
            </a:r>
          </a:p>
        </p:txBody>
      </p:sp>
      <p:sp>
        <p:nvSpPr>
          <p:cNvPr id="21" name="Stage 4"/>
          <p:cNvSpPr/>
          <p:nvPr/>
        </p:nvSpPr>
        <p:spPr>
          <a:xfrm>
            <a:off x="9262872" y="2377440"/>
            <a:ext cx="2606040" cy="1600200"/>
          </a:xfrm>
          <a:prstGeom prst="roundRect">
            <a:avLst>
              <a:gd name="adj" fmla="val 9142"/>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Stage 4 name"/>
          <p:cNvSpPr txBox="1"/>
          <p:nvPr/>
        </p:nvSpPr>
        <p:spPr>
          <a:xfrm>
            <a:off x="9445752" y="2514600"/>
            <a:ext cx="2240280" cy="1325880"/>
          </a:xfrm>
          <a:prstGeom prst="rect">
            <a:avLst/>
          </a:prstGeom>
          <a:noFill/>
        </p:spPr>
        <p:txBody>
          <a:bodyPr wrap="square" lIns="0" tIns="0" rIns="0" bIns="0" anchor="ctr">
            <a:spAutoFit/>
          </a:bodyPr>
          <a:lstStyle/>
          <a:p>
            <a:pPr algn="l">
              <a:spcAft>
                <a:spcPts val="600"/>
              </a:spcAft>
            </a:pPr>
            <a:r>
              <a:rPr sz="2000" b="0" i="0">
                <a:solidFill>
                  <a:srgbClr val="111111"/>
                </a:solidFill>
                <a:latin typeface="Arial Black"/>
              </a:rPr>
              <a:t>4. Compare 7 models</a:t>
            </a:r>
          </a:p>
        </p:txBody>
      </p:sp>
      <p:sp>
        <p:nvSpPr>
          <p:cNvPr id="23" name="Stage 5"/>
          <p:cNvSpPr/>
          <p:nvPr/>
        </p:nvSpPr>
        <p:spPr>
          <a:xfrm>
            <a:off x="12106656" y="2377440"/>
            <a:ext cx="2606040" cy="1600200"/>
          </a:xfrm>
          <a:prstGeom prst="roundRect">
            <a:avLst>
              <a:gd name="adj" fmla="val 914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Stage 5 name"/>
          <p:cNvSpPr txBox="1"/>
          <p:nvPr/>
        </p:nvSpPr>
        <p:spPr>
          <a:xfrm>
            <a:off x="12289536" y="2514600"/>
            <a:ext cx="2240280" cy="1325880"/>
          </a:xfrm>
          <a:prstGeom prst="rect">
            <a:avLst/>
          </a:prstGeom>
          <a:noFill/>
        </p:spPr>
        <p:txBody>
          <a:bodyPr wrap="square" lIns="0" tIns="0" rIns="0" bIns="0" anchor="ctr">
            <a:spAutoFit/>
          </a:bodyPr>
          <a:lstStyle/>
          <a:p>
            <a:pPr algn="l">
              <a:spcAft>
                <a:spcPts val="600"/>
              </a:spcAft>
            </a:pPr>
            <a:r>
              <a:rPr sz="2000" b="0" i="0">
                <a:solidFill>
                  <a:srgbClr val="111111"/>
                </a:solidFill>
                <a:latin typeface="Arial Black"/>
              </a:rPr>
              <a:t>5. Tune + ensembles</a:t>
            </a:r>
          </a:p>
        </p:txBody>
      </p:sp>
      <p:sp>
        <p:nvSpPr>
          <p:cNvPr id="25" name="Stage 6"/>
          <p:cNvSpPr/>
          <p:nvPr/>
        </p:nvSpPr>
        <p:spPr>
          <a:xfrm>
            <a:off x="14950440" y="2377440"/>
            <a:ext cx="2606040" cy="1600200"/>
          </a:xfrm>
          <a:prstGeom prst="roundRect">
            <a:avLst>
              <a:gd name="adj" fmla="val 9142"/>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Stage 6 name"/>
          <p:cNvSpPr txBox="1"/>
          <p:nvPr/>
        </p:nvSpPr>
        <p:spPr>
          <a:xfrm>
            <a:off x="15133320" y="2514600"/>
            <a:ext cx="2240280" cy="1325880"/>
          </a:xfrm>
          <a:prstGeom prst="rect">
            <a:avLst/>
          </a:prstGeom>
          <a:noFill/>
        </p:spPr>
        <p:txBody>
          <a:bodyPr wrap="square" lIns="0" tIns="0" rIns="0" bIns="0" anchor="ctr">
            <a:spAutoFit/>
          </a:bodyPr>
          <a:lstStyle/>
          <a:p>
            <a:pPr algn="l">
              <a:spcAft>
                <a:spcPts val="600"/>
              </a:spcAft>
            </a:pPr>
            <a:r>
              <a:rPr sz="2000" b="0" i="0">
                <a:solidFill>
                  <a:srgbClr val="89EDD0"/>
                </a:solidFill>
                <a:latin typeface="Arial Black"/>
              </a:rPr>
              <a:t>6. Test once</a:t>
            </a:r>
          </a:p>
        </p:txBody>
      </p:sp>
      <p:sp>
        <p:nvSpPr>
          <p:cNvPr id="27" name="Split card"/>
          <p:cNvSpPr/>
          <p:nvPr/>
        </p:nvSpPr>
        <p:spPr>
          <a:xfrm>
            <a:off x="731520" y="4343400"/>
            <a:ext cx="16824960" cy="2331720"/>
          </a:xfrm>
          <a:prstGeom prst="roundRect">
            <a:avLst>
              <a:gd name="adj" fmla="val 6274"/>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Split title"/>
          <p:cNvSpPr txBox="1"/>
          <p:nvPr/>
        </p:nvSpPr>
        <p:spPr>
          <a:xfrm>
            <a:off x="1051560" y="4498848"/>
            <a:ext cx="16184880" cy="457200"/>
          </a:xfrm>
          <a:prstGeom prst="rect">
            <a:avLst/>
          </a:prstGeom>
          <a:noFill/>
        </p:spPr>
        <p:txBody>
          <a:bodyPr wrap="square" lIns="0" tIns="0" rIns="0" bIns="0" anchor="t">
            <a:spAutoFit/>
          </a:bodyPr>
          <a:lstStyle/>
          <a:p>
            <a:pPr algn="l">
              <a:spcAft>
                <a:spcPts val="600"/>
              </a:spcAft>
            </a:pPr>
            <a:r>
              <a:rPr sz="2200" b="1" i="0">
                <a:solidFill>
                  <a:srgbClr val="111111"/>
                </a:solidFill>
                <a:latin typeface="Calibri"/>
              </a:rPr>
              <a:t>The time split: train on the past, test on the future</a:t>
            </a:r>
          </a:p>
        </p:txBody>
      </p:sp>
      <p:sp>
        <p:nvSpPr>
          <p:cNvPr id="29" name="Train bar"/>
          <p:cNvSpPr/>
          <p:nvPr/>
        </p:nvSpPr>
        <p:spPr>
          <a:xfrm>
            <a:off x="1051560" y="5120640"/>
            <a:ext cx="11761342" cy="960120"/>
          </a:xfrm>
          <a:prstGeom prst="roundRect">
            <a:avLst>
              <a:gd name="adj" fmla="val 9523"/>
            </a:avLst>
          </a:prstGeom>
          <a:solidFill>
            <a:srgbClr val="366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0" name="Train label"/>
          <p:cNvSpPr txBox="1"/>
          <p:nvPr/>
        </p:nvSpPr>
        <p:spPr>
          <a:xfrm>
            <a:off x="1325880" y="5120640"/>
            <a:ext cx="11212702" cy="960120"/>
          </a:xfrm>
          <a:prstGeom prst="rect">
            <a:avLst/>
          </a:prstGeom>
          <a:noFill/>
        </p:spPr>
        <p:txBody>
          <a:bodyPr wrap="square" lIns="0" tIns="0" rIns="0" bIns="0" anchor="ctr">
            <a:spAutoFit/>
          </a:bodyPr>
          <a:lstStyle/>
          <a:p>
            <a:pPr algn="l">
              <a:spcAft>
                <a:spcPts val="600"/>
              </a:spcAft>
            </a:pPr>
            <a:r>
              <a:rPr sz="1900" b="1" i="0">
                <a:solidFill>
                  <a:srgbClr val="FFFFFF"/>
                </a:solidFill>
                <a:latin typeface="Calibri"/>
              </a:rPr>
              <a:t>Train  </a:t>
            </a:r>
            <a:r>
              <a:rPr sz="1900" b="0" i="0">
                <a:solidFill>
                  <a:srgbClr val="FFFFFF"/>
                </a:solidFill>
                <a:latin typeface="Calibri"/>
              </a:rPr>
              <a:t>Jan 2017 – Mar 2018 · 64,038 orders · 8.0% late</a:t>
            </a:r>
          </a:p>
        </p:txBody>
      </p:sp>
      <p:sp>
        <p:nvSpPr>
          <p:cNvPr id="31" name="Gap bar"/>
          <p:cNvSpPr/>
          <p:nvPr/>
        </p:nvSpPr>
        <p:spPr>
          <a:xfrm>
            <a:off x="12812902" y="5120640"/>
            <a:ext cx="379165" cy="960120"/>
          </a:xfrm>
          <a:prstGeom prst="roundRect">
            <a:avLst>
              <a:gd name="adj" fmla="val 4823"/>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st bar"/>
          <p:cNvSpPr/>
          <p:nvPr/>
        </p:nvSpPr>
        <p:spPr>
          <a:xfrm>
            <a:off x="13192068" y="5120640"/>
            <a:ext cx="4044371" cy="960120"/>
          </a:xfrm>
          <a:prstGeom prst="roundRect">
            <a:avLst>
              <a:gd name="adj" fmla="val 9523"/>
            </a:avLst>
          </a:prstGeom>
          <a:solidFill>
            <a:srgbClr val="69D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Test label"/>
          <p:cNvSpPr txBox="1"/>
          <p:nvPr/>
        </p:nvSpPr>
        <p:spPr>
          <a:xfrm>
            <a:off x="13466388" y="5120640"/>
            <a:ext cx="3678611" cy="960120"/>
          </a:xfrm>
          <a:prstGeom prst="rect">
            <a:avLst/>
          </a:prstGeom>
          <a:noFill/>
        </p:spPr>
        <p:txBody>
          <a:bodyPr wrap="square" lIns="0" tIns="0" rIns="0" bIns="0" anchor="ctr">
            <a:spAutoFit/>
          </a:bodyPr>
          <a:lstStyle/>
          <a:p>
            <a:pPr algn="l">
              <a:spcAft>
                <a:spcPts val="600"/>
              </a:spcAft>
            </a:pPr>
            <a:r>
              <a:rPr sz="1900" b="1" i="0">
                <a:solidFill>
                  <a:srgbClr val="111111"/>
                </a:solidFill>
                <a:latin typeface="Calibri"/>
              </a:rPr>
              <a:t>Test  </a:t>
            </a:r>
            <a:r>
              <a:rPr sz="1900" b="0" i="0">
                <a:solidFill>
                  <a:srgbClr val="111111"/>
                </a:solidFill>
                <a:latin typeface="Calibri"/>
              </a:rPr>
              <a:t>Apr – Jul 2018 · 21,333 · 4.1% late</a:t>
            </a:r>
          </a:p>
        </p:txBody>
      </p:sp>
      <p:sp>
        <p:nvSpPr>
          <p:cNvPr id="34" name="Gap label"/>
          <p:cNvSpPr txBox="1"/>
          <p:nvPr/>
        </p:nvSpPr>
        <p:spPr>
          <a:xfrm>
            <a:off x="9886822" y="6144768"/>
            <a:ext cx="3291840" cy="411480"/>
          </a:xfrm>
          <a:prstGeom prst="rect">
            <a:avLst/>
          </a:prstGeom>
          <a:noFill/>
        </p:spPr>
        <p:txBody>
          <a:bodyPr wrap="square" lIns="0" tIns="0" rIns="0" bIns="0" anchor="t">
            <a:spAutoFit/>
          </a:bodyPr>
          <a:lstStyle/>
          <a:p>
            <a:pPr algn="r">
              <a:spcAft>
                <a:spcPts val="600"/>
              </a:spcAft>
            </a:pPr>
            <a:r>
              <a:rPr sz="1600" b="1" i="0">
                <a:solidFill>
                  <a:srgbClr val="111111"/>
                </a:solidFill>
                <a:latin typeface="Calibri"/>
              </a:rPr>
              <a:t>2,000-order gap ▲</a:t>
            </a:r>
          </a:p>
        </p:txBody>
      </p:sp>
      <p:sp>
        <p:nvSpPr>
          <p:cNvPr id="35" name="Pipeline card"/>
          <p:cNvSpPr/>
          <p:nvPr/>
        </p:nvSpPr>
        <p:spPr>
          <a:xfrm>
            <a:off x="731520" y="6903720"/>
            <a:ext cx="16824960" cy="1828800"/>
          </a:xfrm>
          <a:prstGeom prst="roundRect">
            <a:avLst>
              <a:gd name="adj" fmla="val 8000"/>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Process bullets"/>
          <p:cNvSpPr txBox="1"/>
          <p:nvPr/>
        </p:nvSpPr>
        <p:spPr>
          <a:xfrm>
            <a:off x="1051560" y="7114032"/>
            <a:ext cx="16184880" cy="1554480"/>
          </a:xfrm>
          <a:prstGeom prst="rect">
            <a:avLst/>
          </a:prstGeom>
          <a:noFill/>
        </p:spPr>
        <p:txBody>
          <a:bodyPr wrap="square" lIns="0" tIns="0" rIns="0" bIns="0" anchor="t">
            <a:spAutoFit/>
          </a:bodyPr>
          <a:lstStyle/>
          <a:p>
            <a:pPr marL="292608" indent="-292608" algn="l">
              <a:spcAft>
                <a:spcPts val="600"/>
              </a:spcAft>
              <a:buClr>
                <a:srgbClr val="3669E8"/>
              </a:buClr>
              <a:buChar char="•"/>
            </a:pPr>
            <a:r>
              <a:rPr sz="2000" b="1" i="0">
                <a:solidFill>
                  <a:srgbClr val="111111"/>
                </a:solidFill>
                <a:latin typeface="Calibri"/>
              </a:rPr>
              <a:t>One leak-free pipeline </a:t>
            </a:r>
            <a:r>
              <a:rPr sz="2000" b="0" i="0">
                <a:solidFill>
                  <a:srgbClr val="111111"/>
                </a:solidFill>
                <a:latin typeface="Calibri"/>
              </a:rPr>
              <a:t>refitted inside every fold (103 inputs)</a:t>
            </a:r>
          </a:p>
          <a:p>
            <a:pPr marL="292608" indent="-292608" algn="l">
              <a:spcAft>
                <a:spcPts val="600"/>
              </a:spcAft>
              <a:buClr>
                <a:srgbClr val="3669E8"/>
              </a:buClr>
              <a:buChar char="•"/>
            </a:pPr>
            <a:r>
              <a:rPr sz="2000" b="1" i="0">
                <a:solidFill>
                  <a:srgbClr val="111111"/>
                </a:solidFill>
                <a:latin typeface="Calibri"/>
              </a:rPr>
              <a:t>5-fold time-series CV </a:t>
            </a:r>
            <a:r>
              <a:rPr sz="2000" b="0" i="0">
                <a:solidFill>
                  <a:srgbClr val="111111"/>
                </a:solidFill>
                <a:latin typeface="Calibri"/>
              </a:rPr>
              <a:t>with the same 2,000-order gap</a:t>
            </a:r>
          </a:p>
          <a:p>
            <a:pPr marL="292608" indent="-292608" algn="l">
              <a:spcAft>
                <a:spcPts val="600"/>
              </a:spcAft>
              <a:buClr>
                <a:srgbClr val="3669E8"/>
              </a:buClr>
              <a:buChar char="•"/>
            </a:pPr>
            <a:r>
              <a:rPr sz="2000" b="1" i="0">
                <a:solidFill>
                  <a:srgbClr val="111111"/>
                </a:solidFill>
                <a:latin typeface="Calibri"/>
              </a:rPr>
              <a:t>A random split would have flattered us: </a:t>
            </a:r>
            <a:r>
              <a:rPr sz="2000" b="0" i="0">
                <a:solidFill>
                  <a:srgbClr val="111111"/>
                </a:solidFill>
                <a:latin typeface="Calibri"/>
              </a:rPr>
              <a:t>27.7% recall vs the honest 23.7%</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PROCESS · INSIGHT FROM EXPLORING THE DATA</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Late deliveries happen when the promise is too short for the distance</a:t>
            </a:r>
          </a:p>
        </p:txBody>
      </p:sp>
      <p:sp>
        <p:nvSpPr>
          <p:cNvPr id="15" name="Heatmap card"/>
          <p:cNvSpPr/>
          <p:nvPr/>
        </p:nvSpPr>
        <p:spPr>
          <a:xfrm>
            <a:off x="731520" y="2377440"/>
            <a:ext cx="10424160" cy="6355080"/>
          </a:xfrm>
          <a:prstGeom prst="roundRect">
            <a:avLst>
              <a:gd name="adj" fmla="val 230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Heatmap title"/>
          <p:cNvSpPr txBox="1"/>
          <p:nvPr/>
        </p:nvSpPr>
        <p:spPr>
          <a:xfrm>
            <a:off x="1097280" y="2606040"/>
            <a:ext cx="9692640" cy="457200"/>
          </a:xfrm>
          <a:prstGeom prst="rect">
            <a:avLst/>
          </a:prstGeom>
          <a:noFill/>
        </p:spPr>
        <p:txBody>
          <a:bodyPr wrap="square" lIns="0" tIns="0" rIns="0" bIns="0" anchor="t">
            <a:spAutoFit/>
          </a:bodyPr>
          <a:lstStyle/>
          <a:p>
            <a:pPr algn="l">
              <a:spcAft>
                <a:spcPts val="600"/>
              </a:spcAft>
            </a:pPr>
            <a:r>
              <a:rPr sz="2100" b="1" i="0">
                <a:solidFill>
                  <a:srgbClr val="111111"/>
                </a:solidFill>
                <a:latin typeface="Calibri"/>
              </a:rPr>
              <a:t>Late rate by distance and promised window (training period)</a:t>
            </a:r>
          </a:p>
        </p:txBody>
      </p:sp>
      <p:graphicFrame>
        <p:nvGraphicFramePr>
          <p:cNvPr id="17" name="Heatmap table"/>
          <p:cNvGraphicFramePr>
            <a:graphicFrameLocks noGrp="1"/>
          </p:cNvGraphicFramePr>
          <p:nvPr/>
        </p:nvGraphicFramePr>
        <p:xfrm>
          <a:off x="1097280" y="3200400"/>
          <a:ext cx="9692640" cy="4937760"/>
        </p:xfrm>
        <a:graphic>
          <a:graphicData uri="http://schemas.openxmlformats.org/drawingml/2006/table">
            <a:tbl>
              <a:tblPr>
                <a:tableStyleId>{2D5ABB26-0587-4C30-8999-92F81FD0307C}</a:tableStyleId>
              </a:tblPr>
              <a:tblGrid>
                <a:gridCol w="1920240">
                  <a:extLst>
                    <a:ext uri="{9D8B030D-6E8A-4147-A177-3AD203B41FA5}">
                      <a16:colId xmlns:a16="http://schemas.microsoft.com/office/drawing/2014/main" val="20000"/>
                    </a:ext>
                  </a:extLst>
                </a:gridCol>
                <a:gridCol w="1554480">
                  <a:extLst>
                    <a:ext uri="{9D8B030D-6E8A-4147-A177-3AD203B41FA5}">
                      <a16:colId xmlns:a16="http://schemas.microsoft.com/office/drawing/2014/main" val="20001"/>
                    </a:ext>
                  </a:extLst>
                </a:gridCol>
                <a:gridCol w="155448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5544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822960">
                <a:tc>
                  <a:txBody>
                    <a:bodyPr/>
                    <a:lstStyle/>
                    <a:p>
                      <a:pPr algn="ctr"/>
                      <a:r>
                        <a:rPr sz="1300" b="0">
                          <a:solidFill>
                            <a:srgbClr val="8A8FA3"/>
                          </a:solidFill>
                          <a:latin typeface="Calibri"/>
                        </a:rPr>
                        <a:t>Distance ↓ / promise →</a:t>
                      </a:r>
                    </a:p>
                  </a:txBody>
                  <a:tcPr marL="109728" marR="109728" marT="54864" marB="54864" anchor="ctr">
                    <a:noFill/>
                  </a:tcPr>
                </a:tc>
                <a:tc>
                  <a:txBody>
                    <a:bodyPr/>
                    <a:lstStyle/>
                    <a:p>
                      <a:pPr algn="ctr"/>
                      <a:r>
                        <a:rPr sz="1700" b="1">
                          <a:solidFill>
                            <a:srgbClr val="111111"/>
                          </a:solidFill>
                          <a:latin typeface="Calibri"/>
                        </a:rPr>
                        <a:t>0–18 d</a:t>
                      </a:r>
                    </a:p>
                  </a:txBody>
                  <a:tcPr marL="109728" marR="109728" marT="54864" marB="54864" anchor="ctr">
                    <a:noFill/>
                  </a:tcPr>
                </a:tc>
                <a:tc>
                  <a:txBody>
                    <a:bodyPr/>
                    <a:lstStyle/>
                    <a:p>
                      <a:pPr algn="ctr"/>
                      <a:r>
                        <a:rPr sz="1700" b="1">
                          <a:solidFill>
                            <a:srgbClr val="111111"/>
                          </a:solidFill>
                          <a:latin typeface="Calibri"/>
                        </a:rPr>
                        <a:t>18–22 d</a:t>
                      </a:r>
                    </a:p>
                  </a:txBody>
                  <a:tcPr marL="109728" marR="109728" marT="54864" marB="54864" anchor="ctr">
                    <a:noFill/>
                  </a:tcPr>
                </a:tc>
                <a:tc>
                  <a:txBody>
                    <a:bodyPr/>
                    <a:lstStyle/>
                    <a:p>
                      <a:pPr algn="ctr"/>
                      <a:r>
                        <a:rPr sz="1700" b="1">
                          <a:solidFill>
                            <a:srgbClr val="111111"/>
                          </a:solidFill>
                          <a:latin typeface="Calibri"/>
                        </a:rPr>
                        <a:t>22–25 d</a:t>
                      </a:r>
                    </a:p>
                  </a:txBody>
                  <a:tcPr marL="109728" marR="109728" marT="54864" marB="54864" anchor="ctr">
                    <a:noFill/>
                  </a:tcPr>
                </a:tc>
                <a:tc>
                  <a:txBody>
                    <a:bodyPr/>
                    <a:lstStyle/>
                    <a:p>
                      <a:pPr algn="ctr"/>
                      <a:r>
                        <a:rPr sz="1700" b="1">
                          <a:solidFill>
                            <a:srgbClr val="111111"/>
                          </a:solidFill>
                          <a:latin typeface="Calibri"/>
                        </a:rPr>
                        <a:t>25–30 d</a:t>
                      </a:r>
                    </a:p>
                  </a:txBody>
                  <a:tcPr marL="109728" marR="109728" marT="54864" marB="54864" anchor="ctr">
                    <a:noFill/>
                  </a:tcPr>
                </a:tc>
                <a:tc>
                  <a:txBody>
                    <a:bodyPr/>
                    <a:lstStyle/>
                    <a:p>
                      <a:pPr algn="ctr"/>
                      <a:r>
                        <a:rPr sz="1700" b="1">
                          <a:solidFill>
                            <a:srgbClr val="111111"/>
                          </a:solidFill>
                          <a:latin typeface="Calibri"/>
                        </a:rPr>
                        <a:t>30+ d</a:t>
                      </a:r>
                    </a:p>
                  </a:txBody>
                  <a:tcPr marL="109728" marR="109728" marT="54864" marB="54864" anchor="ctr">
                    <a:noFill/>
                  </a:tcPr>
                </a:tc>
                <a:extLst>
                  <a:ext uri="{0D108BD9-81ED-4DB2-BD59-A6C34878D82A}">
                    <a16:rowId xmlns:a16="http://schemas.microsoft.com/office/drawing/2014/main" val="10000"/>
                  </a:ext>
                </a:extLst>
              </a:tr>
              <a:tr h="822960">
                <a:tc>
                  <a:txBody>
                    <a:bodyPr/>
                    <a:lstStyle/>
                    <a:p>
                      <a:pPr algn="r"/>
                      <a:r>
                        <a:rPr sz="1700" b="1">
                          <a:solidFill>
                            <a:srgbClr val="111111"/>
                          </a:solidFill>
                          <a:latin typeface="Calibri"/>
                        </a:rPr>
                        <a:t>0–137 km</a:t>
                      </a:r>
                    </a:p>
                  </a:txBody>
                  <a:tcPr marL="109728" marR="109728" marT="54864" marB="54864" anchor="ctr">
                    <a:noFill/>
                  </a:tcPr>
                </a:tc>
                <a:tc>
                  <a:txBody>
                    <a:bodyPr/>
                    <a:lstStyle/>
                    <a:p>
                      <a:pPr algn="ctr"/>
                      <a:r>
                        <a:rPr sz="2000" b="1">
                          <a:solidFill>
                            <a:srgbClr val="111111"/>
                          </a:solidFill>
                          <a:latin typeface="Calibri"/>
                        </a:rPr>
                        <a:t>4.5%</a:t>
                      </a:r>
                    </a:p>
                  </a:txBody>
                  <a:tcPr marL="109728" marR="109728" marT="54864" marB="54864" anchor="ctr">
                    <a:lnR w="38100">
                      <a:solidFill>
                        <a:srgbClr val="FFFFFF"/>
                      </a:solidFill>
                    </a:lnR>
                    <a:lnB w="38100">
                      <a:solidFill>
                        <a:srgbClr val="FFFFFF"/>
                      </a:solidFill>
                    </a:lnB>
                    <a:solidFill>
                      <a:srgbClr val="9FB7F5"/>
                    </a:solidFill>
                  </a:tcPr>
                </a:tc>
                <a:tc>
                  <a:txBody>
                    <a:bodyPr/>
                    <a:lstStyle/>
                    <a:p>
                      <a:pPr algn="ctr"/>
                      <a:r>
                        <a:rPr sz="2000" b="1">
                          <a:solidFill>
                            <a:srgbClr val="111111"/>
                          </a:solidFill>
                          <a:latin typeface="Calibri"/>
                        </a:rPr>
                        <a:t>3.2%</a:t>
                      </a:r>
                    </a:p>
                  </a:txBody>
                  <a:tcPr marL="109728" marR="109728" marT="54864" marB="54864" anchor="ctr">
                    <a:lnL w="38100">
                      <a:solidFill>
                        <a:srgbClr val="FFFFFF"/>
                      </a:solidFill>
                    </a:lnL>
                    <a:lnR w="38100">
                      <a:solidFill>
                        <a:srgbClr val="FFFFFF"/>
                      </a:solidFill>
                    </a:lnR>
                    <a:lnB w="38100">
                      <a:solidFill>
                        <a:srgbClr val="FFFFFF"/>
                      </a:solidFill>
                    </a:lnB>
                    <a:solidFill>
                      <a:srgbClr val="B5C8F7"/>
                    </a:solidFill>
                  </a:tcPr>
                </a:tc>
                <a:tc>
                  <a:txBody>
                    <a:bodyPr/>
                    <a:lstStyle/>
                    <a:p>
                      <a:pPr algn="ctr"/>
                      <a:r>
                        <a:rPr sz="2000" b="1">
                          <a:solidFill>
                            <a:srgbClr val="111111"/>
                          </a:solidFill>
                          <a:latin typeface="Calibri"/>
                        </a:rPr>
                        <a:t>3.5%</a:t>
                      </a:r>
                    </a:p>
                  </a:txBody>
                  <a:tcPr marL="109728" marR="109728" marT="54864" marB="54864" anchor="ctr">
                    <a:lnL w="38100">
                      <a:solidFill>
                        <a:srgbClr val="FFFFFF"/>
                      </a:solidFill>
                    </a:lnL>
                    <a:lnR w="38100">
                      <a:solidFill>
                        <a:srgbClr val="FFFFFF"/>
                      </a:solidFill>
                    </a:lnR>
                    <a:lnB w="38100">
                      <a:solidFill>
                        <a:srgbClr val="FFFFFF"/>
                      </a:solidFill>
                    </a:lnB>
                    <a:solidFill>
                      <a:srgbClr val="B0C4F7"/>
                    </a:solidFill>
                  </a:tcPr>
                </a:tc>
                <a:tc>
                  <a:txBody>
                    <a:bodyPr/>
                    <a:lstStyle/>
                    <a:p>
                      <a:pPr algn="ctr"/>
                      <a:r>
                        <a:rPr sz="2000" b="1">
                          <a:solidFill>
                            <a:srgbClr val="111111"/>
                          </a:solidFill>
                          <a:latin typeface="Calibri"/>
                        </a:rPr>
                        <a:t>4.1%</a:t>
                      </a:r>
                    </a:p>
                  </a:txBody>
                  <a:tcPr marL="109728" marR="109728" marT="54864" marB="54864" anchor="ctr">
                    <a:lnL w="38100">
                      <a:solidFill>
                        <a:srgbClr val="FFFFFF"/>
                      </a:solidFill>
                    </a:lnL>
                    <a:lnR w="38100">
                      <a:solidFill>
                        <a:srgbClr val="FFFFFF"/>
                      </a:solidFill>
                    </a:lnR>
                    <a:lnB w="38100">
                      <a:solidFill>
                        <a:srgbClr val="FFFFFF"/>
                      </a:solidFill>
                    </a:lnB>
                    <a:solidFill>
                      <a:srgbClr val="A6BCF6"/>
                    </a:solidFill>
                  </a:tcPr>
                </a:tc>
                <a:tc>
                  <a:txBody>
                    <a:bodyPr/>
                    <a:lstStyle/>
                    <a:p>
                      <a:pPr algn="ctr"/>
                      <a:r>
                        <a:rPr sz="2000" b="1">
                          <a:solidFill>
                            <a:srgbClr val="111111"/>
                          </a:solidFill>
                          <a:latin typeface="Calibri"/>
                        </a:rPr>
                        <a:t>1.7%</a:t>
                      </a:r>
                    </a:p>
                  </a:txBody>
                  <a:tcPr marL="109728" marR="109728" marT="54864" marB="54864" anchor="ctr">
                    <a:lnL w="38100">
                      <a:solidFill>
                        <a:srgbClr val="FFFFFF"/>
                      </a:solidFill>
                    </a:lnL>
                    <a:lnR w="38100">
                      <a:solidFill>
                        <a:srgbClr val="FFFFFF"/>
                      </a:solidFill>
                    </a:lnR>
                    <a:lnB w="38100">
                      <a:solidFill>
                        <a:srgbClr val="FFFFFF"/>
                      </a:solidFill>
                    </a:lnB>
                    <a:solidFill>
                      <a:srgbClr val="D0DBFB"/>
                    </a:solidFill>
                  </a:tcPr>
                </a:tc>
                <a:extLst>
                  <a:ext uri="{0D108BD9-81ED-4DB2-BD59-A6C34878D82A}">
                    <a16:rowId xmlns:a16="http://schemas.microsoft.com/office/drawing/2014/main" val="10001"/>
                  </a:ext>
                </a:extLst>
              </a:tr>
              <a:tr h="822960">
                <a:tc>
                  <a:txBody>
                    <a:bodyPr/>
                    <a:lstStyle/>
                    <a:p>
                      <a:pPr algn="r"/>
                      <a:r>
                        <a:rPr sz="1700" b="1">
                          <a:solidFill>
                            <a:srgbClr val="111111"/>
                          </a:solidFill>
                          <a:latin typeface="Calibri"/>
                        </a:rPr>
                        <a:t>137–357 km</a:t>
                      </a:r>
                    </a:p>
                  </a:txBody>
                  <a:tcPr marL="109728" marR="109728" marT="54864" marB="54864" anchor="ctr">
                    <a:noFill/>
                  </a:tcPr>
                </a:tc>
                <a:tc>
                  <a:txBody>
                    <a:bodyPr/>
                    <a:lstStyle/>
                    <a:p>
                      <a:pPr algn="ctr"/>
                      <a:r>
                        <a:rPr sz="2000" b="1">
                          <a:solidFill>
                            <a:srgbClr val="FFFFFF"/>
                          </a:solidFill>
                          <a:latin typeface="Calibri"/>
                        </a:rPr>
                        <a:t>11.3%</a:t>
                      </a:r>
                    </a:p>
                  </a:txBody>
                  <a:tcPr marL="109728" marR="109728" marT="54864" marB="54864" anchor="ctr">
                    <a:lnR w="38100">
                      <a:solidFill>
                        <a:srgbClr val="FFFFFF"/>
                      </a:solidFill>
                    </a:lnR>
                    <a:lnT w="38100">
                      <a:solidFill>
                        <a:srgbClr val="FFFFFF"/>
                      </a:solidFill>
                    </a:lnT>
                    <a:lnB w="38100">
                      <a:solidFill>
                        <a:srgbClr val="FFFFFF"/>
                      </a:solidFill>
                    </a:lnB>
                    <a:solidFill>
                      <a:srgbClr val="3364DF"/>
                    </a:solidFill>
                  </a:tcPr>
                </a:tc>
                <a:tc>
                  <a:txBody>
                    <a:bodyPr/>
                    <a:lstStyle/>
                    <a:p>
                      <a:pPr algn="ctr"/>
                      <a:r>
                        <a:rPr sz="2000" b="1">
                          <a:solidFill>
                            <a:srgbClr val="111111"/>
                          </a:solidFill>
                          <a:latin typeface="Calibri"/>
                        </a:rPr>
                        <a:t>8.3%</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5C85EC"/>
                    </a:solidFill>
                  </a:tcPr>
                </a:tc>
                <a:tc>
                  <a:txBody>
                    <a:bodyPr/>
                    <a:lstStyle/>
                    <a:p>
                      <a:pPr algn="ctr"/>
                      <a:r>
                        <a:rPr sz="2000" b="1">
                          <a:solidFill>
                            <a:srgbClr val="111111"/>
                          </a:solidFill>
                          <a:latin typeface="Calibri"/>
                        </a:rPr>
                        <a:t>5.5%</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8DAAF2"/>
                    </a:solidFill>
                  </a:tcPr>
                </a:tc>
                <a:tc>
                  <a:txBody>
                    <a:bodyPr/>
                    <a:lstStyle/>
                    <a:p>
                      <a:pPr algn="ctr"/>
                      <a:r>
                        <a:rPr sz="2000" b="1">
                          <a:solidFill>
                            <a:srgbClr val="111111"/>
                          </a:solidFill>
                          <a:latin typeface="Calibri"/>
                        </a:rPr>
                        <a:t>5.1%</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94AFF3"/>
                    </a:solidFill>
                  </a:tcPr>
                </a:tc>
                <a:tc>
                  <a:txBody>
                    <a:bodyPr/>
                    <a:lstStyle/>
                    <a:p>
                      <a:pPr algn="ctr"/>
                      <a:r>
                        <a:rPr sz="2000" b="1">
                          <a:solidFill>
                            <a:srgbClr val="111111"/>
                          </a:solidFill>
                          <a:latin typeface="Calibri"/>
                        </a:rPr>
                        <a:t>6.0%</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84A3F1"/>
                    </a:solidFill>
                  </a:tcPr>
                </a:tc>
                <a:extLst>
                  <a:ext uri="{0D108BD9-81ED-4DB2-BD59-A6C34878D82A}">
                    <a16:rowId xmlns:a16="http://schemas.microsoft.com/office/drawing/2014/main" val="10002"/>
                  </a:ext>
                </a:extLst>
              </a:tr>
              <a:tr h="822960">
                <a:tc>
                  <a:txBody>
                    <a:bodyPr/>
                    <a:lstStyle/>
                    <a:p>
                      <a:pPr algn="r"/>
                      <a:r>
                        <a:rPr sz="1700" b="1">
                          <a:solidFill>
                            <a:srgbClr val="111111"/>
                          </a:solidFill>
                          <a:latin typeface="Calibri"/>
                        </a:rPr>
                        <a:t>357–547 km</a:t>
                      </a:r>
                    </a:p>
                  </a:txBody>
                  <a:tcPr marL="109728" marR="109728" marT="54864" marB="54864" anchor="ctr">
                    <a:noFill/>
                  </a:tcPr>
                </a:tc>
                <a:tc>
                  <a:txBody>
                    <a:bodyPr/>
                    <a:lstStyle/>
                    <a:p>
                      <a:pPr algn="ctr"/>
                      <a:r>
                        <a:rPr sz="2000" b="1">
                          <a:solidFill>
                            <a:srgbClr val="FFFFFF"/>
                          </a:solidFill>
                          <a:latin typeface="Calibri"/>
                        </a:rPr>
                        <a:t>13.1%</a:t>
                      </a:r>
                    </a:p>
                  </a:txBody>
                  <a:tcPr marL="109728" marR="109728" marT="54864" marB="54864" anchor="ctr">
                    <a:lnR w="38100">
                      <a:solidFill>
                        <a:srgbClr val="FFFFFF"/>
                      </a:solidFill>
                    </a:lnR>
                    <a:lnT w="38100">
                      <a:solidFill>
                        <a:srgbClr val="FFFFFF"/>
                      </a:solidFill>
                    </a:lnT>
                    <a:lnB w="38100">
                      <a:solidFill>
                        <a:srgbClr val="FFFFFF"/>
                      </a:solidFill>
                    </a:lnB>
                    <a:solidFill>
                      <a:srgbClr val="2E5ACC"/>
                    </a:solidFill>
                  </a:tcPr>
                </a:tc>
                <a:tc>
                  <a:txBody>
                    <a:bodyPr/>
                    <a:lstStyle/>
                    <a:p>
                      <a:pPr algn="ctr"/>
                      <a:r>
                        <a:rPr sz="2000" b="1">
                          <a:solidFill>
                            <a:srgbClr val="FFFFFF"/>
                          </a:solidFill>
                          <a:latin typeface="Calibri"/>
                        </a:rPr>
                        <a:t>9.9%</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4070E9"/>
                    </a:solidFill>
                  </a:tcPr>
                </a:tc>
                <a:tc>
                  <a:txBody>
                    <a:bodyPr/>
                    <a:lstStyle/>
                    <a:p>
                      <a:pPr algn="ctr"/>
                      <a:r>
                        <a:rPr sz="2000" b="1">
                          <a:solidFill>
                            <a:srgbClr val="111111"/>
                          </a:solidFill>
                          <a:latin typeface="Calibri"/>
                        </a:rPr>
                        <a:t>7.6%</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688EEE"/>
                    </a:solidFill>
                  </a:tcPr>
                </a:tc>
                <a:tc>
                  <a:txBody>
                    <a:bodyPr/>
                    <a:lstStyle/>
                    <a:p>
                      <a:pPr algn="ctr"/>
                      <a:r>
                        <a:rPr sz="2000" b="1">
                          <a:solidFill>
                            <a:srgbClr val="111111"/>
                          </a:solidFill>
                          <a:latin typeface="Calibri"/>
                        </a:rPr>
                        <a:t>6.8%</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7699F0"/>
                    </a:solidFill>
                  </a:tcPr>
                </a:tc>
                <a:tc>
                  <a:txBody>
                    <a:bodyPr/>
                    <a:lstStyle/>
                    <a:p>
                      <a:pPr algn="ctr"/>
                      <a:r>
                        <a:rPr sz="2000" b="1">
                          <a:solidFill>
                            <a:srgbClr val="111111"/>
                          </a:solidFill>
                          <a:latin typeface="Calibri"/>
                        </a:rPr>
                        <a:t>4.2%</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A4BBF5"/>
                    </a:solidFill>
                  </a:tcPr>
                </a:tc>
                <a:extLst>
                  <a:ext uri="{0D108BD9-81ED-4DB2-BD59-A6C34878D82A}">
                    <a16:rowId xmlns:a16="http://schemas.microsoft.com/office/drawing/2014/main" val="10003"/>
                  </a:ext>
                </a:extLst>
              </a:tr>
              <a:tr h="822960">
                <a:tc>
                  <a:txBody>
                    <a:bodyPr/>
                    <a:lstStyle/>
                    <a:p>
                      <a:pPr algn="r"/>
                      <a:r>
                        <a:rPr sz="1700" b="1">
                          <a:solidFill>
                            <a:srgbClr val="111111"/>
                          </a:solidFill>
                          <a:latin typeface="Calibri"/>
                        </a:rPr>
                        <a:t>547–889 km</a:t>
                      </a:r>
                    </a:p>
                  </a:txBody>
                  <a:tcPr marL="109728" marR="109728" marT="54864" marB="54864" anchor="ctr">
                    <a:noFill/>
                  </a:tcPr>
                </a:tc>
                <a:tc>
                  <a:txBody>
                    <a:bodyPr/>
                    <a:lstStyle/>
                    <a:p>
                      <a:pPr algn="ctr"/>
                      <a:r>
                        <a:rPr sz="2000" b="1">
                          <a:solidFill>
                            <a:srgbClr val="FFFFFF"/>
                          </a:solidFill>
                          <a:latin typeface="Calibri"/>
                        </a:rPr>
                        <a:t>14.8%</a:t>
                      </a:r>
                    </a:p>
                  </a:txBody>
                  <a:tcPr marL="109728" marR="109728" marT="54864" marB="54864" anchor="ctr">
                    <a:lnR w="38100">
                      <a:solidFill>
                        <a:srgbClr val="FFFFFF"/>
                      </a:solidFill>
                    </a:lnR>
                    <a:lnT w="38100">
                      <a:solidFill>
                        <a:srgbClr val="FFFFFF"/>
                      </a:solidFill>
                    </a:lnT>
                    <a:lnB w="38100">
                      <a:solidFill>
                        <a:srgbClr val="FFFFFF"/>
                      </a:solidFill>
                    </a:lnB>
                    <a:solidFill>
                      <a:srgbClr val="2851BA"/>
                    </a:solidFill>
                  </a:tcPr>
                </a:tc>
                <a:tc>
                  <a:txBody>
                    <a:bodyPr/>
                    <a:lstStyle/>
                    <a:p>
                      <a:pPr algn="ctr"/>
                      <a:r>
                        <a:rPr sz="2000" b="1">
                          <a:solidFill>
                            <a:srgbClr val="FFFFFF"/>
                          </a:solidFill>
                          <a:latin typeface="Calibri"/>
                        </a:rPr>
                        <a:t>14.9%</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2850B9"/>
                    </a:solidFill>
                  </a:tcPr>
                </a:tc>
                <a:tc>
                  <a:txBody>
                    <a:bodyPr/>
                    <a:lstStyle/>
                    <a:p>
                      <a:pPr algn="ctr"/>
                      <a:r>
                        <a:rPr sz="2000" b="1">
                          <a:solidFill>
                            <a:srgbClr val="FFFFFF"/>
                          </a:solidFill>
                          <a:latin typeface="Calibri"/>
                        </a:rPr>
                        <a:t>9.4%</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4977EA"/>
                    </a:solidFill>
                  </a:tcPr>
                </a:tc>
                <a:tc>
                  <a:txBody>
                    <a:bodyPr/>
                    <a:lstStyle/>
                    <a:p>
                      <a:pPr algn="ctr"/>
                      <a:r>
                        <a:rPr sz="2000" b="1">
                          <a:solidFill>
                            <a:srgbClr val="111111"/>
                          </a:solidFill>
                          <a:latin typeface="Calibri"/>
                        </a:rPr>
                        <a:t>6.9%</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7597EF"/>
                    </a:solidFill>
                  </a:tcPr>
                </a:tc>
                <a:tc>
                  <a:txBody>
                    <a:bodyPr/>
                    <a:lstStyle/>
                    <a:p>
                      <a:pPr algn="ctr"/>
                      <a:r>
                        <a:rPr sz="2000" b="1">
                          <a:solidFill>
                            <a:srgbClr val="111111"/>
                          </a:solidFill>
                          <a:latin typeface="Calibri"/>
                        </a:rPr>
                        <a:t>5.4%</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8FABF3"/>
                    </a:solidFill>
                  </a:tcPr>
                </a:tc>
                <a:extLst>
                  <a:ext uri="{0D108BD9-81ED-4DB2-BD59-A6C34878D82A}">
                    <a16:rowId xmlns:a16="http://schemas.microsoft.com/office/drawing/2014/main" val="10004"/>
                  </a:ext>
                </a:extLst>
              </a:tr>
              <a:tr h="822960">
                <a:tc>
                  <a:txBody>
                    <a:bodyPr/>
                    <a:lstStyle/>
                    <a:p>
                      <a:pPr algn="r"/>
                      <a:r>
                        <a:rPr sz="1700" b="1">
                          <a:solidFill>
                            <a:srgbClr val="111111"/>
                          </a:solidFill>
                          <a:latin typeface="Calibri"/>
                        </a:rPr>
                        <a:t>889+ km</a:t>
                      </a:r>
                    </a:p>
                  </a:txBody>
                  <a:tcPr marL="109728" marR="109728" marT="54864" marB="54864" anchor="ctr">
                    <a:noFill/>
                  </a:tcPr>
                </a:tc>
                <a:tc>
                  <a:txBody>
                    <a:bodyPr/>
                    <a:lstStyle/>
                    <a:p>
                      <a:pPr algn="ctr"/>
                      <a:r>
                        <a:rPr sz="2000" b="1">
                          <a:solidFill>
                            <a:srgbClr val="FFFFFF"/>
                          </a:solidFill>
                          <a:latin typeface="Calibri"/>
                        </a:rPr>
                        <a:t>20.7%</a:t>
                      </a:r>
                    </a:p>
                  </a:txBody>
                  <a:tcPr marL="109728" marR="109728" marT="54864" marB="54864" anchor="ctr">
                    <a:lnR w="38100">
                      <a:solidFill>
                        <a:srgbClr val="FFFFFF"/>
                      </a:solidFill>
                    </a:lnR>
                    <a:lnT w="38100">
                      <a:solidFill>
                        <a:srgbClr val="FFFFFF"/>
                      </a:solidFill>
                    </a:lnT>
                    <a:lnB w="38100">
                      <a:solidFill>
                        <a:srgbClr val="FFFFFF"/>
                      </a:solidFill>
                    </a:lnB>
                    <a:solidFill>
                      <a:srgbClr val="16307D"/>
                    </a:solidFill>
                  </a:tcPr>
                </a:tc>
                <a:tc>
                  <a:txBody>
                    <a:bodyPr/>
                    <a:lstStyle/>
                    <a:p>
                      <a:pPr algn="ctr"/>
                      <a:r>
                        <a:rPr sz="2000" b="1">
                          <a:solidFill>
                            <a:srgbClr val="FFFFFF"/>
                          </a:solidFill>
                          <a:latin typeface="Calibri"/>
                        </a:rPr>
                        <a:t>20.1%</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183383"/>
                    </a:solidFill>
                  </a:tcPr>
                </a:tc>
                <a:tc>
                  <a:txBody>
                    <a:bodyPr/>
                    <a:lstStyle/>
                    <a:p>
                      <a:pPr algn="ctr"/>
                      <a:r>
                        <a:rPr sz="2000" b="1">
                          <a:solidFill>
                            <a:srgbClr val="FFFFFF"/>
                          </a:solidFill>
                          <a:latin typeface="Calibri"/>
                        </a:rPr>
                        <a:t>16.8%</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2246A6"/>
                    </a:solidFill>
                  </a:tcPr>
                </a:tc>
                <a:tc>
                  <a:txBody>
                    <a:bodyPr/>
                    <a:lstStyle/>
                    <a:p>
                      <a:pPr algn="ctr"/>
                      <a:r>
                        <a:rPr sz="2000" b="1">
                          <a:solidFill>
                            <a:srgbClr val="FFFFFF"/>
                          </a:solidFill>
                          <a:latin typeface="Calibri"/>
                        </a:rPr>
                        <a:t>13.4%</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2D58C9"/>
                    </a:solidFill>
                  </a:tcPr>
                </a:tc>
                <a:tc>
                  <a:txBody>
                    <a:bodyPr/>
                    <a:lstStyle/>
                    <a:p>
                      <a:pPr algn="ctr"/>
                      <a:r>
                        <a:rPr sz="2000" b="1">
                          <a:solidFill>
                            <a:srgbClr val="111111"/>
                          </a:solidFill>
                          <a:latin typeface="Calibri"/>
                        </a:rPr>
                        <a:t>7.5%</a:t>
                      </a:r>
                    </a:p>
                  </a:txBody>
                  <a:tcPr marL="109728" marR="109728" marT="54864" marB="54864" anchor="ctr">
                    <a:lnL w="38100">
                      <a:solidFill>
                        <a:srgbClr val="FFFFFF"/>
                      </a:solidFill>
                    </a:lnL>
                    <a:lnR w="38100">
                      <a:solidFill>
                        <a:srgbClr val="FFFFFF"/>
                      </a:solidFill>
                    </a:lnR>
                    <a:lnT w="38100">
                      <a:solidFill>
                        <a:srgbClr val="FFFFFF"/>
                      </a:solidFill>
                    </a:lnT>
                    <a:lnB w="38100">
                      <a:solidFill>
                        <a:srgbClr val="FFFFFF"/>
                      </a:solidFill>
                    </a:lnB>
                    <a:solidFill>
                      <a:srgbClr val="6A90EE"/>
                    </a:solidFill>
                  </a:tcPr>
                </a:tc>
                <a:extLst>
                  <a:ext uri="{0D108BD9-81ED-4DB2-BD59-A6C34878D82A}">
                    <a16:rowId xmlns:a16="http://schemas.microsoft.com/office/drawing/2014/main" val="10005"/>
                  </a:ext>
                </a:extLst>
              </a:tr>
            </a:tbl>
          </a:graphicData>
        </a:graphic>
      </p:graphicFrame>
      <p:sp>
        <p:nvSpPr>
          <p:cNvPr id="18" name="Far short"/>
          <p:cNvSpPr/>
          <p:nvPr/>
        </p:nvSpPr>
        <p:spPr>
          <a:xfrm>
            <a:off x="11521440" y="2377440"/>
            <a:ext cx="6035040" cy="2148840"/>
          </a:xfrm>
          <a:prstGeom prst="roundRect">
            <a:avLst>
              <a:gd name="adj" fmla="val 6808"/>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Far short number"/>
          <p:cNvSpPr txBox="1"/>
          <p:nvPr/>
        </p:nvSpPr>
        <p:spPr>
          <a:xfrm>
            <a:off x="11841480" y="2606040"/>
            <a:ext cx="5394959" cy="966978"/>
          </a:xfrm>
          <a:prstGeom prst="rect">
            <a:avLst/>
          </a:prstGeom>
          <a:noFill/>
        </p:spPr>
        <p:txBody>
          <a:bodyPr wrap="square" lIns="0" tIns="0" rIns="0" bIns="0" anchor="b">
            <a:spAutoFit/>
          </a:bodyPr>
          <a:lstStyle/>
          <a:p>
            <a:pPr algn="l">
              <a:spcAft>
                <a:spcPts val="600"/>
              </a:spcAft>
            </a:pPr>
            <a:r>
              <a:rPr sz="4400" b="0" i="0">
                <a:solidFill>
                  <a:srgbClr val="89EDD0"/>
                </a:solidFill>
                <a:latin typeface="Arial Black"/>
              </a:rPr>
              <a:t>1 in 5</a:t>
            </a:r>
          </a:p>
        </p:txBody>
      </p:sp>
      <p:sp>
        <p:nvSpPr>
          <p:cNvPr id="20" name="Far short label"/>
          <p:cNvSpPr txBox="1"/>
          <p:nvPr/>
        </p:nvSpPr>
        <p:spPr>
          <a:xfrm>
            <a:off x="11841480" y="3618738"/>
            <a:ext cx="5394959" cy="724662"/>
          </a:xfrm>
          <a:prstGeom prst="rect">
            <a:avLst/>
          </a:prstGeom>
          <a:noFill/>
        </p:spPr>
        <p:txBody>
          <a:bodyPr wrap="square" lIns="0" tIns="0" rIns="0" bIns="0" anchor="t">
            <a:spAutoFit/>
          </a:bodyPr>
          <a:lstStyle/>
          <a:p>
            <a:pPr algn="l">
              <a:spcAft>
                <a:spcPts val="600"/>
              </a:spcAft>
            </a:pPr>
            <a:r>
              <a:rPr sz="1800" b="0" i="0">
                <a:solidFill>
                  <a:srgbClr val="FFFFFF"/>
                </a:solidFill>
                <a:latin typeface="Calibri"/>
              </a:rPr>
              <a:t>late when the route is over 889 km and the promise is 22 days or less</a:t>
            </a:r>
          </a:p>
        </p:txBody>
      </p:sp>
      <p:sp>
        <p:nvSpPr>
          <p:cNvPr id="21" name="Near long"/>
          <p:cNvSpPr/>
          <p:nvPr/>
        </p:nvSpPr>
        <p:spPr>
          <a:xfrm>
            <a:off x="11521440" y="4709160"/>
            <a:ext cx="6035040" cy="1828800"/>
          </a:xfrm>
          <a:prstGeom prst="roundRect">
            <a:avLst>
              <a:gd name="adj" fmla="val 8000"/>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Near long number"/>
          <p:cNvSpPr txBox="1"/>
          <p:nvPr/>
        </p:nvSpPr>
        <p:spPr>
          <a:xfrm>
            <a:off x="11841480" y="4937760"/>
            <a:ext cx="5394959" cy="822960"/>
          </a:xfrm>
          <a:prstGeom prst="rect">
            <a:avLst/>
          </a:prstGeom>
          <a:noFill/>
        </p:spPr>
        <p:txBody>
          <a:bodyPr wrap="square" lIns="0" tIns="0" rIns="0" bIns="0" anchor="b">
            <a:spAutoFit/>
          </a:bodyPr>
          <a:lstStyle/>
          <a:p>
            <a:pPr algn="l">
              <a:spcAft>
                <a:spcPts val="600"/>
              </a:spcAft>
            </a:pPr>
            <a:r>
              <a:rPr sz="4000" b="0" i="0">
                <a:solidFill>
                  <a:srgbClr val="111111"/>
                </a:solidFill>
                <a:latin typeface="Arial Black"/>
              </a:rPr>
              <a:t>1.7%</a:t>
            </a:r>
          </a:p>
        </p:txBody>
      </p:sp>
      <p:sp>
        <p:nvSpPr>
          <p:cNvPr id="23" name="Near long label"/>
          <p:cNvSpPr txBox="1"/>
          <p:nvPr/>
        </p:nvSpPr>
        <p:spPr>
          <a:xfrm>
            <a:off x="11841480" y="5806440"/>
            <a:ext cx="5394959" cy="548640"/>
          </a:xfrm>
          <a:prstGeom prst="rect">
            <a:avLst/>
          </a:prstGeom>
          <a:noFill/>
        </p:spPr>
        <p:txBody>
          <a:bodyPr wrap="square" lIns="0" tIns="0" rIns="0" bIns="0" anchor="t">
            <a:spAutoFit/>
          </a:bodyPr>
          <a:lstStyle/>
          <a:p>
            <a:pPr algn="l">
              <a:spcAft>
                <a:spcPts val="600"/>
              </a:spcAft>
            </a:pPr>
            <a:r>
              <a:rPr sz="1800" b="0" i="0">
                <a:solidFill>
                  <a:srgbClr val="111111"/>
                </a:solidFill>
                <a:latin typeface="Calibri"/>
              </a:rPr>
              <a:t>late when under 137 km with a 30+ day promise</a:t>
            </a:r>
          </a:p>
        </p:txBody>
      </p:sp>
      <p:sp>
        <p:nvSpPr>
          <p:cNvPr id="24" name="Where card"/>
          <p:cNvSpPr/>
          <p:nvPr/>
        </p:nvSpPr>
        <p:spPr>
          <a:xfrm>
            <a:off x="11521440" y="6720840"/>
            <a:ext cx="6035040" cy="2011680"/>
          </a:xfrm>
          <a:prstGeom prst="roundRect">
            <a:avLst>
              <a:gd name="adj" fmla="val 727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Where text"/>
          <p:cNvSpPr txBox="1"/>
          <p:nvPr/>
        </p:nvSpPr>
        <p:spPr>
          <a:xfrm>
            <a:off x="11841480" y="6858000"/>
            <a:ext cx="5394960" cy="1783080"/>
          </a:xfrm>
          <a:prstGeom prst="rect">
            <a:avLst/>
          </a:prstGeom>
          <a:noFill/>
        </p:spPr>
        <p:txBody>
          <a:bodyPr wrap="square" lIns="0" tIns="0" rIns="0" bIns="0" anchor="ctr">
            <a:spAutoFit/>
          </a:bodyPr>
          <a:lstStyle/>
          <a:p>
            <a:pPr algn="l">
              <a:spcAft>
                <a:spcPts val="600"/>
              </a:spcAft>
            </a:pPr>
            <a:r>
              <a:rPr sz="1700" b="1" i="0">
                <a:solidFill>
                  <a:srgbClr val="3669E8"/>
                </a:solidFill>
                <a:latin typeface="Calibri"/>
              </a:rPr>
              <a:t>Where it goes &gt; what's in it. </a:t>
            </a:r>
            <a:r>
              <a:rPr sz="1700" b="0" i="0">
                <a:solidFill>
                  <a:srgbClr val="111111"/>
                </a:solidFill>
                <a:latin typeface="Calibri"/>
              </a:rPr>
              <a:t>Rio is late 15.6% of the time, 2.9× Minas Gerais (5.3%), despite shorter routes. Product categories only span 5.9–10.2%.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PROCESS · COMPARING MODELS</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Simple beats complex: logistic regression led from the start</a:t>
            </a:r>
          </a:p>
        </p:txBody>
      </p:sp>
      <p:sp>
        <p:nvSpPr>
          <p:cNvPr id="15" name="Lift chart card"/>
          <p:cNvSpPr/>
          <p:nvPr/>
        </p:nvSpPr>
        <p:spPr>
          <a:xfrm>
            <a:off x="731520" y="2377440"/>
            <a:ext cx="10058400" cy="6355080"/>
          </a:xfrm>
          <a:prstGeom prst="roundRect">
            <a:avLst>
              <a:gd name="adj" fmla="val 230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Chart title"/>
          <p:cNvSpPr txBox="1"/>
          <p:nvPr/>
        </p:nvSpPr>
        <p:spPr>
          <a:xfrm>
            <a:off x="1097280" y="2606040"/>
            <a:ext cx="9326880" cy="457200"/>
          </a:xfrm>
          <a:prstGeom prst="rect">
            <a:avLst/>
          </a:prstGeom>
          <a:noFill/>
        </p:spPr>
        <p:txBody>
          <a:bodyPr wrap="square" lIns="0" tIns="0" rIns="0" bIns="0" anchor="t">
            <a:spAutoFit/>
          </a:bodyPr>
          <a:lstStyle/>
          <a:p>
            <a:pPr algn="l">
              <a:spcAft>
                <a:spcPts val="600"/>
              </a:spcAft>
            </a:pPr>
            <a:r>
              <a:rPr sz="2100" b="1" i="0">
                <a:solidFill>
                  <a:srgbClr val="111111"/>
                </a:solidFill>
                <a:latin typeface="Calibri"/>
              </a:rPr>
              <a:t>Cross-validated lift, mean ± std over 5 folds (1.0 = random)</a:t>
            </a:r>
          </a:p>
        </p:txBody>
      </p:sp>
      <p:graphicFrame>
        <p:nvGraphicFramePr>
          <p:cNvPr id="17" name="Lift chart"/>
          <p:cNvGraphicFramePr>
            <a:graphicFrameLocks noGrp="1"/>
          </p:cNvGraphicFramePr>
          <p:nvPr/>
        </p:nvGraphicFramePr>
        <p:xfrm>
          <a:off x="1005840" y="3108960"/>
          <a:ext cx="9509760" cy="4937760"/>
        </p:xfrm>
        <a:graphic>
          <a:graphicData uri="http://schemas.openxmlformats.org/drawingml/2006/chart">
            <c:chart xmlns:c="http://schemas.openxmlformats.org/drawingml/2006/chart" xmlns:r="http://schemas.openxmlformats.org/officeDocument/2006/relationships" r:id="rId5"/>
          </a:graphicData>
        </a:graphic>
      </p:graphicFrame>
      <p:sp>
        <p:nvSpPr>
          <p:cNvPr id="18" name="Legend swatch 1"/>
          <p:cNvSpPr/>
          <p:nvPr/>
        </p:nvSpPr>
        <p:spPr>
          <a:xfrm>
            <a:off x="1143000" y="8229600"/>
            <a:ext cx="292608" cy="292608"/>
          </a:xfrm>
          <a:prstGeom prst="roundRect">
            <a:avLst>
              <a:gd name="adj" fmla="val 15625"/>
            </a:avLst>
          </a:prstGeom>
          <a:solidFill>
            <a:srgbClr val="3669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Legend label 1"/>
          <p:cNvSpPr txBox="1"/>
          <p:nvPr/>
        </p:nvSpPr>
        <p:spPr>
          <a:xfrm>
            <a:off x="1554480" y="8183879"/>
            <a:ext cx="1828800" cy="384048"/>
          </a:xfrm>
          <a:prstGeom prst="rect">
            <a:avLst/>
          </a:prstGeom>
          <a:noFill/>
        </p:spPr>
        <p:txBody>
          <a:bodyPr wrap="square" lIns="0" tIns="0" rIns="0" bIns="0" anchor="t">
            <a:spAutoFit/>
          </a:bodyPr>
          <a:lstStyle/>
          <a:p>
            <a:pPr algn="l">
              <a:spcAft>
                <a:spcPts val="600"/>
              </a:spcAft>
            </a:pPr>
            <a:r>
              <a:rPr sz="1600" b="0" i="0">
                <a:solidFill>
                  <a:srgbClr val="111111"/>
                </a:solidFill>
                <a:latin typeface="Calibri"/>
              </a:rPr>
              <a:t>Linear</a:t>
            </a:r>
          </a:p>
        </p:txBody>
      </p:sp>
      <p:sp>
        <p:nvSpPr>
          <p:cNvPr id="20" name="Legend swatch 2"/>
          <p:cNvSpPr/>
          <p:nvPr/>
        </p:nvSpPr>
        <p:spPr>
          <a:xfrm>
            <a:off x="3429000" y="8229600"/>
            <a:ext cx="292608" cy="292608"/>
          </a:xfrm>
          <a:prstGeom prst="roundRect">
            <a:avLst>
              <a:gd name="adj" fmla="val 15625"/>
            </a:avLst>
          </a:prstGeom>
          <a:solidFill>
            <a:srgbClr val="69D6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Legend label 2"/>
          <p:cNvSpPr txBox="1"/>
          <p:nvPr/>
        </p:nvSpPr>
        <p:spPr>
          <a:xfrm>
            <a:off x="3840480" y="8183879"/>
            <a:ext cx="1828800" cy="384048"/>
          </a:xfrm>
          <a:prstGeom prst="rect">
            <a:avLst/>
          </a:prstGeom>
          <a:noFill/>
        </p:spPr>
        <p:txBody>
          <a:bodyPr wrap="square" lIns="0" tIns="0" rIns="0" bIns="0" anchor="t">
            <a:spAutoFit/>
          </a:bodyPr>
          <a:lstStyle/>
          <a:p>
            <a:pPr algn="l">
              <a:spcAft>
                <a:spcPts val="600"/>
              </a:spcAft>
            </a:pPr>
            <a:r>
              <a:rPr sz="1600" b="0" i="0">
                <a:solidFill>
                  <a:srgbClr val="111111"/>
                </a:solidFill>
                <a:latin typeface="Calibri"/>
              </a:rPr>
              <a:t>Tree-based</a:t>
            </a:r>
          </a:p>
        </p:txBody>
      </p:sp>
      <p:sp>
        <p:nvSpPr>
          <p:cNvPr id="22" name="Legend swatch 3"/>
          <p:cNvSpPr/>
          <p:nvPr/>
        </p:nvSpPr>
        <p:spPr>
          <a:xfrm>
            <a:off x="5715000" y="8229600"/>
            <a:ext cx="292608" cy="292608"/>
          </a:xfrm>
          <a:prstGeom prst="roundRect">
            <a:avLst>
              <a:gd name="adj" fmla="val 15625"/>
            </a:avLst>
          </a:prstGeom>
          <a:solidFill>
            <a:srgbClr val="B5CA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Legend label 3"/>
          <p:cNvSpPr txBox="1"/>
          <p:nvPr/>
        </p:nvSpPr>
        <p:spPr>
          <a:xfrm>
            <a:off x="6126480" y="8183879"/>
            <a:ext cx="1828800" cy="384048"/>
          </a:xfrm>
          <a:prstGeom prst="rect">
            <a:avLst/>
          </a:prstGeom>
          <a:noFill/>
        </p:spPr>
        <p:txBody>
          <a:bodyPr wrap="square" lIns="0" tIns="0" rIns="0" bIns="0" anchor="t">
            <a:spAutoFit/>
          </a:bodyPr>
          <a:lstStyle/>
          <a:p>
            <a:pPr algn="l">
              <a:spcAft>
                <a:spcPts val="600"/>
              </a:spcAft>
            </a:pPr>
            <a:r>
              <a:rPr sz="1600" b="0" i="0">
                <a:solidFill>
                  <a:srgbClr val="111111"/>
                </a:solidFill>
                <a:latin typeface="Calibri"/>
              </a:rPr>
              <a:t>Probabilistic</a:t>
            </a:r>
          </a:p>
        </p:txBody>
      </p:sp>
      <p:sp>
        <p:nvSpPr>
          <p:cNvPr id="24" name="Legend swatch 4"/>
          <p:cNvSpPr/>
          <p:nvPr/>
        </p:nvSpPr>
        <p:spPr>
          <a:xfrm>
            <a:off x="8001000" y="8229600"/>
            <a:ext cx="292608" cy="292608"/>
          </a:xfrm>
          <a:prstGeom prst="roundRect">
            <a:avLst>
              <a:gd name="adj" fmla="val 15625"/>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Legend label 4"/>
          <p:cNvSpPr txBox="1"/>
          <p:nvPr/>
        </p:nvSpPr>
        <p:spPr>
          <a:xfrm>
            <a:off x="8412480" y="8183879"/>
            <a:ext cx="1828800" cy="384048"/>
          </a:xfrm>
          <a:prstGeom prst="rect">
            <a:avLst/>
          </a:prstGeom>
          <a:noFill/>
        </p:spPr>
        <p:txBody>
          <a:bodyPr wrap="square" lIns="0" tIns="0" rIns="0" bIns="0" anchor="t">
            <a:spAutoFit/>
          </a:bodyPr>
          <a:lstStyle/>
          <a:p>
            <a:pPr algn="l">
              <a:spcAft>
                <a:spcPts val="600"/>
              </a:spcAft>
            </a:pPr>
            <a:r>
              <a:rPr sz="1600" b="0" i="0">
                <a:solidFill>
                  <a:srgbClr val="111111"/>
                </a:solidFill>
                <a:latin typeface="Calibri"/>
              </a:rPr>
              <a:t>Baselines</a:t>
            </a:r>
          </a:p>
        </p:txBody>
      </p:sp>
      <p:sp>
        <p:nvSpPr>
          <p:cNvPr id="26" name="Lift card"/>
          <p:cNvSpPr/>
          <p:nvPr/>
        </p:nvSpPr>
        <p:spPr>
          <a:xfrm>
            <a:off x="11155680" y="2377440"/>
            <a:ext cx="6400800" cy="2148840"/>
          </a:xfrm>
          <a:prstGeom prst="roundRect">
            <a:avLst>
              <a:gd name="adj" fmla="val 6808"/>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Lift text"/>
          <p:cNvSpPr txBox="1"/>
          <p:nvPr/>
        </p:nvSpPr>
        <p:spPr>
          <a:xfrm>
            <a:off x="11475720" y="2560320"/>
            <a:ext cx="5760720" cy="1828800"/>
          </a:xfrm>
          <a:prstGeom prst="rect">
            <a:avLst/>
          </a:prstGeom>
          <a:noFill/>
        </p:spPr>
        <p:txBody>
          <a:bodyPr wrap="square" lIns="0" tIns="0" rIns="0" bIns="0" anchor="ctr">
            <a:spAutoFit/>
          </a:bodyPr>
          <a:lstStyle/>
          <a:p>
            <a:pPr algn="l">
              <a:spcAft>
                <a:spcPts val="600"/>
              </a:spcAft>
            </a:pPr>
            <a:r>
              <a:rPr sz="1800" b="1" i="0">
                <a:solidFill>
                  <a:srgbClr val="3669E8"/>
                </a:solidFill>
                <a:latin typeface="Calibri"/>
              </a:rPr>
              <a:t>Why lift? </a:t>
            </a:r>
            <a:r>
              <a:rPr sz="1800" b="0" i="0">
                <a:solidFill>
                  <a:srgbClr val="111111"/>
                </a:solidFill>
                <a:latin typeface="Calibri"/>
              </a:rPr>
              <a:t>Lift = PR-AUC ÷ the fold's late rate. Fold late rates swing from 2.8% to 18.8%, so raw PR-AUC would mostly measure the period.</a:t>
            </a:r>
          </a:p>
        </p:txBody>
      </p:sp>
      <p:sp>
        <p:nvSpPr>
          <p:cNvPr id="28" name="Overfit card"/>
          <p:cNvSpPr/>
          <p:nvPr/>
        </p:nvSpPr>
        <p:spPr>
          <a:xfrm>
            <a:off x="11155680" y="4709160"/>
            <a:ext cx="6400800" cy="1828800"/>
          </a:xfrm>
          <a:prstGeom prst="roundRect">
            <a:avLst>
              <a:gd name="adj" fmla="val 8000"/>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Overfit text"/>
          <p:cNvSpPr txBox="1"/>
          <p:nvPr/>
        </p:nvSpPr>
        <p:spPr>
          <a:xfrm>
            <a:off x="11475720" y="4846320"/>
            <a:ext cx="5760720" cy="1554480"/>
          </a:xfrm>
          <a:prstGeom prst="rect">
            <a:avLst/>
          </a:prstGeom>
          <a:noFill/>
        </p:spPr>
        <p:txBody>
          <a:bodyPr wrap="square" lIns="0" tIns="0" rIns="0" bIns="0" anchor="ctr">
            <a:spAutoFit/>
          </a:bodyPr>
          <a:lstStyle/>
          <a:p>
            <a:pPr algn="l">
              <a:spcAft>
                <a:spcPts val="600"/>
              </a:spcAft>
            </a:pPr>
            <a:r>
              <a:rPr sz="1700" b="1" i="0">
                <a:solidFill>
                  <a:srgbClr val="111111"/>
                </a:solidFill>
                <a:latin typeface="Calibri"/>
              </a:rPr>
              <a:t>Trees overfit </a:t>
            </a:r>
            <a:r>
              <a:rPr sz="1700" b="0" i="0">
                <a:solidFill>
                  <a:srgbClr val="111111"/>
                </a:solidFill>
                <a:latin typeface="Calibri"/>
              </a:rPr>
              <a:t>(training lift 6–12× validation). </a:t>
            </a:r>
            <a:r>
              <a:rPr sz="1700" b="1" i="0">
                <a:solidFill>
                  <a:srgbClr val="111111"/>
                </a:solidFill>
                <a:latin typeface="Calibri"/>
              </a:rPr>
              <a:t>Shortlist: </a:t>
            </a:r>
            <a:r>
              <a:rPr sz="1700" b="0" i="0">
                <a:solidFill>
                  <a:srgbClr val="111111"/>
                </a:solidFill>
                <a:latin typeface="Calibri"/>
              </a:rPr>
              <a:t>LR, random forest, gradient boosting, one per family so their errors differ.</a:t>
            </a:r>
          </a:p>
        </p:txBody>
      </p:sp>
      <p:sp>
        <p:nvSpPr>
          <p:cNvPr id="30" name="Surprise"/>
          <p:cNvSpPr/>
          <p:nvPr/>
        </p:nvSpPr>
        <p:spPr>
          <a:xfrm>
            <a:off x="11155680" y="6720840"/>
            <a:ext cx="6400800" cy="2011680"/>
          </a:xfrm>
          <a:prstGeom prst="roundRect">
            <a:avLst>
              <a:gd name="adj" fmla="val 7272"/>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Surprise number"/>
          <p:cNvSpPr txBox="1"/>
          <p:nvPr/>
        </p:nvSpPr>
        <p:spPr>
          <a:xfrm>
            <a:off x="11475719" y="6949440"/>
            <a:ext cx="5760720" cy="905256"/>
          </a:xfrm>
          <a:prstGeom prst="rect">
            <a:avLst/>
          </a:prstGeom>
          <a:noFill/>
        </p:spPr>
        <p:txBody>
          <a:bodyPr wrap="square" lIns="0" tIns="0" rIns="0" bIns="0" anchor="b">
            <a:spAutoFit/>
          </a:bodyPr>
          <a:lstStyle/>
          <a:p>
            <a:pPr algn="l">
              <a:spcAft>
                <a:spcPts val="600"/>
              </a:spcAft>
            </a:pPr>
            <a:r>
              <a:rPr sz="3000" b="0" i="0">
                <a:solidFill>
                  <a:srgbClr val="89EDD0"/>
                </a:solidFill>
                <a:latin typeface="Arial Black"/>
              </a:rPr>
              <a:t>Surprise</a:t>
            </a:r>
          </a:p>
        </p:txBody>
      </p:sp>
      <p:sp>
        <p:nvSpPr>
          <p:cNvPr id="32" name="Surprise label"/>
          <p:cNvSpPr txBox="1"/>
          <p:nvPr/>
        </p:nvSpPr>
        <p:spPr>
          <a:xfrm>
            <a:off x="11475719" y="7900415"/>
            <a:ext cx="5760720" cy="649224"/>
          </a:xfrm>
          <a:prstGeom prst="rect">
            <a:avLst/>
          </a:prstGeom>
          <a:noFill/>
        </p:spPr>
        <p:txBody>
          <a:bodyPr wrap="square" lIns="0" tIns="0" rIns="0" bIns="0" anchor="t">
            <a:spAutoFit/>
          </a:bodyPr>
          <a:lstStyle/>
          <a:p>
            <a:pPr algn="l">
              <a:spcAft>
                <a:spcPts val="600"/>
              </a:spcAft>
            </a:pPr>
            <a:r>
              <a:rPr sz="1800" b="0" i="0">
                <a:solidFill>
                  <a:srgbClr val="FFFFFF"/>
                </a:solidFill>
                <a:latin typeface="Calibri"/>
              </a:rPr>
              <a:t>The EDA pointed to trees (curves, interactions). They didn't win.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PROCESS · FINE-TUNING</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Dropping one misleading column helped more than all the tuning</a:t>
            </a:r>
          </a:p>
        </p:txBody>
      </p:sp>
      <p:sp>
        <p:nvSpPr>
          <p:cNvPr id="15" name="Tuning chart card"/>
          <p:cNvSpPr/>
          <p:nvPr/>
        </p:nvSpPr>
        <p:spPr>
          <a:xfrm>
            <a:off x="731520" y="2377440"/>
            <a:ext cx="10058400" cy="6355080"/>
          </a:xfrm>
          <a:prstGeom prst="roundRect">
            <a:avLst>
              <a:gd name="adj" fmla="val 230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Chart title"/>
          <p:cNvSpPr txBox="1"/>
          <p:nvPr/>
        </p:nvSpPr>
        <p:spPr>
          <a:xfrm>
            <a:off x="1097280" y="2606040"/>
            <a:ext cx="9326880" cy="457200"/>
          </a:xfrm>
          <a:prstGeom prst="rect">
            <a:avLst/>
          </a:prstGeom>
          <a:noFill/>
        </p:spPr>
        <p:txBody>
          <a:bodyPr wrap="square" lIns="0" tIns="0" rIns="0" bIns="0" anchor="t">
            <a:spAutoFit/>
          </a:bodyPr>
          <a:lstStyle/>
          <a:p>
            <a:pPr algn="l">
              <a:spcAft>
                <a:spcPts val="600"/>
              </a:spcAft>
            </a:pPr>
            <a:r>
              <a:rPr sz="2100" b="1" i="0">
                <a:solidFill>
                  <a:srgbClr val="111111"/>
                </a:solidFill>
                <a:latin typeface="Calibri"/>
              </a:rPr>
              <a:t>Cross-validated lift, mean ± std over 5 folds</a:t>
            </a:r>
          </a:p>
        </p:txBody>
      </p:sp>
      <p:graphicFrame>
        <p:nvGraphicFramePr>
          <p:cNvPr id="17" name="Tuning chart"/>
          <p:cNvGraphicFramePr>
            <a:graphicFrameLocks noGrp="1"/>
          </p:cNvGraphicFramePr>
          <p:nvPr/>
        </p:nvGraphicFramePr>
        <p:xfrm>
          <a:off x="1005840" y="3108960"/>
          <a:ext cx="9509760" cy="5029200"/>
        </p:xfrm>
        <a:graphic>
          <a:graphicData uri="http://schemas.openxmlformats.org/drawingml/2006/chart">
            <c:chart xmlns:c="http://schemas.openxmlformats.org/drawingml/2006/chart" xmlns:r="http://schemas.openxmlformats.org/officeDocument/2006/relationships" r:id="rId5"/>
          </a:graphicData>
        </a:graphic>
      </p:graphicFrame>
      <p:sp>
        <p:nvSpPr>
          <p:cNvPr id="18" name="Chart note"/>
          <p:cNvSpPr txBox="1"/>
          <p:nvPr/>
        </p:nvSpPr>
        <p:spPr>
          <a:xfrm>
            <a:off x="1097280" y="8092440"/>
            <a:ext cx="9326880" cy="548640"/>
          </a:xfrm>
          <a:prstGeom prst="rect">
            <a:avLst/>
          </a:prstGeom>
          <a:noFill/>
        </p:spPr>
        <p:txBody>
          <a:bodyPr wrap="square" lIns="0" tIns="0" rIns="0" bIns="0" anchor="t">
            <a:spAutoFit/>
          </a:bodyPr>
          <a:lstStyle/>
          <a:p>
            <a:pPr algn="l">
              <a:spcAft>
                <a:spcPts val="600"/>
              </a:spcAft>
            </a:pPr>
            <a:r>
              <a:rPr sz="1500" b="0" i="0">
                <a:solidFill>
                  <a:srgbClr val="8A8FA3"/>
                </a:solidFill>
                <a:latin typeface="Calibri"/>
              </a:rPr>
              <a:t>Randomized search, 90 trials (5–7 hyperparameters, several continuous). Gains sit within the fold noise, but dropping the month helped all three models.</a:t>
            </a:r>
          </a:p>
        </p:txBody>
      </p:sp>
      <p:sp>
        <p:nvSpPr>
          <p:cNvPr id="19" name="Month card"/>
          <p:cNvSpPr/>
          <p:nvPr/>
        </p:nvSpPr>
        <p:spPr>
          <a:xfrm>
            <a:off x="11155680" y="2377440"/>
            <a:ext cx="6400800" cy="2514600"/>
          </a:xfrm>
          <a:prstGeom prst="roundRect">
            <a:avLst>
              <a:gd name="adj" fmla="val 5818"/>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Month text"/>
          <p:cNvSpPr txBox="1"/>
          <p:nvPr/>
        </p:nvSpPr>
        <p:spPr>
          <a:xfrm>
            <a:off x="11475720" y="2560320"/>
            <a:ext cx="5760720" cy="2148840"/>
          </a:xfrm>
          <a:prstGeom prst="rect">
            <a:avLst/>
          </a:prstGeom>
          <a:noFill/>
        </p:spPr>
        <p:txBody>
          <a:bodyPr wrap="square" lIns="0" tIns="0" rIns="0" bIns="0" anchor="ctr">
            <a:spAutoFit/>
          </a:bodyPr>
          <a:lstStyle/>
          <a:p>
            <a:pPr algn="l">
              <a:spcAft>
                <a:spcPts val="600"/>
              </a:spcAft>
            </a:pPr>
            <a:r>
              <a:rPr sz="1800" b="1" i="0">
                <a:solidFill>
                  <a:srgbClr val="3669E8"/>
                </a:solidFill>
                <a:latin typeface="Calibri"/>
              </a:rPr>
              <a:t>Why? </a:t>
            </a:r>
            <a:r>
              <a:rPr sz="1800" b="0" i="0">
                <a:solidFill>
                  <a:srgbClr val="111111"/>
                </a:solidFill>
                <a:latin typeface="Calibri"/>
              </a:rPr>
              <a:t>With only 15 months of data, purchase_month remembered which months had been bad, not real seasonality. February was 3.0% late in 2017 and 14.1% in 2018.</a:t>
            </a:r>
          </a:p>
        </p:txBody>
      </p:sp>
      <p:sp>
        <p:nvSpPr>
          <p:cNvPr id="21" name="No gain card"/>
          <p:cNvSpPr/>
          <p:nvPr/>
        </p:nvSpPr>
        <p:spPr>
          <a:xfrm>
            <a:off x="11155680" y="5074920"/>
            <a:ext cx="6400800" cy="1783080"/>
          </a:xfrm>
          <a:prstGeom prst="roundRect">
            <a:avLst>
              <a:gd name="adj" fmla="val 8205"/>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No gain text"/>
          <p:cNvSpPr txBox="1"/>
          <p:nvPr/>
        </p:nvSpPr>
        <p:spPr>
          <a:xfrm>
            <a:off x="11475720" y="5212080"/>
            <a:ext cx="5760720" cy="1508760"/>
          </a:xfrm>
          <a:prstGeom prst="rect">
            <a:avLst/>
          </a:prstGeom>
          <a:noFill/>
        </p:spPr>
        <p:txBody>
          <a:bodyPr wrap="square" lIns="0" tIns="0" rIns="0" bIns="0" anchor="ctr">
            <a:spAutoFit/>
          </a:bodyPr>
          <a:lstStyle/>
          <a:p>
            <a:pPr algn="l">
              <a:spcAft>
                <a:spcPts val="600"/>
              </a:spcAft>
            </a:pPr>
            <a:r>
              <a:rPr sz="1800" b="1" i="0">
                <a:solidFill>
                  <a:srgbClr val="111111"/>
                </a:solidFill>
                <a:latin typeface="Calibri"/>
              </a:rPr>
              <a:t>No gain: </a:t>
            </a:r>
            <a:r>
              <a:rPr sz="1800" b="0" i="0">
                <a:solidFill>
                  <a:srgbClr val="111111"/>
                </a:solidFill>
                <a:latin typeface="Calibri"/>
              </a:rPr>
              <a:t>4 voting ensembles (the best only tied LR) and 8 extra features such as seller history and route slack.</a:t>
            </a:r>
          </a:p>
        </p:txBody>
      </p:sp>
      <p:sp>
        <p:nvSpPr>
          <p:cNvPr id="23" name="Final"/>
          <p:cNvSpPr/>
          <p:nvPr/>
        </p:nvSpPr>
        <p:spPr>
          <a:xfrm>
            <a:off x="11155680" y="7040880"/>
            <a:ext cx="6400800" cy="1691640"/>
          </a:xfrm>
          <a:prstGeom prst="roundRect">
            <a:avLst>
              <a:gd name="adj" fmla="val 8648"/>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Final number"/>
          <p:cNvSpPr txBox="1"/>
          <p:nvPr/>
        </p:nvSpPr>
        <p:spPr>
          <a:xfrm>
            <a:off x="11475719" y="7269480"/>
            <a:ext cx="5760720" cy="761238"/>
          </a:xfrm>
          <a:prstGeom prst="rect">
            <a:avLst/>
          </a:prstGeom>
          <a:noFill/>
        </p:spPr>
        <p:txBody>
          <a:bodyPr wrap="square" lIns="0" tIns="0" rIns="0" bIns="0" anchor="b">
            <a:spAutoFit/>
          </a:bodyPr>
          <a:lstStyle/>
          <a:p>
            <a:pPr algn="l">
              <a:spcAft>
                <a:spcPts val="600"/>
              </a:spcAft>
            </a:pPr>
            <a:r>
              <a:rPr sz="2600" b="0" i="0">
                <a:solidFill>
                  <a:srgbClr val="89EDD0"/>
                </a:solidFill>
                <a:latin typeface="Arial Black"/>
              </a:rPr>
              <a:t>Final model</a:t>
            </a:r>
          </a:p>
        </p:txBody>
      </p:sp>
      <p:sp>
        <p:nvSpPr>
          <p:cNvPr id="25" name="Final label"/>
          <p:cNvSpPr txBox="1"/>
          <p:nvPr/>
        </p:nvSpPr>
        <p:spPr>
          <a:xfrm>
            <a:off x="11475719" y="8076438"/>
            <a:ext cx="5760720" cy="473202"/>
          </a:xfrm>
          <a:prstGeom prst="rect">
            <a:avLst/>
          </a:prstGeom>
          <a:noFill/>
        </p:spPr>
        <p:txBody>
          <a:bodyPr wrap="square" lIns="0" tIns="0" rIns="0" bIns="0" anchor="t">
            <a:spAutoFit/>
          </a:bodyPr>
          <a:lstStyle/>
          <a:p>
            <a:pPr algn="l">
              <a:spcAft>
                <a:spcPts val="600"/>
              </a:spcAft>
            </a:pPr>
            <a:r>
              <a:rPr sz="1800" b="0" i="0">
                <a:solidFill>
                  <a:srgbClr val="FFFFFF"/>
                </a:solidFill>
                <a:latin typeface="Calibri"/>
              </a:rPr>
              <a:t>Tuned logistic regression (L1): best, fastest, easiest to explain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RESULT · TEST SET, TOUCHED ONCE</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Checking the riskiest 10% of orders catches 36% of late deliveries</a:t>
            </a:r>
          </a:p>
        </p:txBody>
      </p:sp>
      <p:sp>
        <p:nvSpPr>
          <p:cNvPr id="15" name="Caught"/>
          <p:cNvSpPr/>
          <p:nvPr/>
        </p:nvSpPr>
        <p:spPr>
          <a:xfrm>
            <a:off x="731520" y="2377440"/>
            <a:ext cx="5486400" cy="3017520"/>
          </a:xfrm>
          <a:prstGeom prst="roundRect">
            <a:avLst>
              <a:gd name="adj" fmla="val 4848"/>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Caught number"/>
          <p:cNvSpPr txBox="1"/>
          <p:nvPr/>
        </p:nvSpPr>
        <p:spPr>
          <a:xfrm>
            <a:off x="1051560" y="2606040"/>
            <a:ext cx="4846320" cy="1357884"/>
          </a:xfrm>
          <a:prstGeom prst="rect">
            <a:avLst/>
          </a:prstGeom>
          <a:noFill/>
        </p:spPr>
        <p:txBody>
          <a:bodyPr wrap="square" lIns="0" tIns="0" rIns="0" bIns="0" anchor="b">
            <a:spAutoFit/>
          </a:bodyPr>
          <a:lstStyle/>
          <a:p>
            <a:pPr algn="l">
              <a:spcAft>
                <a:spcPts val="600"/>
              </a:spcAft>
            </a:pPr>
            <a:r>
              <a:rPr sz="4400" b="0" i="0">
                <a:solidFill>
                  <a:srgbClr val="89EDD0"/>
                </a:solidFill>
                <a:latin typeface="Arial Black"/>
              </a:rPr>
              <a:t>316 of 876</a:t>
            </a:r>
          </a:p>
        </p:txBody>
      </p:sp>
      <p:sp>
        <p:nvSpPr>
          <p:cNvPr id="17" name="Caught label"/>
          <p:cNvSpPr txBox="1"/>
          <p:nvPr/>
        </p:nvSpPr>
        <p:spPr>
          <a:xfrm>
            <a:off x="1051560" y="4009644"/>
            <a:ext cx="4846320" cy="1202436"/>
          </a:xfrm>
          <a:prstGeom prst="rect">
            <a:avLst/>
          </a:prstGeom>
          <a:noFill/>
        </p:spPr>
        <p:txBody>
          <a:bodyPr wrap="square" lIns="0" tIns="0" rIns="0" bIns="0" anchor="t">
            <a:spAutoFit/>
          </a:bodyPr>
          <a:lstStyle/>
          <a:p>
            <a:pPr algn="l">
              <a:spcAft>
                <a:spcPts val="600"/>
              </a:spcAft>
            </a:pPr>
            <a:r>
              <a:rPr sz="1800" b="0" i="0">
                <a:solidFill>
                  <a:srgbClr val="FFFFFF"/>
                </a:solidFill>
                <a:latin typeface="Calibri"/>
              </a:rPr>
              <a:t>late orders caught in Apr–Jul 2018 (36.1%), vs 294 with the 2-feature baseline and about 88 with random checks</a:t>
            </a:r>
          </a:p>
        </p:txBody>
      </p:sp>
      <p:sp>
        <p:nvSpPr>
          <p:cNvPr id="18" name="Lift"/>
          <p:cNvSpPr/>
          <p:nvPr/>
        </p:nvSpPr>
        <p:spPr>
          <a:xfrm>
            <a:off x="731520" y="5715000"/>
            <a:ext cx="5486400" cy="3017520"/>
          </a:xfrm>
          <a:prstGeom prst="roundRect">
            <a:avLst>
              <a:gd name="adj" fmla="val 4848"/>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Lift number"/>
          <p:cNvSpPr txBox="1"/>
          <p:nvPr/>
        </p:nvSpPr>
        <p:spPr>
          <a:xfrm>
            <a:off x="1051560" y="5943600"/>
            <a:ext cx="4846320" cy="1357884"/>
          </a:xfrm>
          <a:prstGeom prst="rect">
            <a:avLst/>
          </a:prstGeom>
          <a:noFill/>
        </p:spPr>
        <p:txBody>
          <a:bodyPr wrap="square" lIns="0" tIns="0" rIns="0" bIns="0" anchor="b">
            <a:spAutoFit/>
          </a:bodyPr>
          <a:lstStyle/>
          <a:p>
            <a:pPr algn="l">
              <a:spcAft>
                <a:spcPts val="600"/>
              </a:spcAft>
            </a:pPr>
            <a:r>
              <a:rPr sz="5400" b="0" i="0">
                <a:solidFill>
                  <a:srgbClr val="111111"/>
                </a:solidFill>
                <a:latin typeface="Arial Black"/>
              </a:rPr>
              <a:t>3.6×</a:t>
            </a:r>
          </a:p>
        </p:txBody>
      </p:sp>
      <p:sp>
        <p:nvSpPr>
          <p:cNvPr id="20" name="Lift label"/>
          <p:cNvSpPr txBox="1"/>
          <p:nvPr/>
        </p:nvSpPr>
        <p:spPr>
          <a:xfrm>
            <a:off x="1051560" y="7347204"/>
            <a:ext cx="4846320" cy="1202436"/>
          </a:xfrm>
          <a:prstGeom prst="rect">
            <a:avLst/>
          </a:prstGeom>
          <a:noFill/>
        </p:spPr>
        <p:txBody>
          <a:bodyPr wrap="square" lIns="0" tIns="0" rIns="0" bIns="0" anchor="t">
            <a:spAutoFit/>
          </a:bodyPr>
          <a:lstStyle/>
          <a:p>
            <a:pPr algn="l">
              <a:spcAft>
                <a:spcPts val="600"/>
              </a:spcAft>
            </a:pPr>
            <a:r>
              <a:rPr sz="2000" b="0" i="0">
                <a:solidFill>
                  <a:srgbClr val="111111"/>
                </a:solidFill>
                <a:latin typeface="Calibri"/>
              </a:rPr>
              <a:t>flagged orders were late 3.6× as often as a random order</a:t>
            </a:r>
          </a:p>
        </p:txBody>
      </p:sp>
      <p:sp>
        <p:nvSpPr>
          <p:cNvPr id="21" name="Recall chart card"/>
          <p:cNvSpPr/>
          <p:nvPr/>
        </p:nvSpPr>
        <p:spPr>
          <a:xfrm>
            <a:off x="6583680" y="2377440"/>
            <a:ext cx="10972800" cy="4617720"/>
          </a:xfrm>
          <a:prstGeom prst="roundRect">
            <a:avLst>
              <a:gd name="adj" fmla="val 3168"/>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Chart title"/>
          <p:cNvSpPr txBox="1"/>
          <p:nvPr/>
        </p:nvSpPr>
        <p:spPr>
          <a:xfrm>
            <a:off x="6949440" y="2560320"/>
            <a:ext cx="10241280" cy="457200"/>
          </a:xfrm>
          <a:prstGeom prst="rect">
            <a:avLst/>
          </a:prstGeom>
          <a:noFill/>
        </p:spPr>
        <p:txBody>
          <a:bodyPr wrap="square" lIns="0" tIns="0" rIns="0" bIns="0" anchor="t">
            <a:spAutoFit/>
          </a:bodyPr>
          <a:lstStyle/>
          <a:p>
            <a:pPr algn="l">
              <a:spcAft>
                <a:spcPts val="600"/>
              </a:spcAft>
            </a:pPr>
            <a:r>
              <a:rPr sz="2000" b="1" i="0">
                <a:solidFill>
                  <a:srgbClr val="111111"/>
                </a:solidFill>
                <a:latin typeface="Calibri"/>
              </a:rPr>
              <a:t>Share of all late orders caught, by share of orders reviewed (test set)</a:t>
            </a:r>
          </a:p>
        </p:txBody>
      </p:sp>
      <p:graphicFrame>
        <p:nvGraphicFramePr>
          <p:cNvPr id="23" name="Recall chart"/>
          <p:cNvGraphicFramePr>
            <a:graphicFrameLocks noGrp="1"/>
          </p:cNvGraphicFramePr>
          <p:nvPr/>
        </p:nvGraphicFramePr>
        <p:xfrm>
          <a:off x="6858000" y="3017520"/>
          <a:ext cx="10424160" cy="3886200"/>
        </p:xfrm>
        <a:graphic>
          <a:graphicData uri="http://schemas.openxmlformats.org/drawingml/2006/chart">
            <c:chart xmlns:c="http://schemas.openxmlformats.org/drawingml/2006/chart" xmlns:r="http://schemas.openxmlformats.org/officeDocument/2006/relationships" r:id="rId5"/>
          </a:graphicData>
        </a:graphic>
      </p:graphicFrame>
      <p:sp>
        <p:nvSpPr>
          <p:cNvPr id="24" name="Caveat card"/>
          <p:cNvSpPr/>
          <p:nvPr/>
        </p:nvSpPr>
        <p:spPr>
          <a:xfrm>
            <a:off x="6583680" y="7178040"/>
            <a:ext cx="10972800" cy="1554480"/>
          </a:xfrm>
          <a:prstGeom prst="roundRect">
            <a:avLst>
              <a:gd name="adj" fmla="val 9411"/>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Caveat text"/>
          <p:cNvSpPr txBox="1"/>
          <p:nvPr/>
        </p:nvSpPr>
        <p:spPr>
          <a:xfrm>
            <a:off x="6903720" y="7269480"/>
            <a:ext cx="10332720" cy="1371600"/>
          </a:xfrm>
          <a:prstGeom prst="rect">
            <a:avLst/>
          </a:prstGeom>
          <a:noFill/>
        </p:spPr>
        <p:txBody>
          <a:bodyPr wrap="square" lIns="0" tIns="0" rIns="0" bIns="0" anchor="ctr">
            <a:spAutoFit/>
          </a:bodyPr>
          <a:lstStyle/>
          <a:p>
            <a:pPr algn="l">
              <a:spcAft>
                <a:spcPts val="600"/>
              </a:spcAft>
            </a:pPr>
            <a:r>
              <a:rPr sz="1700" b="1" i="0">
                <a:solidFill>
                  <a:srgbClr val="3669E8"/>
                </a:solidFill>
                <a:latin typeface="Calibri"/>
              </a:rPr>
              <a:t>Honest caveat: </a:t>
            </a:r>
            <a:r>
              <a:rPr sz="1700" b="0" i="0">
                <a:solidFill>
                  <a:srgbClr val="111111"/>
                </a:solidFill>
                <a:latin typeface="Calibri"/>
              </a:rPr>
              <a:t>the PR-AUC gain over B1 is real (0.126 vs 0.109; 95% CI +0.006 to +0.027). At the 10% budget the gain is within the noise (+2.5 points, CI −0.4 to +4.8).</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INSIGHTS · WHAT DRIVES RISK, WHAT THE MODEL MISSES</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Promise and distance drive the risk; "ordinary" late orders stay invisible</a:t>
            </a:r>
          </a:p>
        </p:txBody>
      </p:sp>
      <p:sp>
        <p:nvSpPr>
          <p:cNvPr id="15" name="Importance card"/>
          <p:cNvSpPr/>
          <p:nvPr/>
        </p:nvSpPr>
        <p:spPr>
          <a:xfrm>
            <a:off x="731520" y="2377440"/>
            <a:ext cx="9692640" cy="6355080"/>
          </a:xfrm>
          <a:prstGeom prst="roundRect">
            <a:avLst>
              <a:gd name="adj" fmla="val 2302"/>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Chart title"/>
          <p:cNvSpPr txBox="1"/>
          <p:nvPr/>
        </p:nvSpPr>
        <p:spPr>
          <a:xfrm>
            <a:off x="1097280" y="2606040"/>
            <a:ext cx="8961120" cy="457200"/>
          </a:xfrm>
          <a:prstGeom prst="rect">
            <a:avLst/>
          </a:prstGeom>
          <a:noFill/>
        </p:spPr>
        <p:txBody>
          <a:bodyPr wrap="square" lIns="0" tIns="0" rIns="0" bIns="0" anchor="t">
            <a:spAutoFit/>
          </a:bodyPr>
          <a:lstStyle/>
          <a:p>
            <a:pPr algn="l">
              <a:spcAft>
                <a:spcPts val="600"/>
              </a:spcAft>
            </a:pPr>
            <a:r>
              <a:rPr sz="2100" b="1" i="0">
                <a:solidFill>
                  <a:srgbClr val="111111"/>
                </a:solidFill>
                <a:latin typeface="Calibri"/>
              </a:rPr>
              <a:t>Drop in test PR-AUC when the feature is shuffled</a:t>
            </a:r>
          </a:p>
        </p:txBody>
      </p:sp>
      <p:graphicFrame>
        <p:nvGraphicFramePr>
          <p:cNvPr id="17" name="Importance chart"/>
          <p:cNvGraphicFramePr>
            <a:graphicFrameLocks noGrp="1"/>
          </p:cNvGraphicFramePr>
          <p:nvPr/>
        </p:nvGraphicFramePr>
        <p:xfrm>
          <a:off x="1005840" y="3108960"/>
          <a:ext cx="9144000" cy="4937760"/>
        </p:xfrm>
        <a:graphic>
          <a:graphicData uri="http://schemas.openxmlformats.org/drawingml/2006/chart">
            <c:chart xmlns:c="http://schemas.openxmlformats.org/drawingml/2006/chart" xmlns:r="http://schemas.openxmlformats.org/officeDocument/2006/relationships" r:id="rId5"/>
          </a:graphicData>
        </a:graphic>
      </p:graphicFrame>
      <p:sp>
        <p:nvSpPr>
          <p:cNvPr id="18" name="Chart note"/>
          <p:cNvSpPr txBox="1"/>
          <p:nvPr/>
        </p:nvSpPr>
        <p:spPr>
          <a:xfrm>
            <a:off x="1097280" y="8183879"/>
            <a:ext cx="8961120" cy="411480"/>
          </a:xfrm>
          <a:prstGeom prst="rect">
            <a:avLst/>
          </a:prstGeom>
          <a:noFill/>
        </p:spPr>
        <p:txBody>
          <a:bodyPr wrap="square" lIns="0" tIns="0" rIns="0" bIns="0" anchor="t">
            <a:spAutoFit/>
          </a:bodyPr>
          <a:lstStyle/>
          <a:p>
            <a:pPr algn="l">
              <a:spcAft>
                <a:spcPts val="600"/>
              </a:spcAft>
            </a:pPr>
            <a:r>
              <a:rPr sz="1600" b="0" i="0">
                <a:solidFill>
                  <a:srgbClr val="8A8FA3"/>
                </a:solidFill>
                <a:latin typeface="Calibri"/>
              </a:rPr>
              <a:t>Price, weight, category and purchase time: close to zero.</a:t>
            </a:r>
          </a:p>
        </p:txBody>
      </p:sp>
      <p:sp>
        <p:nvSpPr>
          <p:cNvPr id="19" name="Direction card"/>
          <p:cNvSpPr/>
          <p:nvPr/>
        </p:nvSpPr>
        <p:spPr>
          <a:xfrm>
            <a:off x="10789920" y="2377440"/>
            <a:ext cx="6766560" cy="1965960"/>
          </a:xfrm>
          <a:prstGeom prst="roundRect">
            <a:avLst>
              <a:gd name="adj" fmla="val 7441"/>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Direction text"/>
          <p:cNvSpPr txBox="1"/>
          <p:nvPr/>
        </p:nvSpPr>
        <p:spPr>
          <a:xfrm>
            <a:off x="11109960" y="2514600"/>
            <a:ext cx="6126480" cy="1691640"/>
          </a:xfrm>
          <a:prstGeom prst="rect">
            <a:avLst/>
          </a:prstGeom>
          <a:noFill/>
        </p:spPr>
        <p:txBody>
          <a:bodyPr wrap="square" lIns="0" tIns="0" rIns="0" bIns="0" anchor="ctr">
            <a:spAutoFit/>
          </a:bodyPr>
          <a:lstStyle/>
          <a:p>
            <a:pPr algn="l">
              <a:spcAft>
                <a:spcPts val="600"/>
              </a:spcAft>
            </a:pPr>
            <a:r>
              <a:rPr sz="1700" b="1" i="0">
                <a:solidFill>
                  <a:srgbClr val="3669E8"/>
                </a:solidFill>
                <a:latin typeface="Calibri"/>
              </a:rPr>
              <a:t>Direction: </a:t>
            </a:r>
            <a:r>
              <a:rPr sz="1700" b="0" i="0">
                <a:solidFill>
                  <a:srgbClr val="111111"/>
                </a:solidFill>
                <a:latin typeface="Calibri"/>
              </a:rPr>
              <a:t>a promise 1 SD longer roughly halves the odds of being late (×0.52); 1 SD more distance raises them ×1.55. Associations, not causes.</a:t>
            </a:r>
          </a:p>
        </p:txBody>
      </p:sp>
      <p:sp>
        <p:nvSpPr>
          <p:cNvPr id="21" name="Misses card"/>
          <p:cNvSpPr/>
          <p:nvPr/>
        </p:nvSpPr>
        <p:spPr>
          <a:xfrm>
            <a:off x="10789920" y="4526280"/>
            <a:ext cx="6766560" cy="1965960"/>
          </a:xfrm>
          <a:prstGeom prst="roundRect">
            <a:avLst>
              <a:gd name="adj" fmla="val 7441"/>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Misses text"/>
          <p:cNvSpPr txBox="1"/>
          <p:nvPr/>
        </p:nvSpPr>
        <p:spPr>
          <a:xfrm>
            <a:off x="11109960" y="4617720"/>
            <a:ext cx="6126480" cy="1783080"/>
          </a:xfrm>
          <a:prstGeom prst="rect">
            <a:avLst/>
          </a:prstGeom>
          <a:noFill/>
        </p:spPr>
        <p:txBody>
          <a:bodyPr wrap="square" lIns="0" tIns="0" rIns="0" bIns="0" anchor="ctr">
            <a:spAutoFit/>
          </a:bodyPr>
          <a:lstStyle/>
          <a:p>
            <a:pPr algn="l">
              <a:spcAft>
                <a:spcPts val="600"/>
              </a:spcAft>
            </a:pPr>
            <a:r>
              <a:rPr sz="1600" b="1" i="0">
                <a:solidFill>
                  <a:srgbClr val="111111"/>
                </a:solidFill>
                <a:latin typeface="Calibri"/>
              </a:rPr>
              <a:t>What it misses (last CV fold, Feb–Mar 2018): </a:t>
            </a:r>
            <a:r>
              <a:rPr sz="1600" b="0" i="0">
                <a:solidFill>
                  <a:srgbClr val="111111"/>
                </a:solidFill>
                <a:latin typeface="Calibri"/>
              </a:rPr>
              <a:t>late orders that look ordinary, shorter than the ones it catches (727 vs 1,011 km) and more often in-state. All 3 shortlisted models miss the same 66%.</a:t>
            </a:r>
          </a:p>
        </p:txBody>
      </p:sp>
      <p:sp>
        <p:nvSpPr>
          <p:cNvPr id="23" name="Human card"/>
          <p:cNvSpPr/>
          <p:nvPr/>
        </p:nvSpPr>
        <p:spPr>
          <a:xfrm>
            <a:off x="10789920" y="6675120"/>
            <a:ext cx="6766560" cy="2057400"/>
          </a:xfrm>
          <a:prstGeom prst="roundRect">
            <a:avLst>
              <a:gd name="adj" fmla="val 7111"/>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4" name="Human text"/>
          <p:cNvSpPr txBox="1"/>
          <p:nvPr/>
        </p:nvSpPr>
        <p:spPr>
          <a:xfrm>
            <a:off x="11109960" y="6812280"/>
            <a:ext cx="6126480" cy="1783080"/>
          </a:xfrm>
          <a:prstGeom prst="rect">
            <a:avLst/>
          </a:prstGeom>
          <a:noFill/>
        </p:spPr>
        <p:txBody>
          <a:bodyPr wrap="square" lIns="0" tIns="0" rIns="0" bIns="0" anchor="ctr">
            <a:spAutoFit/>
          </a:bodyPr>
          <a:lstStyle/>
          <a:p>
            <a:pPr algn="l">
              <a:spcAft>
                <a:spcPts val="600"/>
              </a:spcAft>
            </a:pPr>
            <a:r>
              <a:rPr sz="1700" b="1" i="0">
                <a:solidFill>
                  <a:srgbClr val="89EDD0"/>
                </a:solidFill>
                <a:latin typeface="Calibri"/>
              </a:rPr>
              <a:t>A person would have needed: </a:t>
            </a:r>
            <a:r>
              <a:rPr sz="1700" b="0" i="0">
                <a:solidFill>
                  <a:srgbClr val="FFFFFF"/>
                </a:solidFill>
                <a:latin typeface="Calibri"/>
              </a:rPr>
              <a:t>the seller's hand-off to the carrier, carrier backlogs, strikes and holidays, and the current network-wide delay.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ASSUMPTIONS AND LIMITATIONS</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Assumptions and limitations, and how we'd fix them</a:t>
            </a:r>
          </a:p>
        </p:txBody>
      </p:sp>
      <p:sp>
        <p:nvSpPr>
          <p:cNvPr id="15" name="Assumption 1"/>
          <p:cNvSpPr/>
          <p:nvPr/>
        </p:nvSpPr>
        <p:spPr>
          <a:xfrm>
            <a:off x="731520" y="2377440"/>
            <a:ext cx="5486400" cy="1325880"/>
          </a:xfrm>
          <a:prstGeom prst="roundRect">
            <a:avLst>
              <a:gd name="adj" fmla="val 11034"/>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Assumption text 1"/>
          <p:cNvSpPr txBox="1"/>
          <p:nvPr/>
        </p:nvSpPr>
        <p:spPr>
          <a:xfrm>
            <a:off x="1005840" y="2450592"/>
            <a:ext cx="4937760" cy="1188720"/>
          </a:xfrm>
          <a:prstGeom prst="rect">
            <a:avLst/>
          </a:prstGeom>
          <a:noFill/>
        </p:spPr>
        <p:txBody>
          <a:bodyPr wrap="square" lIns="0" tIns="0" rIns="0" bIns="0" anchor="ctr">
            <a:spAutoFit/>
          </a:bodyPr>
          <a:lstStyle/>
          <a:p>
            <a:pPr algn="l">
              <a:spcAft>
                <a:spcPts val="600"/>
              </a:spcAft>
            </a:pPr>
            <a:r>
              <a:rPr sz="1700" b="1" i="0">
                <a:solidFill>
                  <a:srgbClr val="111111"/>
                </a:solidFill>
                <a:latin typeface="Calibri"/>
              </a:rPr>
              <a:t>Assumption · </a:t>
            </a:r>
            <a:r>
              <a:rPr sz="1700" b="0" i="0">
                <a:solidFill>
                  <a:srgbClr val="111111"/>
                </a:solidFill>
                <a:latin typeface="Calibri"/>
              </a:rPr>
              <a:t>The promised date is the one the customer saw at checkout</a:t>
            </a:r>
          </a:p>
        </p:txBody>
      </p:sp>
      <p:sp>
        <p:nvSpPr>
          <p:cNvPr id="17" name="Assumption 2"/>
          <p:cNvSpPr/>
          <p:nvPr/>
        </p:nvSpPr>
        <p:spPr>
          <a:xfrm>
            <a:off x="6400800" y="2377440"/>
            <a:ext cx="5486400" cy="1325880"/>
          </a:xfrm>
          <a:prstGeom prst="roundRect">
            <a:avLst>
              <a:gd name="adj" fmla="val 11034"/>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8" name="Assumption text 2"/>
          <p:cNvSpPr txBox="1"/>
          <p:nvPr/>
        </p:nvSpPr>
        <p:spPr>
          <a:xfrm>
            <a:off x="6675120" y="2450592"/>
            <a:ext cx="4937760" cy="1188720"/>
          </a:xfrm>
          <a:prstGeom prst="rect">
            <a:avLst/>
          </a:prstGeom>
          <a:noFill/>
        </p:spPr>
        <p:txBody>
          <a:bodyPr wrap="square" lIns="0" tIns="0" rIns="0" bIns="0" anchor="ctr">
            <a:spAutoFit/>
          </a:bodyPr>
          <a:lstStyle/>
          <a:p>
            <a:pPr algn="l">
              <a:spcAft>
                <a:spcPts val="600"/>
              </a:spcAft>
            </a:pPr>
            <a:r>
              <a:rPr sz="1700" b="1" i="0">
                <a:solidFill>
                  <a:srgbClr val="111111"/>
                </a:solidFill>
                <a:latin typeface="Calibri"/>
              </a:rPr>
              <a:t>Assumption · </a:t>
            </a:r>
            <a:r>
              <a:rPr sz="1700" b="0" i="0">
                <a:solidFill>
                  <a:srgbClr val="111111"/>
                </a:solidFill>
                <a:latin typeface="Calibri"/>
              </a:rPr>
              <a:t>Ops can review about 10% of orders a day (we also report 5% and 20%)</a:t>
            </a:r>
          </a:p>
        </p:txBody>
      </p:sp>
      <p:sp>
        <p:nvSpPr>
          <p:cNvPr id="19" name="Assumption 3"/>
          <p:cNvSpPr/>
          <p:nvPr/>
        </p:nvSpPr>
        <p:spPr>
          <a:xfrm>
            <a:off x="12070080" y="2377440"/>
            <a:ext cx="5486400" cy="1325880"/>
          </a:xfrm>
          <a:prstGeom prst="roundRect">
            <a:avLst>
              <a:gd name="adj" fmla="val 11034"/>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Assumption text 3"/>
          <p:cNvSpPr txBox="1"/>
          <p:nvPr/>
        </p:nvSpPr>
        <p:spPr>
          <a:xfrm>
            <a:off x="12344400" y="2450592"/>
            <a:ext cx="4937760" cy="1188720"/>
          </a:xfrm>
          <a:prstGeom prst="rect">
            <a:avLst/>
          </a:prstGeom>
          <a:noFill/>
        </p:spPr>
        <p:txBody>
          <a:bodyPr wrap="square" lIns="0" tIns="0" rIns="0" bIns="0" anchor="ctr">
            <a:spAutoFit/>
          </a:bodyPr>
          <a:lstStyle/>
          <a:p>
            <a:pPr algn="l">
              <a:spcAft>
                <a:spcPts val="600"/>
              </a:spcAft>
            </a:pPr>
            <a:r>
              <a:rPr sz="1700" b="1" i="0">
                <a:solidFill>
                  <a:srgbClr val="111111"/>
                </a:solidFill>
                <a:latin typeface="Calibri"/>
              </a:rPr>
              <a:t>Assumption · </a:t>
            </a:r>
            <a:r>
              <a:rPr sz="1700" b="0" i="0">
                <a:solidFill>
                  <a:srgbClr val="111111"/>
                </a:solidFill>
                <a:latin typeface="Calibri"/>
              </a:rPr>
              <a:t>Patterns from 2017 to Mar 2018 still hold in Apr–Jul 2018</a:t>
            </a:r>
          </a:p>
        </p:txBody>
      </p:sp>
      <p:sp>
        <p:nvSpPr>
          <p:cNvPr id="21" name="Limits card"/>
          <p:cNvSpPr/>
          <p:nvPr/>
        </p:nvSpPr>
        <p:spPr>
          <a:xfrm>
            <a:off x="731520" y="3931920"/>
            <a:ext cx="16824960" cy="4800600"/>
          </a:xfrm>
          <a:prstGeom prst="roundRect">
            <a:avLst>
              <a:gd name="adj" fmla="val 3047"/>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22" name="Limitations table"/>
          <p:cNvGraphicFramePr>
            <a:graphicFrameLocks noGrp="1"/>
          </p:cNvGraphicFramePr>
          <p:nvPr/>
        </p:nvGraphicFramePr>
        <p:xfrm>
          <a:off x="1005840" y="4114800"/>
          <a:ext cx="16276320" cy="4389120"/>
        </p:xfrm>
        <a:graphic>
          <a:graphicData uri="http://schemas.openxmlformats.org/drawingml/2006/table">
            <a:tbl>
              <a:tblPr>
                <a:tableStyleId>{2D5ABB26-0587-4C30-8999-92F81FD0307C}</a:tableStyleId>
              </a:tblPr>
              <a:tblGrid>
                <a:gridCol w="603504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548640">
                <a:tc>
                  <a:txBody>
                    <a:bodyPr/>
                    <a:lstStyle/>
                    <a:p>
                      <a:pPr algn="l"/>
                      <a:r>
                        <a:rPr sz="1800" b="1">
                          <a:solidFill>
                            <a:srgbClr val="3669E8"/>
                          </a:solidFill>
                          <a:latin typeface="Calibri"/>
                        </a:rPr>
                        <a:t>Limitation</a:t>
                      </a:r>
                    </a:p>
                  </a:txBody>
                  <a:tcPr marL="109728" marR="109728" marT="54864" marB="54864" anchor="ctr">
                    <a:lnL>
                      <a:noFill/>
                    </a:lnL>
                    <a:lnR>
                      <a:noFill/>
                    </a:lnR>
                    <a:lnT>
                      <a:noFill/>
                    </a:lnT>
                    <a:lnB w="25400">
                      <a:solidFill>
                        <a:srgbClr val="111111"/>
                      </a:solidFill>
                    </a:lnB>
                    <a:noFill/>
                  </a:tcPr>
                </a:tc>
                <a:tc>
                  <a:txBody>
                    <a:bodyPr/>
                    <a:lstStyle/>
                    <a:p>
                      <a:pPr algn="l"/>
                      <a:r>
                        <a:rPr sz="1800" b="1">
                          <a:solidFill>
                            <a:srgbClr val="3669E8"/>
                          </a:solidFill>
                          <a:latin typeface="Calibri"/>
                        </a:rPr>
                        <a:t>Likely impact</a:t>
                      </a:r>
                    </a:p>
                  </a:txBody>
                  <a:tcPr marL="109728" marR="109728" marT="54864" marB="54864" anchor="ctr">
                    <a:lnL>
                      <a:noFill/>
                    </a:lnL>
                    <a:lnR>
                      <a:noFill/>
                    </a:lnR>
                    <a:lnT>
                      <a:noFill/>
                    </a:lnT>
                    <a:lnB w="25400">
                      <a:solidFill>
                        <a:srgbClr val="111111"/>
                      </a:solidFill>
                    </a:lnB>
                    <a:noFill/>
                  </a:tcPr>
                </a:tc>
                <a:tc>
                  <a:txBody>
                    <a:bodyPr/>
                    <a:lstStyle/>
                    <a:p>
                      <a:pPr algn="l"/>
                      <a:r>
                        <a:rPr sz="1800" b="1">
                          <a:solidFill>
                            <a:srgbClr val="3669E8"/>
                          </a:solidFill>
                          <a:latin typeface="Calibri"/>
                        </a:rPr>
                        <a:t>How to address it</a:t>
                      </a:r>
                    </a:p>
                  </a:txBody>
                  <a:tcPr marL="109728" marR="109728" marT="54864" marB="54864" anchor="ctr">
                    <a:lnL>
                      <a:noFill/>
                    </a:lnL>
                    <a:lnR>
                      <a:noFill/>
                    </a:lnR>
                    <a:lnT>
                      <a:noFill/>
                    </a:lnT>
                    <a:lnB w="25400">
                      <a:solidFill>
                        <a:srgbClr val="111111"/>
                      </a:solidFill>
                    </a:lnB>
                    <a:noFill/>
                  </a:tcPr>
                </a:tc>
                <a:extLst>
                  <a:ext uri="{0D108BD9-81ED-4DB2-BD59-A6C34878D82A}">
                    <a16:rowId xmlns:a16="http://schemas.microsoft.com/office/drawing/2014/main" val="10000"/>
                  </a:ext>
                </a:extLst>
              </a:tr>
              <a:tr h="960120">
                <a:tc>
                  <a:txBody>
                    <a:bodyPr/>
                    <a:lstStyle/>
                    <a:p>
                      <a:pPr algn="l"/>
                      <a:r>
                        <a:rPr sz="1700" b="1">
                          <a:solidFill>
                            <a:srgbClr val="111111"/>
                          </a:solidFill>
                          <a:latin typeface="Calibri"/>
                        </a:rPr>
                        <a:t>Every model levels off at about 2.0 CV lift</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l"/>
                      <a:r>
                        <a:rPr sz="1700" b="0">
                          <a:solidFill>
                            <a:srgbClr val="111111"/>
                          </a:solidFill>
                          <a:latin typeface="Calibri"/>
                        </a:rPr>
                        <a:t>64% of late orders still missed</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l"/>
                      <a:r>
                        <a:rPr sz="1700" b="0">
                          <a:solidFill>
                            <a:srgbClr val="111111"/>
                          </a:solidFill>
                          <a:latin typeface="Calibri"/>
                        </a:rPr>
                        <a:t>Add dispatch scans, carrier, holiday and strike data</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1"/>
                  </a:ext>
                </a:extLst>
              </a:tr>
              <a:tr h="960120">
                <a:tc>
                  <a:txBody>
                    <a:bodyPr/>
                    <a:lstStyle/>
                    <a:p>
                      <a:pPr algn="l"/>
                      <a:r>
                        <a:rPr sz="1700" b="1">
                          <a:solidFill>
                            <a:srgbClr val="111111"/>
                          </a:solidFill>
                          <a:latin typeface="Calibri"/>
                        </a:rPr>
                        <a:t>Scores run about 2× too high on the test period (8.1% vs 4.1%)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700" b="0">
                          <a:solidFill>
                            <a:srgbClr val="111111"/>
                          </a:solidFill>
                          <a:latin typeface="Calibri"/>
                        </a:rPr>
                        <a:t>A probability cut-off flags the wrong number</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700" b="0">
                          <a:solidFill>
                            <a:srgbClr val="111111"/>
                          </a:solidFill>
                          <a:latin typeface="Calibri"/>
                        </a:rPr>
                        <a:t>Flag the top 10% daily; recalibrate on recent data</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2"/>
                  </a:ext>
                </a:extLst>
              </a:tr>
              <a:tr h="960120">
                <a:tc>
                  <a:txBody>
                    <a:bodyPr/>
                    <a:lstStyle/>
                    <a:p>
                      <a:pPr algn="l"/>
                      <a:r>
                        <a:rPr sz="1700" b="1">
                          <a:solidFill>
                            <a:srgbClr val="111111"/>
                          </a:solidFill>
                          <a:latin typeface="Calibri"/>
                        </a:rPr>
                        <a:t>Gain over B1 at the 10% budget is within the noise</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700" b="0">
                          <a:solidFill>
                            <a:srgbClr val="111111"/>
                          </a:solidFill>
                          <a:latin typeface="Calibri"/>
                        </a:rPr>
                        <a:t>Extra features may not change what ops catch</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700" b="0">
                          <a:solidFill>
                            <a:srgbClr val="111111"/>
                          </a:solidFill>
                          <a:latin typeface="Calibri"/>
                        </a:rPr>
                        <a:t>Re-check on a fresh period; keep B1 as a fallback</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3"/>
                  </a:ext>
                </a:extLst>
              </a:tr>
              <a:tr h="960120">
                <a:tc>
                  <a:txBody>
                    <a:bodyPr/>
                    <a:lstStyle/>
                    <a:p>
                      <a:pPr algn="l"/>
                      <a:r>
                        <a:rPr sz="1700" b="1">
                          <a:solidFill>
                            <a:srgbClr val="111111"/>
                          </a:solidFill>
                          <a:latin typeface="Calibri"/>
                        </a:rPr>
                        <a:t>Short test window with the May 2018 truckers' strike; 2,963 orders never delivered</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l"/>
                      <a:r>
                        <a:rPr sz="1700" b="0">
                          <a:solidFill>
                            <a:srgbClr val="111111"/>
                          </a:solidFill>
                          <a:latin typeface="Calibri"/>
                        </a:rPr>
                        <a:t>Real uncertainty; true late rate likely above 7%</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l"/>
                      <a:r>
                        <a:rPr sz="1700" b="0">
                          <a:solidFill>
                            <a:srgbClr val="111111"/>
                          </a:solidFill>
                          <a:latin typeface="Calibri"/>
                        </a:rPr>
                        <a:t>Retrain quarterly and monitor monthly</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CONCLUSION · RECOMMENDATION</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Score daily, review the top 10%, invest in new data</a:t>
            </a:r>
          </a:p>
        </p:txBody>
      </p:sp>
      <p:sp>
        <p:nvSpPr>
          <p:cNvPr id="15" name="Answer card"/>
          <p:cNvSpPr/>
          <p:nvPr/>
        </p:nvSpPr>
        <p:spPr>
          <a:xfrm>
            <a:off x="731520" y="2240280"/>
            <a:ext cx="16824960" cy="1783080"/>
          </a:xfrm>
          <a:prstGeom prst="roundRect">
            <a:avLst>
              <a:gd name="adj" fmla="val 8205"/>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Answer accuracy"/>
          <p:cNvSpPr txBox="1"/>
          <p:nvPr/>
        </p:nvSpPr>
        <p:spPr>
          <a:xfrm>
            <a:off x="1051560" y="2377440"/>
            <a:ext cx="7955279" cy="1508760"/>
          </a:xfrm>
          <a:prstGeom prst="rect">
            <a:avLst/>
          </a:prstGeom>
          <a:noFill/>
        </p:spPr>
        <p:txBody>
          <a:bodyPr wrap="square" lIns="0" tIns="0" rIns="0" bIns="0" anchor="ctr">
            <a:spAutoFit/>
          </a:bodyPr>
          <a:lstStyle/>
          <a:p>
            <a:pPr algn="l">
              <a:spcAft>
                <a:spcPts val="600"/>
              </a:spcAft>
            </a:pPr>
            <a:r>
              <a:rPr sz="2200" b="1" i="0">
                <a:solidFill>
                  <a:srgbClr val="89EDD0"/>
                </a:solidFill>
                <a:latin typeface="Calibri"/>
              </a:rPr>
              <a:t>How accurately? </a:t>
            </a:r>
            <a:r>
              <a:rPr sz="2200" b="0" i="0">
                <a:solidFill>
                  <a:srgbClr val="FFFFFF"/>
                </a:solidFill>
                <a:latin typeface="Calibri"/>
              </a:rPr>
              <a:t>Moderately: checking 10% of orders catches 36% of late ones, 3.6× random.</a:t>
            </a:r>
          </a:p>
        </p:txBody>
      </p:sp>
      <p:sp>
        <p:nvSpPr>
          <p:cNvPr id="17" name="Answer drivers"/>
          <p:cNvSpPr txBox="1"/>
          <p:nvPr/>
        </p:nvSpPr>
        <p:spPr>
          <a:xfrm>
            <a:off x="9281160" y="2377440"/>
            <a:ext cx="7955279" cy="1508760"/>
          </a:xfrm>
          <a:prstGeom prst="rect">
            <a:avLst/>
          </a:prstGeom>
          <a:noFill/>
        </p:spPr>
        <p:txBody>
          <a:bodyPr wrap="square" lIns="0" tIns="0" rIns="0" bIns="0" anchor="ctr">
            <a:spAutoFit/>
          </a:bodyPr>
          <a:lstStyle/>
          <a:p>
            <a:pPr algn="l">
              <a:spcAft>
                <a:spcPts val="600"/>
              </a:spcAft>
            </a:pPr>
            <a:r>
              <a:rPr sz="2200" b="1" i="0">
                <a:solidFill>
                  <a:srgbClr val="89EDD0"/>
                </a:solidFill>
                <a:latin typeface="Calibri"/>
              </a:rPr>
              <a:t>What drives the risk? </a:t>
            </a:r>
            <a:r>
              <a:rPr sz="2200" b="0" i="0">
                <a:solidFill>
                  <a:srgbClr val="FFFFFF"/>
                </a:solidFill>
                <a:latin typeface="Calibri"/>
              </a:rPr>
              <a:t>A promise too short for the distance, and the destination, not the product.</a:t>
            </a:r>
          </a:p>
        </p:txBody>
      </p:sp>
      <p:sp>
        <p:nvSpPr>
          <p:cNvPr id="18" name="What worked card"/>
          <p:cNvSpPr/>
          <p:nvPr/>
        </p:nvSpPr>
        <p:spPr>
          <a:xfrm>
            <a:off x="731520" y="4206240"/>
            <a:ext cx="8229600" cy="2514600"/>
          </a:xfrm>
          <a:prstGeom prst="roundRect">
            <a:avLst>
              <a:gd name="adj" fmla="val 5818"/>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What worked heading"/>
          <p:cNvSpPr txBox="1"/>
          <p:nvPr/>
        </p:nvSpPr>
        <p:spPr>
          <a:xfrm>
            <a:off x="1051560" y="4343400"/>
            <a:ext cx="7589520" cy="457200"/>
          </a:xfrm>
          <a:prstGeom prst="rect">
            <a:avLst/>
          </a:prstGeom>
          <a:noFill/>
        </p:spPr>
        <p:txBody>
          <a:bodyPr wrap="square" lIns="0" tIns="0" rIns="0" bIns="0" anchor="t">
            <a:spAutoFit/>
          </a:bodyPr>
          <a:lstStyle/>
          <a:p>
            <a:pPr algn="l">
              <a:spcAft>
                <a:spcPts val="600"/>
              </a:spcAft>
            </a:pPr>
            <a:r>
              <a:rPr sz="2000" b="0" i="0">
                <a:solidFill>
                  <a:srgbClr val="111111"/>
                </a:solidFill>
                <a:latin typeface="Arial Black"/>
              </a:rPr>
              <a:t>What worked</a:t>
            </a:r>
          </a:p>
        </p:txBody>
      </p:sp>
      <p:sp>
        <p:nvSpPr>
          <p:cNvPr id="20" name="What worked list"/>
          <p:cNvSpPr txBox="1"/>
          <p:nvPr/>
        </p:nvSpPr>
        <p:spPr>
          <a:xfrm>
            <a:off x="1051560" y="4892040"/>
            <a:ext cx="7589520" cy="1783080"/>
          </a:xfrm>
          <a:prstGeom prst="rect">
            <a:avLst/>
          </a:prstGeom>
          <a:noFill/>
        </p:spPr>
        <p:txBody>
          <a:bodyPr wrap="square" lIns="0" tIns="0" rIns="0" bIns="0" anchor="t">
            <a:spAutoFit/>
          </a:bodyPr>
          <a:lstStyle/>
          <a:p>
            <a:pPr marL="292608" indent="-292608" algn="l">
              <a:spcAft>
                <a:spcPts val="300"/>
              </a:spcAft>
              <a:buClr>
                <a:srgbClr val="3669E8"/>
              </a:buClr>
              <a:buChar char="•"/>
            </a:pPr>
            <a:r>
              <a:rPr sz="1900" b="0" i="0">
                <a:solidFill>
                  <a:srgbClr val="111111"/>
                </a:solidFill>
                <a:latin typeface="Calibri"/>
              </a:rPr>
              <a:t>Time-based split and folds (a random split overstates)</a:t>
            </a:r>
          </a:p>
          <a:p>
            <a:pPr marL="292608" indent="-292608" algn="l">
              <a:spcAft>
                <a:spcPts val="300"/>
              </a:spcAft>
              <a:buClr>
                <a:srgbClr val="3669E8"/>
              </a:buClr>
              <a:buChar char="•"/>
            </a:pPr>
            <a:r>
              <a:rPr sz="1900" b="0" i="0">
                <a:solidFill>
                  <a:srgbClr val="111111"/>
                </a:solidFill>
                <a:latin typeface="Calibri"/>
              </a:rPr>
              <a:t>Comparing models on lift, not raw PR-AUC</a:t>
            </a:r>
          </a:p>
          <a:p>
            <a:pPr marL="292608" indent="-292608" algn="l">
              <a:spcAft>
                <a:spcPts val="300"/>
              </a:spcAft>
              <a:buClr>
                <a:srgbClr val="3669E8"/>
              </a:buClr>
              <a:buChar char="•"/>
            </a:pPr>
            <a:r>
              <a:rPr sz="1900" b="0" i="0">
                <a:solidFill>
                  <a:srgbClr val="111111"/>
                </a:solidFill>
                <a:latin typeface="Calibri"/>
              </a:rPr>
              <a:t>Dropping purchase_month</a:t>
            </a:r>
          </a:p>
          <a:p>
            <a:pPr marL="292608" indent="-292608" algn="l">
              <a:spcAft>
                <a:spcPts val="300"/>
              </a:spcAft>
              <a:buClr>
                <a:srgbClr val="3669E8"/>
              </a:buClr>
              <a:buChar char="•"/>
            </a:pPr>
            <a:r>
              <a:rPr sz="1900" b="0" i="0">
                <a:solidFill>
                  <a:srgbClr val="111111"/>
                </a:solidFill>
                <a:latin typeface="Calibri"/>
              </a:rPr>
              <a:t>A regularised logistic regression</a:t>
            </a:r>
          </a:p>
        </p:txBody>
      </p:sp>
      <p:sp>
        <p:nvSpPr>
          <p:cNvPr id="21" name="What didn't card"/>
          <p:cNvSpPr/>
          <p:nvPr/>
        </p:nvSpPr>
        <p:spPr>
          <a:xfrm>
            <a:off x="9326880" y="4206240"/>
            <a:ext cx="8229600" cy="2514600"/>
          </a:xfrm>
          <a:prstGeom prst="roundRect">
            <a:avLst>
              <a:gd name="adj" fmla="val 5818"/>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What didn't heading"/>
          <p:cNvSpPr txBox="1"/>
          <p:nvPr/>
        </p:nvSpPr>
        <p:spPr>
          <a:xfrm>
            <a:off x="9646920" y="4343400"/>
            <a:ext cx="7589520" cy="457200"/>
          </a:xfrm>
          <a:prstGeom prst="rect">
            <a:avLst/>
          </a:prstGeom>
          <a:noFill/>
        </p:spPr>
        <p:txBody>
          <a:bodyPr wrap="square" lIns="0" tIns="0" rIns="0" bIns="0" anchor="t">
            <a:spAutoFit/>
          </a:bodyPr>
          <a:lstStyle/>
          <a:p>
            <a:pPr algn="l">
              <a:spcAft>
                <a:spcPts val="600"/>
              </a:spcAft>
            </a:pPr>
            <a:r>
              <a:rPr sz="2000" b="0" i="0">
                <a:solidFill>
                  <a:srgbClr val="3669E8"/>
                </a:solidFill>
                <a:latin typeface="Arial Black"/>
              </a:rPr>
              <a:t>What didn't</a:t>
            </a:r>
          </a:p>
        </p:txBody>
      </p:sp>
      <p:sp>
        <p:nvSpPr>
          <p:cNvPr id="23" name="What didn't list"/>
          <p:cNvSpPr txBox="1"/>
          <p:nvPr/>
        </p:nvSpPr>
        <p:spPr>
          <a:xfrm>
            <a:off x="9646920" y="4892040"/>
            <a:ext cx="7589520" cy="1783080"/>
          </a:xfrm>
          <a:prstGeom prst="rect">
            <a:avLst/>
          </a:prstGeom>
          <a:noFill/>
        </p:spPr>
        <p:txBody>
          <a:bodyPr wrap="square" lIns="0" tIns="0" rIns="0" bIns="0" anchor="t">
            <a:spAutoFit/>
          </a:bodyPr>
          <a:lstStyle/>
          <a:p>
            <a:pPr marL="292608" indent="-292608" algn="l">
              <a:spcAft>
                <a:spcPts val="300"/>
              </a:spcAft>
              <a:buClr>
                <a:srgbClr val="3669E8"/>
              </a:buClr>
              <a:buChar char="•"/>
            </a:pPr>
            <a:r>
              <a:rPr sz="1900" b="0" i="0">
                <a:solidFill>
                  <a:srgbClr val="111111"/>
                </a:solidFill>
                <a:latin typeface="Calibri"/>
              </a:rPr>
              <a:t>Tree models and ensembles: more capacity, more memorisation</a:t>
            </a:r>
          </a:p>
          <a:p>
            <a:pPr marL="292608" indent="-292608" algn="l">
              <a:spcAft>
                <a:spcPts val="300"/>
              </a:spcAft>
              <a:buClr>
                <a:srgbClr val="3669E8"/>
              </a:buClr>
              <a:buChar char="•"/>
            </a:pPr>
            <a:r>
              <a:rPr sz="1900" b="0" i="0">
                <a:solidFill>
                  <a:srgbClr val="111111"/>
                </a:solidFill>
                <a:latin typeface="Calibri"/>
              </a:rPr>
              <a:t>Extra features: recent late rates, seller history, route slack</a:t>
            </a:r>
          </a:p>
          <a:p>
            <a:pPr marL="292608" indent="-292608" algn="l">
              <a:spcAft>
                <a:spcPts val="300"/>
              </a:spcAft>
              <a:buClr>
                <a:srgbClr val="3669E8"/>
              </a:buClr>
              <a:buChar char="•"/>
            </a:pPr>
            <a:r>
              <a:rPr sz="1900" b="0" i="0">
                <a:solidFill>
                  <a:srgbClr val="111111"/>
                </a:solidFill>
                <a:latin typeface="Calibri"/>
              </a:rPr>
              <a:t>Native categorical splits for gradient boosting</a:t>
            </a:r>
          </a:p>
        </p:txBody>
      </p:sp>
      <p:sp>
        <p:nvSpPr>
          <p:cNvPr id="24" name="Action 1"/>
          <p:cNvSpPr/>
          <p:nvPr/>
        </p:nvSpPr>
        <p:spPr>
          <a:xfrm>
            <a:off x="731520" y="6903720"/>
            <a:ext cx="5394960" cy="1828800"/>
          </a:xfrm>
          <a:prstGeom prst="roundRect">
            <a:avLst>
              <a:gd name="adj" fmla="val 8000"/>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Action number 1"/>
          <p:cNvSpPr/>
          <p:nvPr/>
        </p:nvSpPr>
        <p:spPr>
          <a:xfrm>
            <a:off x="1005840" y="7223760"/>
            <a:ext cx="777240" cy="777240"/>
          </a:xfrm>
          <a:prstGeom prst="ellipse">
            <a:avLst/>
          </a:prstGeom>
          <a:solidFill>
            <a:srgbClr val="E1F44B"/>
          </a:solidFill>
          <a:ln w="381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a:solidFill>
                  <a:srgbClr val="111111"/>
                </a:solidFill>
                <a:latin typeface="Arial Black"/>
              </a:rPr>
              <a:t>1</a:t>
            </a:r>
          </a:p>
        </p:txBody>
      </p:sp>
      <p:sp>
        <p:nvSpPr>
          <p:cNvPr id="26" name="Action title 1"/>
          <p:cNvSpPr txBox="1"/>
          <p:nvPr/>
        </p:nvSpPr>
        <p:spPr>
          <a:xfrm>
            <a:off x="2011680" y="7086600"/>
            <a:ext cx="3931920" cy="502920"/>
          </a:xfrm>
          <a:prstGeom prst="rect">
            <a:avLst/>
          </a:prstGeom>
          <a:noFill/>
        </p:spPr>
        <p:txBody>
          <a:bodyPr wrap="square" lIns="0" tIns="0" rIns="0" bIns="0" anchor="t">
            <a:spAutoFit/>
          </a:bodyPr>
          <a:lstStyle/>
          <a:p>
            <a:pPr algn="l">
              <a:spcAft>
                <a:spcPts val="600"/>
              </a:spcAft>
            </a:pPr>
            <a:r>
              <a:rPr sz="1900" b="0" i="0">
                <a:solidFill>
                  <a:srgbClr val="111111"/>
                </a:solidFill>
                <a:latin typeface="Arial Black"/>
              </a:rPr>
              <a:t>Score nightly</a:t>
            </a:r>
          </a:p>
        </p:txBody>
      </p:sp>
      <p:sp>
        <p:nvSpPr>
          <p:cNvPr id="27" name="Action text 1"/>
          <p:cNvSpPr txBox="1"/>
          <p:nvPr/>
        </p:nvSpPr>
        <p:spPr>
          <a:xfrm>
            <a:off x="2011680" y="7635240"/>
            <a:ext cx="3931920" cy="1005840"/>
          </a:xfrm>
          <a:prstGeom prst="rect">
            <a:avLst/>
          </a:prstGeom>
          <a:noFill/>
        </p:spPr>
        <p:txBody>
          <a:bodyPr wrap="square" lIns="0" tIns="0" rIns="0" bIns="0" anchor="t">
            <a:spAutoFit/>
          </a:bodyPr>
          <a:lstStyle/>
          <a:p>
            <a:pPr algn="l">
              <a:spcAft>
                <a:spcPts val="600"/>
              </a:spcAft>
            </a:pPr>
            <a:r>
              <a:rPr sz="1700" b="0" i="0">
                <a:solidFill>
                  <a:srgbClr val="111111"/>
                </a:solidFill>
                <a:latin typeface="Calibri"/>
              </a:rPr>
              <a:t>Review the top 10%; rank, don't use as a probability</a:t>
            </a:r>
          </a:p>
        </p:txBody>
      </p:sp>
      <p:sp>
        <p:nvSpPr>
          <p:cNvPr id="28" name="Action 2"/>
          <p:cNvSpPr/>
          <p:nvPr/>
        </p:nvSpPr>
        <p:spPr>
          <a:xfrm>
            <a:off x="6446520" y="6903720"/>
            <a:ext cx="5394960" cy="1828800"/>
          </a:xfrm>
          <a:prstGeom prst="roundRect">
            <a:avLst>
              <a:gd name="adj" fmla="val 8000"/>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Action number 2"/>
          <p:cNvSpPr/>
          <p:nvPr/>
        </p:nvSpPr>
        <p:spPr>
          <a:xfrm>
            <a:off x="6720840" y="7223760"/>
            <a:ext cx="777240" cy="777240"/>
          </a:xfrm>
          <a:prstGeom prst="ellipse">
            <a:avLst/>
          </a:prstGeom>
          <a:solidFill>
            <a:srgbClr val="E1F44B"/>
          </a:solidFill>
          <a:ln w="381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a:solidFill>
                  <a:srgbClr val="111111"/>
                </a:solidFill>
                <a:latin typeface="Arial Black"/>
              </a:rPr>
              <a:t>2</a:t>
            </a:r>
          </a:p>
        </p:txBody>
      </p:sp>
      <p:sp>
        <p:nvSpPr>
          <p:cNvPr id="30" name="Action title 2"/>
          <p:cNvSpPr txBox="1"/>
          <p:nvPr/>
        </p:nvSpPr>
        <p:spPr>
          <a:xfrm>
            <a:off x="7726679" y="7086600"/>
            <a:ext cx="3931920" cy="502920"/>
          </a:xfrm>
          <a:prstGeom prst="rect">
            <a:avLst/>
          </a:prstGeom>
          <a:noFill/>
        </p:spPr>
        <p:txBody>
          <a:bodyPr wrap="square" lIns="0" tIns="0" rIns="0" bIns="0" anchor="t">
            <a:spAutoFit/>
          </a:bodyPr>
          <a:lstStyle/>
          <a:p>
            <a:pPr algn="l">
              <a:spcAft>
                <a:spcPts val="600"/>
              </a:spcAft>
            </a:pPr>
            <a:r>
              <a:rPr sz="1900" b="0" i="0">
                <a:solidFill>
                  <a:srgbClr val="111111"/>
                </a:solidFill>
                <a:latin typeface="Arial Black"/>
              </a:rPr>
              <a:t>Monitor and retrain</a:t>
            </a:r>
          </a:p>
        </p:txBody>
      </p:sp>
      <p:sp>
        <p:nvSpPr>
          <p:cNvPr id="31" name="Action text 2"/>
          <p:cNvSpPr txBox="1"/>
          <p:nvPr/>
        </p:nvSpPr>
        <p:spPr>
          <a:xfrm>
            <a:off x="7726679" y="7635240"/>
            <a:ext cx="3931920" cy="1005840"/>
          </a:xfrm>
          <a:prstGeom prst="rect">
            <a:avLst/>
          </a:prstGeom>
          <a:noFill/>
        </p:spPr>
        <p:txBody>
          <a:bodyPr wrap="square" lIns="0" tIns="0" rIns="0" bIns="0" anchor="t">
            <a:spAutoFit/>
          </a:bodyPr>
          <a:lstStyle/>
          <a:p>
            <a:pPr algn="l">
              <a:spcAft>
                <a:spcPts val="600"/>
              </a:spcAft>
            </a:pPr>
            <a:r>
              <a:rPr sz="1700" b="0" i="0">
                <a:solidFill>
                  <a:srgbClr val="111111"/>
                </a:solidFill>
                <a:latin typeface="Calibri"/>
              </a:rPr>
              <a:t>Track top-10% recall monthly; retrain quarterly</a:t>
            </a:r>
          </a:p>
        </p:txBody>
      </p:sp>
      <p:sp>
        <p:nvSpPr>
          <p:cNvPr id="32" name="Action 3"/>
          <p:cNvSpPr/>
          <p:nvPr/>
        </p:nvSpPr>
        <p:spPr>
          <a:xfrm>
            <a:off x="12161520" y="6903720"/>
            <a:ext cx="5394960" cy="1828800"/>
          </a:xfrm>
          <a:prstGeom prst="roundRect">
            <a:avLst>
              <a:gd name="adj" fmla="val 8000"/>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3" name="Action number 3"/>
          <p:cNvSpPr/>
          <p:nvPr/>
        </p:nvSpPr>
        <p:spPr>
          <a:xfrm>
            <a:off x="12435840" y="7223760"/>
            <a:ext cx="777240" cy="777240"/>
          </a:xfrm>
          <a:prstGeom prst="ellipse">
            <a:avLst/>
          </a:prstGeom>
          <a:solidFill>
            <a:srgbClr val="E1F44B"/>
          </a:solidFill>
          <a:ln w="3810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2400">
                <a:solidFill>
                  <a:srgbClr val="111111"/>
                </a:solidFill>
                <a:latin typeface="Arial Black"/>
              </a:rPr>
              <a:t>3</a:t>
            </a:r>
          </a:p>
        </p:txBody>
      </p:sp>
      <p:sp>
        <p:nvSpPr>
          <p:cNvPr id="34" name="Action title 3"/>
          <p:cNvSpPr txBox="1"/>
          <p:nvPr/>
        </p:nvSpPr>
        <p:spPr>
          <a:xfrm>
            <a:off x="13441680" y="7086600"/>
            <a:ext cx="3931920" cy="502920"/>
          </a:xfrm>
          <a:prstGeom prst="rect">
            <a:avLst/>
          </a:prstGeom>
          <a:noFill/>
        </p:spPr>
        <p:txBody>
          <a:bodyPr wrap="square" lIns="0" tIns="0" rIns="0" bIns="0" anchor="t">
            <a:spAutoFit/>
          </a:bodyPr>
          <a:lstStyle/>
          <a:p>
            <a:pPr algn="l">
              <a:spcAft>
                <a:spcPts val="600"/>
              </a:spcAft>
            </a:pPr>
            <a:r>
              <a:rPr sz="1900" b="0" i="0">
                <a:solidFill>
                  <a:srgbClr val="111111"/>
                </a:solidFill>
                <a:latin typeface="Arial Black"/>
              </a:rPr>
              <a:t>Invest in data</a:t>
            </a:r>
          </a:p>
        </p:txBody>
      </p:sp>
      <p:sp>
        <p:nvSpPr>
          <p:cNvPr id="35" name="Action text 3"/>
          <p:cNvSpPr txBox="1"/>
          <p:nvPr/>
        </p:nvSpPr>
        <p:spPr>
          <a:xfrm>
            <a:off x="13441680" y="7635240"/>
            <a:ext cx="3931920" cy="1005840"/>
          </a:xfrm>
          <a:prstGeom prst="rect">
            <a:avLst/>
          </a:prstGeom>
          <a:noFill/>
        </p:spPr>
        <p:txBody>
          <a:bodyPr wrap="square" lIns="0" tIns="0" rIns="0" bIns="0" anchor="t">
            <a:spAutoFit/>
          </a:bodyPr>
          <a:lstStyle/>
          <a:p>
            <a:pPr algn="l">
              <a:spcAft>
                <a:spcPts val="600"/>
              </a:spcAft>
            </a:pPr>
            <a:r>
              <a:rPr sz="1700" b="0" i="0">
                <a:solidFill>
                  <a:srgbClr val="111111"/>
                </a:solidFill>
                <a:latin typeface="Calibri"/>
              </a:rPr>
              <a:t>Dispatch scans, carrier data, a disruption calendar</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a:off x="-13460393" y="349828"/>
            <a:ext cx="31950551" cy="8423327"/>
          </a:xfrm>
          <a:custGeom>
            <a:avLst/>
            <a:gdLst/>
            <a:ahLst/>
            <a:cxnLst/>
            <a:rect l="l" t="t" r="r" b="b"/>
            <a:pathLst>
              <a:path w="31950551" h="8423327">
                <a:moveTo>
                  <a:pt x="0" y="0"/>
                </a:moveTo>
                <a:lnTo>
                  <a:pt x="31950550" y="0"/>
                </a:lnTo>
                <a:lnTo>
                  <a:pt x="31950550" y="8423327"/>
                </a:lnTo>
                <a:lnTo>
                  <a:pt x="0" y="8423327"/>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3" name="Freeform 3"/>
          <p:cNvSpPr/>
          <p:nvPr/>
        </p:nvSpPr>
        <p:spPr>
          <a:xfrm>
            <a:off x="9109795" y="8201982"/>
            <a:ext cx="11567202" cy="2458031"/>
          </a:xfrm>
          <a:custGeom>
            <a:avLst/>
            <a:gdLst/>
            <a:ahLst/>
            <a:cxnLst/>
            <a:rect l="l" t="t" r="r" b="b"/>
            <a:pathLst>
              <a:path w="11567202" h="2458031">
                <a:moveTo>
                  <a:pt x="0" y="0"/>
                </a:moveTo>
                <a:lnTo>
                  <a:pt x="11567202" y="0"/>
                </a:lnTo>
                <a:lnTo>
                  <a:pt x="11567202" y="2458031"/>
                </a:lnTo>
                <a:lnTo>
                  <a:pt x="0" y="24580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4" name="Freeform 4"/>
          <p:cNvSpPr/>
          <p:nvPr/>
        </p:nvSpPr>
        <p:spPr>
          <a:xfrm>
            <a:off x="-2388997" y="8201982"/>
            <a:ext cx="11567202" cy="2458031"/>
          </a:xfrm>
          <a:custGeom>
            <a:avLst/>
            <a:gdLst/>
            <a:ahLst/>
            <a:cxnLst/>
            <a:rect l="l" t="t" r="r" b="b"/>
            <a:pathLst>
              <a:path w="11567202" h="2458031">
                <a:moveTo>
                  <a:pt x="0" y="0"/>
                </a:moveTo>
                <a:lnTo>
                  <a:pt x="11567202" y="0"/>
                </a:lnTo>
                <a:lnTo>
                  <a:pt x="11567202" y="2458031"/>
                </a:lnTo>
                <a:lnTo>
                  <a:pt x="0" y="2458031"/>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5" name="Freeform 5"/>
          <p:cNvSpPr/>
          <p:nvPr/>
        </p:nvSpPr>
        <p:spPr>
          <a:xfrm flipH="1">
            <a:off x="1932754" y="3759871"/>
            <a:ext cx="7245451" cy="5796361"/>
          </a:xfrm>
          <a:custGeom>
            <a:avLst/>
            <a:gdLst/>
            <a:ahLst/>
            <a:cxnLst/>
            <a:rect l="l" t="t" r="r" b="b"/>
            <a:pathLst>
              <a:path w="7245451" h="5796361">
                <a:moveTo>
                  <a:pt x="7245451" y="0"/>
                </a:moveTo>
                <a:lnTo>
                  <a:pt x="0" y="0"/>
                </a:lnTo>
                <a:lnTo>
                  <a:pt x="0" y="5796361"/>
                </a:lnTo>
                <a:lnTo>
                  <a:pt x="7245451" y="5796361"/>
                </a:lnTo>
                <a:lnTo>
                  <a:pt x="7245451"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6" name="Closing title"/>
          <p:cNvSpPr txBox="1"/>
          <p:nvPr/>
        </p:nvSpPr>
        <p:spPr>
          <a:xfrm>
            <a:off x="9601200" y="685800"/>
            <a:ext cx="8138160" cy="677108"/>
          </a:xfrm>
          <a:prstGeom prst="rect">
            <a:avLst/>
          </a:prstGeom>
          <a:noFill/>
        </p:spPr>
        <p:txBody>
          <a:bodyPr wrap="square" lIns="0" tIns="0" rIns="0" bIns="0" anchor="t">
            <a:spAutoFit/>
          </a:bodyPr>
          <a:lstStyle/>
          <a:p>
            <a:pPr algn="l">
              <a:spcAft>
                <a:spcPts val="0"/>
              </a:spcAft>
            </a:pPr>
            <a:r>
              <a:rPr sz="4400" b="0" i="0" dirty="0">
                <a:solidFill>
                  <a:srgbClr val="111111"/>
                </a:solidFill>
                <a:latin typeface="Arial Black"/>
              </a:rPr>
              <a:t>Thank </a:t>
            </a:r>
            <a:r>
              <a:rPr sz="4400" b="0" i="0">
                <a:solidFill>
                  <a:srgbClr val="111111"/>
                </a:solidFill>
                <a:latin typeface="Arial Black"/>
              </a:rPr>
              <a:t>you ·</a:t>
            </a:r>
            <a:endParaRPr sz="4400" b="0" i="0" dirty="0">
              <a:solidFill>
                <a:srgbClr val="3669E8"/>
              </a:solidFill>
              <a:latin typeface="Arial Black"/>
            </a:endParaRPr>
          </a:p>
        </p:txBody>
      </p:sp>
      <p:sp>
        <p:nvSpPr>
          <p:cNvPr id="7" name="Repo link"/>
          <p:cNvSpPr txBox="1"/>
          <p:nvPr/>
        </p:nvSpPr>
        <p:spPr>
          <a:xfrm>
            <a:off x="9601200" y="1645920"/>
            <a:ext cx="8138160" cy="457200"/>
          </a:xfrm>
          <a:prstGeom prst="rect">
            <a:avLst/>
          </a:prstGeom>
          <a:noFill/>
        </p:spPr>
        <p:txBody>
          <a:bodyPr wrap="square" lIns="0" tIns="0" rIns="0" bIns="0" anchor="t">
            <a:spAutoFit/>
          </a:bodyPr>
          <a:lstStyle/>
          <a:p>
            <a:pPr algn="l">
              <a:spcAft>
                <a:spcPts val="600"/>
              </a:spcAft>
            </a:pPr>
            <a:r>
              <a:rPr sz="2000" b="1" i="0">
                <a:solidFill>
                  <a:srgbClr val="111111"/>
                </a:solidFill>
                <a:latin typeface="Calibri"/>
              </a:rPr>
              <a:t>github.com/JustJay7/olist-late-delivery</a:t>
            </a:r>
          </a:p>
        </p:txBody>
      </p:sp>
      <p:sp>
        <p:nvSpPr>
          <p:cNvPr id="8" name="Contributors card"/>
          <p:cNvSpPr/>
          <p:nvPr/>
        </p:nvSpPr>
        <p:spPr>
          <a:xfrm>
            <a:off x="9601200" y="2331720"/>
            <a:ext cx="8138160" cy="5349240"/>
          </a:xfrm>
          <a:prstGeom prst="roundRect">
            <a:avLst>
              <a:gd name="adj" fmla="val 2735"/>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9" name="Contributors heading"/>
          <p:cNvSpPr txBox="1"/>
          <p:nvPr/>
        </p:nvSpPr>
        <p:spPr>
          <a:xfrm>
            <a:off x="9921240" y="2514600"/>
            <a:ext cx="7498079" cy="457200"/>
          </a:xfrm>
          <a:prstGeom prst="rect">
            <a:avLst/>
          </a:prstGeom>
          <a:noFill/>
        </p:spPr>
        <p:txBody>
          <a:bodyPr wrap="square" lIns="0" tIns="0" rIns="0" bIns="0" anchor="t">
            <a:spAutoFit/>
          </a:bodyPr>
          <a:lstStyle/>
          <a:p>
            <a:pPr algn="l">
              <a:spcAft>
                <a:spcPts val="600"/>
              </a:spcAft>
            </a:pPr>
            <a:r>
              <a:rPr sz="2200" b="0" i="0">
                <a:solidFill>
                  <a:srgbClr val="3669E8"/>
                </a:solidFill>
                <a:latin typeface="Arial Black"/>
              </a:rPr>
              <a:t>Contributors</a:t>
            </a:r>
          </a:p>
        </p:txBody>
      </p:sp>
      <p:graphicFrame>
        <p:nvGraphicFramePr>
          <p:cNvPr id="10" name="Contributors table"/>
          <p:cNvGraphicFramePr>
            <a:graphicFrameLocks noGrp="1"/>
          </p:cNvGraphicFramePr>
          <p:nvPr/>
        </p:nvGraphicFramePr>
        <p:xfrm>
          <a:off x="9921240" y="3063240"/>
          <a:ext cx="7498079" cy="4416552"/>
        </p:xfrm>
        <a:graphic>
          <a:graphicData uri="http://schemas.openxmlformats.org/drawingml/2006/table">
            <a:tbl>
              <a:tblPr>
                <a:tableStyleId>{2D5ABB26-0587-4C30-8999-92F81FD0307C}</a:tableStyleId>
              </a:tblPr>
              <a:tblGrid>
                <a:gridCol w="2240280">
                  <a:extLst>
                    <a:ext uri="{9D8B030D-6E8A-4147-A177-3AD203B41FA5}">
                      <a16:colId xmlns:a16="http://schemas.microsoft.com/office/drawing/2014/main" val="20000"/>
                    </a:ext>
                  </a:extLst>
                </a:gridCol>
                <a:gridCol w="1874519">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630936">
                <a:tc>
                  <a:txBody>
                    <a:bodyPr/>
                    <a:lstStyle/>
                    <a:p>
                      <a:pPr algn="l"/>
                      <a:r>
                        <a:rPr sz="1700" b="1">
                          <a:solidFill>
                            <a:srgbClr val="111111"/>
                          </a:solidFill>
                          <a:latin typeface="Calibri"/>
                        </a:rPr>
                        <a:t>Jay Malhotra</a:t>
                      </a:r>
                    </a:p>
                  </a:txBody>
                  <a:tcPr marL="36576" marR="36576" marT="54864" marB="54864" anchor="ctr">
                    <a:noFill/>
                  </a:tcPr>
                </a:tc>
                <a:tc>
                  <a:txBody>
                    <a:bodyPr/>
                    <a:lstStyle/>
                    <a:p>
                      <a:pPr algn="l"/>
                      <a:r>
                        <a:rPr sz="1600" b="0">
                          <a:solidFill>
                            <a:srgbClr val="3669E8"/>
                          </a:solidFill>
                          <a:latin typeface="Calibri"/>
                        </a:rPr>
                        <a:t>@JustJay7</a:t>
                      </a:r>
                    </a:p>
                  </a:txBody>
                  <a:tcPr marL="36576" marR="36576" marT="54864" marB="54864" anchor="ctr">
                    <a:noFill/>
                  </a:tcPr>
                </a:tc>
                <a:tc>
                  <a:txBody>
                    <a:bodyPr/>
                    <a:lstStyle/>
                    <a:p>
                      <a:pPr algn="l"/>
                      <a:r>
                        <a:rPr sz="1600" b="0">
                          <a:solidFill>
                            <a:srgbClr val="111111"/>
                          </a:solidFill>
                          <a:latin typeface="Calibri"/>
                        </a:rPr>
                        <a:t>Project lead, framing, integration</a:t>
                      </a:r>
                    </a:p>
                  </a:txBody>
                  <a:tcPr marL="36576" marR="36576" marT="54864" marB="54864" anchor="ctr">
                    <a:noFill/>
                  </a:tcPr>
                </a:tc>
                <a:extLst>
                  <a:ext uri="{0D108BD9-81ED-4DB2-BD59-A6C34878D82A}">
                    <a16:rowId xmlns:a16="http://schemas.microsoft.com/office/drawing/2014/main" val="10000"/>
                  </a:ext>
                </a:extLst>
              </a:tr>
              <a:tr h="630936">
                <a:tc>
                  <a:txBody>
                    <a:bodyPr/>
                    <a:lstStyle/>
                    <a:p>
                      <a:pPr algn="l"/>
                      <a:r>
                        <a:rPr sz="1700" b="1">
                          <a:solidFill>
                            <a:srgbClr val="111111"/>
                          </a:solidFill>
                          <a:latin typeface="Calibri"/>
                        </a:rPr>
                        <a:t>Hasan Malik</a:t>
                      </a:r>
                    </a:p>
                  </a:txBody>
                  <a:tcPr marL="36576" marR="36576" marT="54864" marB="54864" anchor="ctr">
                    <a:noFill/>
                  </a:tcPr>
                </a:tc>
                <a:tc>
                  <a:txBody>
                    <a:bodyPr/>
                    <a:lstStyle/>
                    <a:p>
                      <a:pPr algn="l"/>
                      <a:r>
                        <a:rPr sz="1600" b="0">
                          <a:solidFill>
                            <a:srgbClr val="3669E8"/>
                          </a:solidFill>
                          <a:latin typeface="Calibri"/>
                        </a:rPr>
                        <a:t>@Hasan8036</a:t>
                      </a:r>
                    </a:p>
                  </a:txBody>
                  <a:tcPr marL="36576" marR="36576" marT="54864" marB="54864" anchor="ctr">
                    <a:noFill/>
                  </a:tcPr>
                </a:tc>
                <a:tc>
                  <a:txBody>
                    <a:bodyPr/>
                    <a:lstStyle/>
                    <a:p>
                      <a:pPr algn="l"/>
                      <a:r>
                        <a:rPr sz="1600" b="0">
                          <a:solidFill>
                            <a:srgbClr val="111111"/>
                          </a:solidFill>
                          <a:latin typeface="Calibri"/>
                        </a:rPr>
                        <a:t>Exploring the data</a:t>
                      </a:r>
                    </a:p>
                  </a:txBody>
                  <a:tcPr marL="36576" marR="36576" marT="54864" marB="54864" anchor="ctr">
                    <a:noFill/>
                  </a:tcPr>
                </a:tc>
                <a:extLst>
                  <a:ext uri="{0D108BD9-81ED-4DB2-BD59-A6C34878D82A}">
                    <a16:rowId xmlns:a16="http://schemas.microsoft.com/office/drawing/2014/main" val="10001"/>
                  </a:ext>
                </a:extLst>
              </a:tr>
              <a:tr h="630936">
                <a:tc>
                  <a:txBody>
                    <a:bodyPr/>
                    <a:lstStyle/>
                    <a:p>
                      <a:pPr algn="l"/>
                      <a:r>
                        <a:rPr sz="1700" b="1">
                          <a:solidFill>
                            <a:srgbClr val="111111"/>
                          </a:solidFill>
                          <a:latin typeface="Calibri"/>
                        </a:rPr>
                        <a:t>Fidan Shiraliyeva</a:t>
                      </a:r>
                    </a:p>
                  </a:txBody>
                  <a:tcPr marL="36576" marR="36576" marT="54864" marB="54864" anchor="ctr">
                    <a:noFill/>
                  </a:tcPr>
                </a:tc>
                <a:tc>
                  <a:txBody>
                    <a:bodyPr/>
                    <a:lstStyle/>
                    <a:p>
                      <a:pPr algn="l"/>
                      <a:r>
                        <a:rPr sz="1600" b="0">
                          <a:solidFill>
                            <a:srgbClr val="3669E8"/>
                          </a:solidFill>
                          <a:latin typeface="Calibri"/>
                        </a:rPr>
                        <a:t>@shiraliyeva</a:t>
                      </a:r>
                    </a:p>
                  </a:txBody>
                  <a:tcPr marL="36576" marR="36576" marT="54864" marB="54864" anchor="ctr">
                    <a:noFill/>
                  </a:tcPr>
                </a:tc>
                <a:tc>
                  <a:txBody>
                    <a:bodyPr/>
                    <a:lstStyle/>
                    <a:p>
                      <a:pPr algn="l"/>
                      <a:r>
                        <a:rPr sz="1600" b="0">
                          <a:solidFill>
                            <a:srgbClr val="111111"/>
                          </a:solidFill>
                          <a:latin typeface="Calibri"/>
                        </a:rPr>
                        <a:t>Model comparison and shortlist</a:t>
                      </a:r>
                    </a:p>
                  </a:txBody>
                  <a:tcPr marL="36576" marR="36576" marT="54864" marB="54864" anchor="ctr">
                    <a:noFill/>
                  </a:tcPr>
                </a:tc>
                <a:extLst>
                  <a:ext uri="{0D108BD9-81ED-4DB2-BD59-A6C34878D82A}">
                    <a16:rowId xmlns:a16="http://schemas.microsoft.com/office/drawing/2014/main" val="10002"/>
                  </a:ext>
                </a:extLst>
              </a:tr>
              <a:tr h="630936">
                <a:tc>
                  <a:txBody>
                    <a:bodyPr/>
                    <a:lstStyle/>
                    <a:p>
                      <a:pPr algn="l"/>
                      <a:r>
                        <a:rPr sz="1700" b="1">
                          <a:solidFill>
                            <a:srgbClr val="111111"/>
                          </a:solidFill>
                          <a:latin typeface="Calibri"/>
                        </a:rPr>
                        <a:t>Jingyu Wu</a:t>
                      </a:r>
                    </a:p>
                  </a:txBody>
                  <a:tcPr marL="36576" marR="36576" marT="54864" marB="54864" anchor="ctr">
                    <a:noFill/>
                  </a:tcPr>
                </a:tc>
                <a:tc>
                  <a:txBody>
                    <a:bodyPr/>
                    <a:lstStyle/>
                    <a:p>
                      <a:pPr algn="l"/>
                      <a:r>
                        <a:rPr sz="1600" b="0">
                          <a:solidFill>
                            <a:srgbClr val="3669E8"/>
                          </a:solidFill>
                          <a:latin typeface="Calibri"/>
                        </a:rPr>
                        <a:t>@Jing-yu-Wu</a:t>
                      </a:r>
                    </a:p>
                  </a:txBody>
                  <a:tcPr marL="36576" marR="36576" marT="54864" marB="54864" anchor="ctr">
                    <a:noFill/>
                  </a:tcPr>
                </a:tc>
                <a:tc>
                  <a:txBody>
                    <a:bodyPr/>
                    <a:lstStyle/>
                    <a:p>
                      <a:pPr algn="l"/>
                      <a:r>
                        <a:rPr sz="1600" b="0">
                          <a:solidFill>
                            <a:srgbClr val="111111"/>
                          </a:solidFill>
                          <a:latin typeface="Calibri"/>
                        </a:rPr>
                        <a:t>Interpretation and error analysis</a:t>
                      </a:r>
                    </a:p>
                  </a:txBody>
                  <a:tcPr marL="36576" marR="36576" marT="54864" marB="54864" anchor="ctr">
                    <a:noFill/>
                  </a:tcPr>
                </a:tc>
                <a:extLst>
                  <a:ext uri="{0D108BD9-81ED-4DB2-BD59-A6C34878D82A}">
                    <a16:rowId xmlns:a16="http://schemas.microsoft.com/office/drawing/2014/main" val="10003"/>
                  </a:ext>
                </a:extLst>
              </a:tr>
              <a:tr h="630936">
                <a:tc>
                  <a:txBody>
                    <a:bodyPr/>
                    <a:lstStyle/>
                    <a:p>
                      <a:pPr algn="l"/>
                      <a:r>
                        <a:rPr sz="1700" b="1">
                          <a:solidFill>
                            <a:srgbClr val="111111"/>
                          </a:solidFill>
                          <a:latin typeface="Calibri"/>
                        </a:rPr>
                        <a:t>Peace Isaac</a:t>
                      </a:r>
                    </a:p>
                  </a:txBody>
                  <a:tcPr marL="36576" marR="36576" marT="54864" marB="54864" anchor="ctr">
                    <a:noFill/>
                  </a:tcPr>
                </a:tc>
                <a:tc>
                  <a:txBody>
                    <a:bodyPr/>
                    <a:lstStyle/>
                    <a:p>
                      <a:pPr algn="l"/>
                      <a:r>
                        <a:rPr sz="1600" b="0">
                          <a:solidFill>
                            <a:srgbClr val="3669E8"/>
                          </a:solidFill>
                          <a:latin typeface="Calibri"/>
                        </a:rPr>
                        <a:t>@LoluPH</a:t>
                      </a:r>
                    </a:p>
                  </a:txBody>
                  <a:tcPr marL="36576" marR="36576" marT="54864" marB="54864" anchor="ctr">
                    <a:noFill/>
                  </a:tcPr>
                </a:tc>
                <a:tc>
                  <a:txBody>
                    <a:bodyPr/>
                    <a:lstStyle/>
                    <a:p>
                      <a:pPr algn="l"/>
                      <a:r>
                        <a:rPr sz="1600" b="0">
                          <a:solidFill>
                            <a:srgbClr val="111111"/>
                          </a:solidFill>
                          <a:latin typeface="Calibri"/>
                        </a:rPr>
                        <a:t>Presentation and slides</a:t>
                      </a:r>
                    </a:p>
                  </a:txBody>
                  <a:tcPr marL="36576" marR="36576" marT="54864" marB="54864" anchor="ctr">
                    <a:noFill/>
                  </a:tcPr>
                </a:tc>
                <a:extLst>
                  <a:ext uri="{0D108BD9-81ED-4DB2-BD59-A6C34878D82A}">
                    <a16:rowId xmlns:a16="http://schemas.microsoft.com/office/drawing/2014/main" val="10004"/>
                  </a:ext>
                </a:extLst>
              </a:tr>
              <a:tr h="630936">
                <a:tc>
                  <a:txBody>
                    <a:bodyPr/>
                    <a:lstStyle/>
                    <a:p>
                      <a:pPr algn="l"/>
                      <a:r>
                        <a:rPr sz="1700" b="1">
                          <a:solidFill>
                            <a:srgbClr val="111111"/>
                          </a:solidFill>
                          <a:latin typeface="Calibri"/>
                        </a:rPr>
                        <a:t>Tasnim Hassan</a:t>
                      </a:r>
                    </a:p>
                  </a:txBody>
                  <a:tcPr marL="36576" marR="36576" marT="54864" marB="54864" anchor="ctr">
                    <a:noFill/>
                  </a:tcPr>
                </a:tc>
                <a:tc>
                  <a:txBody>
                    <a:bodyPr/>
                    <a:lstStyle/>
                    <a:p>
                      <a:pPr algn="l"/>
                      <a:r>
                        <a:rPr sz="1600" b="0">
                          <a:solidFill>
                            <a:srgbClr val="3669E8"/>
                          </a:solidFill>
                          <a:latin typeface="Calibri"/>
                        </a:rPr>
                        <a:t>@tasnimrh</a:t>
                      </a:r>
                    </a:p>
                  </a:txBody>
                  <a:tcPr marL="36576" marR="36576" marT="54864" marB="54864" anchor="ctr">
                    <a:noFill/>
                  </a:tcPr>
                </a:tc>
                <a:tc>
                  <a:txBody>
                    <a:bodyPr/>
                    <a:lstStyle/>
                    <a:p>
                      <a:pPr algn="l"/>
                      <a:r>
                        <a:rPr sz="1600" b="0">
                          <a:solidFill>
                            <a:srgbClr val="111111"/>
                          </a:solidFill>
                          <a:latin typeface="Calibri"/>
                        </a:rPr>
                        <a:t>Tuning, ensembles, final test</a:t>
                      </a:r>
                    </a:p>
                  </a:txBody>
                  <a:tcPr marL="36576" marR="36576" marT="54864" marB="54864" anchor="ctr">
                    <a:noFill/>
                  </a:tcPr>
                </a:tc>
                <a:extLst>
                  <a:ext uri="{0D108BD9-81ED-4DB2-BD59-A6C34878D82A}">
                    <a16:rowId xmlns:a16="http://schemas.microsoft.com/office/drawing/2014/main" val="10005"/>
                  </a:ext>
                </a:extLst>
              </a:tr>
              <a:tr h="630936">
                <a:tc>
                  <a:txBody>
                    <a:bodyPr/>
                    <a:lstStyle/>
                    <a:p>
                      <a:pPr algn="l"/>
                      <a:r>
                        <a:rPr sz="1700" b="1">
                          <a:solidFill>
                            <a:srgbClr val="111111"/>
                          </a:solidFill>
                          <a:latin typeface="Calibri"/>
                        </a:rPr>
                        <a:t>Mia Scalabrin</a:t>
                      </a:r>
                    </a:p>
                  </a:txBody>
                  <a:tcPr marL="36576" marR="36576" marT="54864" marB="54864" anchor="ctr">
                    <a:noFill/>
                  </a:tcPr>
                </a:tc>
                <a:tc>
                  <a:txBody>
                    <a:bodyPr/>
                    <a:lstStyle/>
                    <a:p>
                      <a:pPr algn="l"/>
                      <a:r>
                        <a:rPr sz="1600" b="0">
                          <a:solidFill>
                            <a:srgbClr val="3669E8"/>
                          </a:solidFill>
                          <a:latin typeface="Calibri"/>
                        </a:rPr>
                        <a:t>@MiaMakarov</a:t>
                      </a:r>
                    </a:p>
                  </a:txBody>
                  <a:tcPr marL="36576" marR="36576" marT="54864" marB="54864" anchor="ctr">
                    <a:noFill/>
                  </a:tcPr>
                </a:tc>
                <a:tc>
                  <a:txBody>
                    <a:bodyPr/>
                    <a:lstStyle/>
                    <a:p>
                      <a:pPr algn="l"/>
                      <a:r>
                        <a:rPr sz="1600" b="0">
                          <a:solidFill>
                            <a:srgbClr val="111111"/>
                          </a:solidFill>
                          <a:latin typeface="Calibri"/>
                        </a:rPr>
                        <a:t>Preparing the data</a:t>
                      </a:r>
                    </a:p>
                  </a:txBody>
                  <a:tcPr marL="36576" marR="36576" marT="54864" marB="54864" anchor="ctr">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2965489" y="1418789"/>
            <a:ext cx="12153044" cy="6745149"/>
            <a:chOff x="0" y="0"/>
            <a:chExt cx="3200802" cy="1776500"/>
          </a:xfrm>
        </p:grpSpPr>
        <p:sp>
          <p:nvSpPr>
            <p:cNvPr id="4" name="Freeform 4"/>
            <p:cNvSpPr/>
            <p:nvPr/>
          </p:nvSpPr>
          <p:spPr>
            <a:xfrm>
              <a:off x="0" y="0"/>
              <a:ext cx="3200802" cy="1776500"/>
            </a:xfrm>
            <a:custGeom>
              <a:avLst/>
              <a:gdLst/>
              <a:ahLst/>
              <a:cxnLst/>
              <a:rect l="l" t="t" r="r" b="b"/>
              <a:pathLst>
                <a:path w="3200802" h="1776500">
                  <a:moveTo>
                    <a:pt x="32489" y="0"/>
                  </a:moveTo>
                  <a:lnTo>
                    <a:pt x="3168313" y="0"/>
                  </a:lnTo>
                  <a:cubicBezTo>
                    <a:pt x="3176930" y="0"/>
                    <a:pt x="3185193" y="3423"/>
                    <a:pt x="3191286" y="9516"/>
                  </a:cubicBezTo>
                  <a:cubicBezTo>
                    <a:pt x="3197379" y="15609"/>
                    <a:pt x="3200802" y="23872"/>
                    <a:pt x="3200802" y="32489"/>
                  </a:cubicBezTo>
                  <a:lnTo>
                    <a:pt x="3200802" y="1744011"/>
                  </a:lnTo>
                  <a:cubicBezTo>
                    <a:pt x="3200802" y="1761954"/>
                    <a:pt x="3186256" y="1776500"/>
                    <a:pt x="3168313" y="1776500"/>
                  </a:cubicBezTo>
                  <a:lnTo>
                    <a:pt x="32489" y="1776500"/>
                  </a:lnTo>
                  <a:cubicBezTo>
                    <a:pt x="23872" y="1776500"/>
                    <a:pt x="15609" y="1773077"/>
                    <a:pt x="9516" y="1766984"/>
                  </a:cubicBezTo>
                  <a:cubicBezTo>
                    <a:pt x="3423" y="1760892"/>
                    <a:pt x="0" y="1752628"/>
                    <a:pt x="0" y="1744011"/>
                  </a:cubicBezTo>
                  <a:lnTo>
                    <a:pt x="0" y="32489"/>
                  </a:lnTo>
                  <a:cubicBezTo>
                    <a:pt x="0" y="23872"/>
                    <a:pt x="3423" y="15609"/>
                    <a:pt x="9516" y="9516"/>
                  </a:cubicBezTo>
                  <a:cubicBezTo>
                    <a:pt x="15609" y="3423"/>
                    <a:pt x="23872" y="0"/>
                    <a:pt x="32489" y="0"/>
                  </a:cubicBezTo>
                  <a:close/>
                </a:path>
              </a:pathLst>
            </a:custGeom>
            <a:solidFill>
              <a:srgbClr val="3669E8"/>
            </a:solidFill>
            <a:ln w="66675" cap="rnd">
              <a:solidFill>
                <a:srgbClr val="000000"/>
              </a:solidFill>
              <a:prstDash val="solid"/>
              <a:round/>
            </a:ln>
          </p:spPr>
          <p:txBody>
            <a:bodyPr/>
            <a:lstStyle/>
            <a:p>
              <a:endParaRPr lang="en-US"/>
            </a:p>
          </p:txBody>
        </p:sp>
        <p:sp>
          <p:nvSpPr>
            <p:cNvPr id="5" name="TextBox 5"/>
            <p:cNvSpPr txBox="1"/>
            <p:nvPr/>
          </p:nvSpPr>
          <p:spPr>
            <a:xfrm>
              <a:off x="0" y="-38100"/>
              <a:ext cx="3200802" cy="1814600"/>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8485927" y="7517365"/>
            <a:ext cx="1316146" cy="1293146"/>
          </a:xfrm>
          <a:custGeom>
            <a:avLst/>
            <a:gdLst/>
            <a:ahLst/>
            <a:cxnLst/>
            <a:rect l="l" t="t" r="r" b="b"/>
            <a:pathLst>
              <a:path w="1316146" h="1293146">
                <a:moveTo>
                  <a:pt x="0" y="0"/>
                </a:moveTo>
                <a:lnTo>
                  <a:pt x="1316146" y="0"/>
                </a:lnTo>
                <a:lnTo>
                  <a:pt x="1316146" y="1293146"/>
                </a:lnTo>
                <a:lnTo>
                  <a:pt x="0" y="1293146"/>
                </a:lnTo>
                <a:lnTo>
                  <a:pt x="0" y="0"/>
                </a:lnTo>
                <a:close/>
              </a:path>
            </a:pathLst>
          </a:custGeom>
          <a:blipFill>
            <a:blip>
              <a:extLst>
                <a:ext uri="{96DAC541-7B7A-43D3-8B79-37D633B846F1}">
                  <asvg:svgBlip xmlns:asvg="http://schemas.microsoft.com/office/drawing/2016/SVG/main" r:embed="rId4"/>
                </a:ext>
              </a:extLst>
            </a:blip>
            <a:stretch>
              <a:fillRect r="-138187"/>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Appendix title"/>
          <p:cNvSpPr txBox="1"/>
          <p:nvPr/>
        </p:nvSpPr>
        <p:spPr>
          <a:xfrm>
            <a:off x="3931920" y="2377440"/>
            <a:ext cx="10241280" cy="1463040"/>
          </a:xfrm>
          <a:prstGeom prst="rect">
            <a:avLst/>
          </a:prstGeom>
          <a:noFill/>
        </p:spPr>
        <p:txBody>
          <a:bodyPr wrap="square" lIns="0" tIns="0" rIns="0" bIns="0" anchor="ctr">
            <a:spAutoFit/>
          </a:bodyPr>
          <a:lstStyle/>
          <a:p>
            <a:pPr algn="ctr">
              <a:spcAft>
                <a:spcPts val="600"/>
              </a:spcAft>
            </a:pPr>
            <a:r>
              <a:rPr sz="6000" b="0" i="0">
                <a:solidFill>
                  <a:srgbClr val="89EDD0"/>
                </a:solidFill>
                <a:latin typeface="Arial Black"/>
              </a:rPr>
              <a:t>Appendix</a:t>
            </a:r>
          </a:p>
        </p:txBody>
      </p:sp>
      <p:sp>
        <p:nvSpPr>
          <p:cNvPr id="14" name="Appendix subtitle"/>
          <p:cNvSpPr txBox="1"/>
          <p:nvPr/>
        </p:nvSpPr>
        <p:spPr>
          <a:xfrm>
            <a:off x="3931920" y="4023360"/>
            <a:ext cx="10241280" cy="2011680"/>
          </a:xfrm>
          <a:prstGeom prst="rect">
            <a:avLst/>
          </a:prstGeom>
          <a:noFill/>
        </p:spPr>
        <p:txBody>
          <a:bodyPr wrap="square" lIns="0" tIns="0" rIns="0" bIns="0" anchor="t">
            <a:spAutoFit/>
          </a:bodyPr>
          <a:lstStyle/>
          <a:p>
            <a:pPr algn="ctr">
              <a:spcAft>
                <a:spcPts val="600"/>
              </a:spcAft>
            </a:pPr>
            <a:r>
              <a:rPr sz="2400" b="0" i="0">
                <a:solidFill>
                  <a:srgbClr val="FFFFFF"/>
                </a:solidFill>
                <a:latin typeface="Calibri"/>
              </a:rPr>
              <a:t>Backup slides for Q&amp;A: full benchmark, leakage controls, validation choices, late rate by state, and test results by month</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BACKUP · README 4.1</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Full model comparison, 5-fold time-series CV</a:t>
            </a:r>
          </a:p>
        </p:txBody>
      </p:sp>
      <p:sp>
        <p:nvSpPr>
          <p:cNvPr id="15" name="Benchmark card"/>
          <p:cNvSpPr/>
          <p:nvPr/>
        </p:nvSpPr>
        <p:spPr>
          <a:xfrm>
            <a:off x="731520" y="2377440"/>
            <a:ext cx="16824960" cy="6400800"/>
          </a:xfrm>
          <a:prstGeom prst="roundRect">
            <a:avLst>
              <a:gd name="adj" fmla="val 2285"/>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6" name="Benchmark table"/>
          <p:cNvGraphicFramePr>
            <a:graphicFrameLocks noGrp="1"/>
          </p:cNvGraphicFramePr>
          <p:nvPr/>
        </p:nvGraphicFramePr>
        <p:xfrm>
          <a:off x="1005840" y="2606040"/>
          <a:ext cx="16276320" cy="5669280"/>
        </p:xfrm>
        <a:graphic>
          <a:graphicData uri="http://schemas.openxmlformats.org/drawingml/2006/table">
            <a:tbl>
              <a:tblPr>
                <a:tableStyleId>{2D5ABB26-0587-4C30-8999-92F81FD0307C}</a:tableStyleId>
              </a:tblPr>
              <a:tblGrid>
                <a:gridCol w="512064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gridCol w="1920240">
                  <a:extLst>
                    <a:ext uri="{9D8B030D-6E8A-4147-A177-3AD203B41FA5}">
                      <a16:colId xmlns:a16="http://schemas.microsoft.com/office/drawing/2014/main" val="20005"/>
                    </a:ext>
                  </a:extLst>
                </a:gridCol>
              </a:tblGrid>
              <a:tr h="566928">
                <a:tc>
                  <a:txBody>
                    <a:bodyPr/>
                    <a:lstStyle/>
                    <a:p>
                      <a:pPr algn="l"/>
                      <a:r>
                        <a:rPr sz="1700" b="1">
                          <a:solidFill>
                            <a:srgbClr val="3669E8"/>
                          </a:solidFill>
                          <a:latin typeface="Calibri"/>
                        </a:rPr>
                        <a:t>Model</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Lift</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PR-AUC</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Recall top 10%</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ROC-AUC</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Fit time / fold</a:t>
                      </a:r>
                    </a:p>
                  </a:txBody>
                  <a:tcPr marL="109728" marR="109728" marT="54864" marB="54864" anchor="ctr">
                    <a:lnL>
                      <a:noFill/>
                    </a:lnL>
                    <a:lnR>
                      <a:noFill/>
                    </a:lnR>
                    <a:lnT>
                      <a:noFill/>
                    </a:lnT>
                    <a:lnB w="25400">
                      <a:solidFill>
                        <a:srgbClr val="111111"/>
                      </a:solidFill>
                    </a:lnB>
                    <a:noFill/>
                  </a:tcPr>
                </a:tc>
                <a:extLst>
                  <a:ext uri="{0D108BD9-81ED-4DB2-BD59-A6C34878D82A}">
                    <a16:rowId xmlns:a16="http://schemas.microsoft.com/office/drawing/2014/main" val="10000"/>
                  </a:ext>
                </a:extLst>
              </a:tr>
              <a:tr h="566928">
                <a:tc>
                  <a:txBody>
                    <a:bodyPr/>
                    <a:lstStyle/>
                    <a:p>
                      <a:pPr algn="l"/>
                      <a:r>
                        <a:rPr sz="1600" b="1">
                          <a:solidFill>
                            <a:srgbClr val="111111"/>
                          </a:solidFill>
                          <a:latin typeface="Calibri"/>
                        </a:rPr>
                        <a:t>Logistic regression</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600" b="1">
                          <a:solidFill>
                            <a:srgbClr val="111111"/>
                          </a:solidFill>
                          <a:latin typeface="Calibri"/>
                        </a:rPr>
                        <a:t>1.81 ± 0.21</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600" b="1">
                          <a:solidFill>
                            <a:srgbClr val="111111"/>
                          </a:solidFill>
                          <a:latin typeface="Calibri"/>
                        </a:rPr>
                        <a:t>0.158 ± 0.122</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600" b="1">
                          <a:solidFill>
                            <a:srgbClr val="111111"/>
                          </a:solidFill>
                          <a:latin typeface="Calibri"/>
                        </a:rPr>
                        <a:t>21.5% ± 2.7</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600" b="1">
                          <a:solidFill>
                            <a:srgbClr val="111111"/>
                          </a:solidFill>
                          <a:latin typeface="Calibri"/>
                        </a:rPr>
                        <a:t>0.667 ± 0.032</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600" b="1">
                          <a:solidFill>
                            <a:srgbClr val="111111"/>
                          </a:solidFill>
                          <a:latin typeface="Calibri"/>
                        </a:rPr>
                        <a:t>0.8 s</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1"/>
                  </a:ext>
                </a:extLst>
              </a:tr>
              <a:tr h="566928">
                <a:tc>
                  <a:txBody>
                    <a:bodyPr/>
                    <a:lstStyle/>
                    <a:p>
                      <a:pPr algn="l"/>
                      <a:r>
                        <a:rPr sz="1600" b="0">
                          <a:solidFill>
                            <a:srgbClr val="111111"/>
                          </a:solidFill>
                          <a:latin typeface="Calibri"/>
                        </a:rPr>
                        <a:t>Logistic regression, balanced</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1.81 ± 0.19</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0.157 ± 0.118</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21.5% ± 2.4</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0.664 ± 0.031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1.9 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2"/>
                  </a:ext>
                </a:extLst>
              </a:tr>
              <a:tr h="566928">
                <a:tc>
                  <a:txBody>
                    <a:bodyPr/>
                    <a:lstStyle/>
                    <a:p>
                      <a:pPr algn="l"/>
                      <a:r>
                        <a:rPr sz="1600" b="0">
                          <a:solidFill>
                            <a:srgbClr val="111111"/>
                          </a:solidFill>
                          <a:latin typeface="Calibri"/>
                        </a:rPr>
                        <a:t>B1: promised days + customer state</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1.76 ± 0.35</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0.150 ± 0.107</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20.1% ± 5.1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0.646 ± 0.035</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0.2 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3"/>
                  </a:ext>
                </a:extLst>
              </a:tr>
              <a:tr h="566928">
                <a:tc>
                  <a:txBody>
                    <a:bodyPr/>
                    <a:lstStyle/>
                    <a:p>
                      <a:pPr algn="l"/>
                      <a:r>
                        <a:rPr sz="1600" b="0">
                          <a:solidFill>
                            <a:srgbClr val="111111"/>
                          </a:solidFill>
                          <a:latin typeface="Calibri"/>
                        </a:rPr>
                        <a:t>Linear SVM</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1.76 ± 0.26</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0.155 ± 0.121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20.8% ± 3.1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0.663 ± 0.033</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0.7 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4"/>
                  </a:ext>
                </a:extLst>
              </a:tr>
              <a:tr h="566928">
                <a:tc>
                  <a:txBody>
                    <a:bodyPr/>
                    <a:lstStyle/>
                    <a:p>
                      <a:pPr algn="l"/>
                      <a:r>
                        <a:rPr sz="1600" b="0">
                          <a:solidFill>
                            <a:srgbClr val="111111"/>
                          </a:solidFill>
                          <a:latin typeface="Calibri"/>
                        </a:rPr>
                        <a:t>Random forest</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1.61 ± 0.16</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0.141 ± 0.107</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18.6% ± 2.2</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0.638 ± 0.029</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18.1 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5"/>
                  </a:ext>
                </a:extLst>
              </a:tr>
              <a:tr h="566928">
                <a:tc>
                  <a:txBody>
                    <a:bodyPr/>
                    <a:lstStyle/>
                    <a:p>
                      <a:pPr algn="l"/>
                      <a:r>
                        <a:rPr sz="1600" b="0">
                          <a:solidFill>
                            <a:srgbClr val="111111"/>
                          </a:solidFill>
                          <a:latin typeface="Calibri"/>
                        </a:rPr>
                        <a:t>Gradient boosting (HistGB)</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1.54 ± 0.24</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0.139 ± 0.109</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17.1% ± 3.6</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0.620 ± 0.049</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7.1 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6"/>
                  </a:ext>
                </a:extLst>
              </a:tr>
              <a:tr h="566928">
                <a:tc>
                  <a:txBody>
                    <a:bodyPr/>
                    <a:lstStyle/>
                    <a:p>
                      <a:pPr algn="l"/>
                      <a:r>
                        <a:rPr sz="1600" b="0">
                          <a:solidFill>
                            <a:srgbClr val="111111"/>
                          </a:solidFill>
                          <a:latin typeface="Calibri"/>
                        </a:rPr>
                        <a:t>Gaussian naive Bayes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1.37 ± 0.11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0.119 ± 0.089</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14.8% ± 1.0</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0.603 ± 0.025</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0.3 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7"/>
                  </a:ext>
                </a:extLst>
              </a:tr>
              <a:tr h="566928">
                <a:tc>
                  <a:txBody>
                    <a:bodyPr/>
                    <a:lstStyle/>
                    <a:p>
                      <a:pPr algn="l"/>
                      <a:r>
                        <a:rPr sz="1600" b="0">
                          <a:solidFill>
                            <a:srgbClr val="111111"/>
                          </a:solidFill>
                          <a:latin typeface="Calibri"/>
                        </a:rPr>
                        <a:t>Decision tree</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1.25 ± 0.16</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0.110 ± 0.084</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15.4% ± 2.1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0.569 ± 0.034</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0.5 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8"/>
                  </a:ext>
                </a:extLst>
              </a:tr>
              <a:tr h="566928">
                <a:tc>
                  <a:txBody>
                    <a:bodyPr/>
                    <a:lstStyle/>
                    <a:p>
                      <a:pPr algn="l"/>
                      <a:r>
                        <a:rPr sz="1600" b="0">
                          <a:solidFill>
                            <a:srgbClr val="111111"/>
                          </a:solidFill>
                          <a:latin typeface="Calibri"/>
                        </a:rPr>
                        <a:t>B0: random</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600" b="0">
                          <a:solidFill>
                            <a:srgbClr val="111111"/>
                          </a:solidFill>
                          <a:latin typeface="Calibri"/>
                        </a:rPr>
                        <a:t>1.00 ± 0.03</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600" b="0">
                          <a:solidFill>
                            <a:srgbClr val="111111"/>
                          </a:solidFill>
                          <a:latin typeface="Calibri"/>
                        </a:rPr>
                        <a:t>0.088 ± 0.067</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600" b="0">
                          <a:solidFill>
                            <a:srgbClr val="111111"/>
                          </a:solidFill>
                          <a:latin typeface="Calibri"/>
                        </a:rPr>
                        <a:t>9.9% ± 0.9</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600" b="0">
                          <a:solidFill>
                            <a:srgbClr val="111111"/>
                          </a:solidFill>
                          <a:latin typeface="Calibri"/>
                        </a:rPr>
                        <a:t>0.501 ± 0.007</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600" b="0">
                          <a:solidFill>
                            <a:srgbClr val="111111"/>
                          </a:solidFill>
                          <a:latin typeface="Calibri"/>
                        </a:rPr>
                        <a:t>0 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BACKUP · README 3.4, DECISIONS D3–D10</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How we kept the future out of the model</a:t>
            </a:r>
          </a:p>
        </p:txBody>
      </p:sp>
      <p:sp>
        <p:nvSpPr>
          <p:cNvPr id="15" name="Leakage card"/>
          <p:cNvSpPr/>
          <p:nvPr/>
        </p:nvSpPr>
        <p:spPr>
          <a:xfrm>
            <a:off x="731520" y="2377440"/>
            <a:ext cx="16824960" cy="6400800"/>
          </a:xfrm>
          <a:prstGeom prst="roundRect">
            <a:avLst>
              <a:gd name="adj" fmla="val 2285"/>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6" name="Leakage table"/>
          <p:cNvGraphicFramePr>
            <a:graphicFrameLocks noGrp="1"/>
          </p:cNvGraphicFramePr>
          <p:nvPr/>
        </p:nvGraphicFramePr>
        <p:xfrm>
          <a:off x="1005840" y="2606040"/>
          <a:ext cx="16276320" cy="5888736"/>
        </p:xfrm>
        <a:graphic>
          <a:graphicData uri="http://schemas.openxmlformats.org/drawingml/2006/table">
            <a:tbl>
              <a:tblPr>
                <a:tableStyleId>{2D5ABB26-0587-4C30-8999-92F81FD0307C}</a:tableStyleId>
              </a:tblPr>
              <a:tblGrid>
                <a:gridCol w="4206240">
                  <a:extLst>
                    <a:ext uri="{9D8B030D-6E8A-4147-A177-3AD203B41FA5}">
                      <a16:colId xmlns:a16="http://schemas.microsoft.com/office/drawing/2014/main" val="20000"/>
                    </a:ext>
                  </a:extLst>
                </a:gridCol>
                <a:gridCol w="12070080">
                  <a:extLst>
                    <a:ext uri="{9D8B030D-6E8A-4147-A177-3AD203B41FA5}">
                      <a16:colId xmlns:a16="http://schemas.microsoft.com/office/drawing/2014/main" val="20001"/>
                    </a:ext>
                  </a:extLst>
                </a:gridCol>
              </a:tblGrid>
              <a:tr h="841248">
                <a:tc>
                  <a:txBody>
                    <a:bodyPr/>
                    <a:lstStyle/>
                    <a:p>
                      <a:pPr algn="l"/>
                      <a:r>
                        <a:rPr sz="1700" b="1">
                          <a:solidFill>
                            <a:srgbClr val="3669E8"/>
                          </a:solidFill>
                          <a:latin typeface="Calibri"/>
                        </a:rPr>
                        <a:t>Only approval-time features</a:t>
                      </a:r>
                    </a:p>
                  </a:txBody>
                  <a:tcPr marL="109728" marR="109728" marT="54864" marB="54864" anchor="ctr">
                    <a:lnL>
                      <a:noFill/>
                    </a:lnL>
                    <a:lnR>
                      <a:noFill/>
                    </a:lnR>
                    <a:lnT>
                      <a:noFill/>
                    </a:lnT>
                    <a:lnB w="12700">
                      <a:solidFill>
                        <a:srgbClr val="C9D3EE"/>
                      </a:solidFill>
                    </a:lnB>
                    <a:noFill/>
                  </a:tcPr>
                </a:tc>
                <a:tc>
                  <a:txBody>
                    <a:bodyPr/>
                    <a:lstStyle/>
                    <a:p>
                      <a:pPr algn="l"/>
                      <a:r>
                        <a:rPr sz="1600" b="0">
                          <a:solidFill>
                            <a:srgbClr val="111111"/>
                          </a:solidFill>
                          <a:latin typeface="Calibri"/>
                        </a:rPr>
                        <a:t>Timing, location, distance, order size and cost, product. Delivery dates, status and reviews are banned (config.BANNED_FEATURE_COLUMNS).</a:t>
                      </a:r>
                    </a:p>
                  </a:txBody>
                  <a:tcPr marL="109728" marR="109728" marT="54864" marB="54864" anchor="ctr">
                    <a:lnL>
                      <a:noFill/>
                    </a:lnL>
                    <a:lnR>
                      <a:noFill/>
                    </a:lnR>
                    <a:lnT>
                      <a:noFill/>
                    </a:lnT>
                    <a:lnB w="12700">
                      <a:solidFill>
                        <a:srgbClr val="C9D3EE"/>
                      </a:solidFill>
                    </a:lnB>
                    <a:noFill/>
                  </a:tcPr>
                </a:tc>
                <a:extLst>
                  <a:ext uri="{0D108BD9-81ED-4DB2-BD59-A6C34878D82A}">
                    <a16:rowId xmlns:a16="http://schemas.microsoft.com/office/drawing/2014/main" val="10000"/>
                  </a:ext>
                </a:extLst>
              </a:tr>
              <a:tr h="841248">
                <a:tc>
                  <a:txBody>
                    <a:bodyPr/>
                    <a:lstStyle/>
                    <a:p>
                      <a:pPr algn="l"/>
                      <a:r>
                        <a:rPr sz="1700" b="1">
                          <a:solidFill>
                            <a:srgbClr val="3669E8"/>
                          </a:solidFill>
                          <a:latin typeface="Calibri"/>
                        </a:rPr>
                        <a:t>Time split</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600" b="0">
                          <a:solidFill>
                            <a:srgbClr val="111111"/>
                          </a:solidFill>
                          <a:latin typeface="Calibri"/>
                        </a:rPr>
                        <a:t>Train on purchases before 1 Apr 2018, test on Apr–Jul 2018. A random split lets the model learn from the future.</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1"/>
                  </a:ext>
                </a:extLst>
              </a:tr>
              <a:tr h="841248">
                <a:tc>
                  <a:txBody>
                    <a:bodyPr/>
                    <a:lstStyle/>
                    <a:p>
                      <a:pPr algn="l"/>
                      <a:r>
                        <a:rPr sz="1700" b="1">
                          <a:solidFill>
                            <a:srgbClr val="3669E8"/>
                          </a:solidFill>
                          <a:latin typeface="Calibri"/>
                        </a:rPr>
                        <a:t>2,000-order gap</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600" b="0">
                          <a:solidFill>
                            <a:srgbClr val="111111"/>
                          </a:solidFill>
                          <a:latin typeface="Calibri"/>
                        </a:rPr>
                        <a:t>Before every validation fold and the test set: those orders' outcomes weren't known yet.</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2"/>
                  </a:ext>
                </a:extLst>
              </a:tr>
              <a:tr h="841248">
                <a:tc>
                  <a:txBody>
                    <a:bodyPr/>
                    <a:lstStyle/>
                    <a:p>
                      <a:pPr algn="l"/>
                      <a:r>
                        <a:rPr sz="1700" b="1">
                          <a:solidFill>
                            <a:srgbClr val="3669E8"/>
                          </a:solidFill>
                          <a:latin typeface="Calibri"/>
                        </a:rPr>
                        <a:t>Pipeline inside the folds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600" b="0">
                          <a:solidFill>
                            <a:srgbClr val="111111"/>
                          </a:solidFill>
                          <a:latin typeface="Calibri"/>
                        </a:rPr>
                        <a:t>Imputation, log transform, scaling and encoding are refitted on each fold's training part only.</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3"/>
                  </a:ext>
                </a:extLst>
              </a:tr>
              <a:tr h="841248">
                <a:tc>
                  <a:txBody>
                    <a:bodyPr/>
                    <a:lstStyle/>
                    <a:p>
                      <a:pPr algn="l"/>
                      <a:r>
                        <a:rPr sz="1700" b="1">
                          <a:solidFill>
                            <a:srgbClr val="3669E8"/>
                          </a:solidFill>
                          <a:latin typeface="Calibri"/>
                        </a:rPr>
                        <a:t>History features</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600" b="0">
                          <a:solidFill>
                            <a:srgbClr val="111111"/>
                          </a:solidFill>
                          <a:latin typeface="Calibri"/>
                        </a:rPr>
                        <a:t>Seller and route history may only use orders delivered before the current purchase (D10).</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4"/>
                  </a:ext>
                </a:extLst>
              </a:tr>
              <a:tr h="841248">
                <a:tc>
                  <a:txBody>
                    <a:bodyPr/>
                    <a:lstStyle/>
                    <a:p>
                      <a:pPr algn="l"/>
                      <a:r>
                        <a:rPr sz="1700" b="1">
                          <a:solidFill>
                            <a:srgbClr val="3669E8"/>
                          </a:solidFill>
                          <a:latin typeface="Calibri"/>
                        </a:rPr>
                        <a:t>Censoring rule</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600" b="0">
                          <a:solidFill>
                            <a:srgbClr val="111111"/>
                          </a:solidFill>
                          <a:latin typeface="Calibri"/>
                        </a:rPr>
                        <a:t>Orders promised after 1 Aug 2018 are dropped: their late deliveries would not yet show up.</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5"/>
                  </a:ext>
                </a:extLst>
              </a:tr>
              <a:tr h="841248">
                <a:tc>
                  <a:txBody>
                    <a:bodyPr/>
                    <a:lstStyle/>
                    <a:p>
                      <a:pPr algn="l"/>
                      <a:r>
                        <a:rPr sz="1700" b="1">
                          <a:solidFill>
                            <a:srgbClr val="3669E8"/>
                          </a:solidFill>
                          <a:latin typeface="Calibri"/>
                        </a:rPr>
                        <a:t>Calendar-day target</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l"/>
                      <a:r>
                        <a:rPr sz="1600" b="0">
                          <a:solidFill>
                            <a:srgbClr val="111111"/>
                          </a:solidFill>
                          <a:latin typeface="Calibri"/>
                        </a:rPr>
                        <a:t>Late = delivered on a later day than promised. Timestamps would inflate the rate from 6.8% to 8.1%.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BACKUP · README 2.3</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Where the order goes: late rate by customer state</a:t>
            </a:r>
          </a:p>
        </p:txBody>
      </p:sp>
      <p:sp>
        <p:nvSpPr>
          <p:cNvPr id="15" name="State card"/>
          <p:cNvSpPr/>
          <p:nvPr/>
        </p:nvSpPr>
        <p:spPr>
          <a:xfrm>
            <a:off x="731520" y="2377440"/>
            <a:ext cx="16824960" cy="6400800"/>
          </a:xfrm>
          <a:prstGeom prst="roundRect">
            <a:avLst>
              <a:gd name="adj" fmla="val 2285"/>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pic>
        <p:nvPicPr>
          <p:cNvPr id="16" name="State chart (Hasan)" descr="06_late_rate_by_customer_state.png"/>
          <p:cNvPicPr>
            <a:picLocks noChangeAspect="1"/>
          </p:cNvPicPr>
          <p:nvPr/>
        </p:nvPicPr>
        <p:blipFill>
          <a:blip r:embed="rId5"/>
          <a:stretch>
            <a:fillRect/>
          </a:stretch>
        </p:blipFill>
        <p:spPr>
          <a:xfrm>
            <a:off x="1097280" y="2560320"/>
            <a:ext cx="6701386" cy="6035040"/>
          </a:xfrm>
          <a:prstGeom prst="rect">
            <a:avLst/>
          </a:prstGeom>
        </p:spPr>
      </p:pic>
      <p:sp>
        <p:nvSpPr>
          <p:cNvPr id="17" name="State text"/>
          <p:cNvSpPr txBox="1"/>
          <p:nvPr/>
        </p:nvSpPr>
        <p:spPr>
          <a:xfrm>
            <a:off x="7680960" y="2926080"/>
            <a:ext cx="9509760" cy="5486400"/>
          </a:xfrm>
          <a:prstGeom prst="rect">
            <a:avLst/>
          </a:prstGeom>
          <a:noFill/>
        </p:spPr>
        <p:txBody>
          <a:bodyPr wrap="square" lIns="0" tIns="0" rIns="0" bIns="0" anchor="t">
            <a:spAutoFit/>
          </a:bodyPr>
          <a:lstStyle/>
          <a:p>
            <a:pPr algn="l">
              <a:spcAft>
                <a:spcPts val="1600"/>
              </a:spcAft>
            </a:pPr>
            <a:r>
              <a:rPr sz="2000" b="1" i="0">
                <a:solidFill>
                  <a:srgbClr val="111111"/>
                </a:solidFill>
                <a:latin typeface="Calibri"/>
              </a:rPr>
              <a:t>North-eastern states are worst: </a:t>
            </a:r>
            <a:r>
              <a:rPr sz="2000" b="0" i="0">
                <a:solidFill>
                  <a:srgbClr val="111111"/>
                </a:solidFill>
                <a:latin typeface="Calibri"/>
              </a:rPr>
              <a:t>Alagoas 25.0%, Maranhão 19.6%, Sergipe 17.3%, Ceará 16.1%, vs São Paulo 4.8% (40% of orders).</a:t>
            </a:r>
          </a:p>
          <a:p>
            <a:pPr algn="l">
              <a:spcAft>
                <a:spcPts val="1600"/>
              </a:spcAft>
            </a:pPr>
            <a:r>
              <a:rPr sz="2000" b="1" i="0">
                <a:solidFill>
                  <a:srgbClr val="111111"/>
                </a:solidFill>
                <a:latin typeface="Calibri"/>
              </a:rPr>
              <a:t>Rio vs Minas Gerais: </a:t>
            </a:r>
            <a:r>
              <a:rPr sz="2000" b="0" i="0">
                <a:solidFill>
                  <a:srgbClr val="111111"/>
                </a:solidFill>
                <a:latin typeface="Calibri"/>
              </a:rPr>
              <a:t>15.6% vs 5.3% late, even though Rio's customers are closer to their sellers and get the same promise.</a:t>
            </a:r>
          </a:p>
          <a:p>
            <a:pPr algn="l">
              <a:spcAft>
                <a:spcPts val="1600"/>
              </a:spcAft>
            </a:pPr>
            <a:r>
              <a:rPr sz="2000" b="1" i="0">
                <a:solidFill>
                  <a:srgbClr val="111111"/>
                </a:solidFill>
                <a:latin typeface="Calibri"/>
              </a:rPr>
              <a:t>Customer state is the strongest single feature </a:t>
            </a:r>
            <a:r>
              <a:rPr sz="2000" b="0" i="0">
                <a:solidFill>
                  <a:srgbClr val="111111"/>
                </a:solidFill>
                <a:latin typeface="Calibri"/>
              </a:rPr>
              <a:t>(AUC 0.633 on its own).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BACKUP · README 5.1–5.2</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Tuning and ensembles: what we tried</a:t>
            </a:r>
          </a:p>
        </p:txBody>
      </p:sp>
      <p:sp>
        <p:nvSpPr>
          <p:cNvPr id="15" name="Tuning card"/>
          <p:cNvSpPr/>
          <p:nvPr/>
        </p:nvSpPr>
        <p:spPr>
          <a:xfrm>
            <a:off x="731520" y="2377440"/>
            <a:ext cx="16824960" cy="6400800"/>
          </a:xfrm>
          <a:prstGeom prst="roundRect">
            <a:avLst>
              <a:gd name="adj" fmla="val 2285"/>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graphicFrame>
        <p:nvGraphicFramePr>
          <p:cNvPr id="16" name="Tuning table"/>
          <p:cNvGraphicFramePr>
            <a:graphicFrameLocks noGrp="1"/>
          </p:cNvGraphicFramePr>
          <p:nvPr/>
        </p:nvGraphicFramePr>
        <p:xfrm>
          <a:off x="1005840" y="2606040"/>
          <a:ext cx="16276320" cy="4352544"/>
        </p:xfrm>
        <a:graphic>
          <a:graphicData uri="http://schemas.openxmlformats.org/drawingml/2006/table">
            <a:tbl>
              <a:tblPr>
                <a:tableStyleId>{2D5ABB26-0587-4C30-8999-92F81FD0307C}</a:tableStyleId>
              </a:tblPr>
              <a:tblGrid>
                <a:gridCol w="512064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737360">
                  <a:extLst>
                    <a:ext uri="{9D8B030D-6E8A-4147-A177-3AD203B41FA5}">
                      <a16:colId xmlns:a16="http://schemas.microsoft.com/office/drawing/2014/main" val="20003"/>
                    </a:ext>
                  </a:extLst>
                </a:gridCol>
                <a:gridCol w="2103120">
                  <a:extLst>
                    <a:ext uri="{9D8B030D-6E8A-4147-A177-3AD203B41FA5}">
                      <a16:colId xmlns:a16="http://schemas.microsoft.com/office/drawing/2014/main" val="20004"/>
                    </a:ext>
                  </a:extLst>
                </a:gridCol>
              </a:tblGrid>
              <a:tr h="621792">
                <a:tc>
                  <a:txBody>
                    <a:bodyPr/>
                    <a:lstStyle/>
                    <a:p>
                      <a:pPr algn="l"/>
                      <a:r>
                        <a:rPr sz="1700" b="1">
                          <a:solidFill>
                            <a:srgbClr val="3669E8"/>
                          </a:solidFill>
                          <a:latin typeface="Calibri"/>
                        </a:rPr>
                        <a:t>Model (cross-validated)</a:t>
                      </a:r>
                    </a:p>
                  </a:txBody>
                  <a:tcPr marL="109728" marR="109728" marT="54864" marB="54864" anchor="ctr">
                    <a:lnL>
                      <a:noFill/>
                    </a:lnL>
                    <a:lnR>
                      <a:noFill/>
                    </a:lnR>
                    <a:lnT>
                      <a:noFill/>
                    </a:lnT>
                    <a:lnB w="25400">
                      <a:solidFill>
                        <a:srgbClr val="111111"/>
                      </a:solidFill>
                    </a:lnB>
                    <a:noFill/>
                  </a:tcPr>
                </a:tc>
                <a:tc>
                  <a:txBody>
                    <a:bodyPr/>
                    <a:lstStyle/>
                    <a:p>
                      <a:pPr algn="l"/>
                      <a:r>
                        <a:rPr sz="1700" b="1">
                          <a:solidFill>
                            <a:srgbClr val="3669E8"/>
                          </a:solidFill>
                          <a:latin typeface="Calibri"/>
                        </a:rPr>
                        <a:t>Selected settings</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PR-AUC</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Lift</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Recall top 10%</a:t>
                      </a:r>
                    </a:p>
                  </a:txBody>
                  <a:tcPr marL="109728" marR="109728" marT="54864" marB="54864" anchor="ctr">
                    <a:lnL>
                      <a:noFill/>
                    </a:lnL>
                    <a:lnR>
                      <a:noFill/>
                    </a:lnR>
                    <a:lnT>
                      <a:noFill/>
                    </a:lnT>
                    <a:lnB w="25400">
                      <a:solidFill>
                        <a:srgbClr val="111111"/>
                      </a:solidFill>
                    </a:lnB>
                    <a:noFill/>
                  </a:tcPr>
                </a:tc>
                <a:extLst>
                  <a:ext uri="{0D108BD9-81ED-4DB2-BD59-A6C34878D82A}">
                    <a16:rowId xmlns:a16="http://schemas.microsoft.com/office/drawing/2014/main" val="10000"/>
                  </a:ext>
                </a:extLst>
              </a:tr>
              <a:tr h="621792">
                <a:tc>
                  <a:txBody>
                    <a:bodyPr/>
                    <a:lstStyle/>
                    <a:p>
                      <a:pPr algn="l"/>
                      <a:r>
                        <a:rPr sz="1600" b="0">
                          <a:solidFill>
                            <a:srgbClr val="111111"/>
                          </a:solidFill>
                          <a:latin typeface="Calibri"/>
                        </a:rPr>
                        <a:t>LR, untuned</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l"/>
                      <a:r>
                        <a:rPr sz="1600" b="0">
                          <a:solidFill>
                            <a:srgbClr val="111111"/>
                          </a:solidFill>
                          <a:latin typeface="Calibri"/>
                        </a:rPr>
                        <a:t>C = 1</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0.158</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1.81</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21.5%</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1"/>
                  </a:ext>
                </a:extLst>
              </a:tr>
              <a:tr h="621792">
                <a:tc>
                  <a:txBody>
                    <a:bodyPr/>
                    <a:lstStyle/>
                    <a:p>
                      <a:pPr algn="l"/>
                      <a:r>
                        <a:rPr sz="1600" b="0">
                          <a:solidFill>
                            <a:srgbClr val="111111"/>
                          </a:solidFill>
                          <a:latin typeface="Calibri"/>
                        </a:rPr>
                        <a:t>LR, tuned</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600" b="0">
                          <a:solidFill>
                            <a:srgbClr val="111111"/>
                          </a:solidFill>
                          <a:latin typeface="Calibri"/>
                        </a:rPr>
                        <a:t>L1, C = 0.157, rare categories &lt; 20 grouped</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0.161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1.87</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22.5%</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2"/>
                  </a:ext>
                </a:extLst>
              </a:tr>
              <a:tr h="621792">
                <a:tc>
                  <a:txBody>
                    <a:bodyPr/>
                    <a:lstStyle/>
                    <a:p>
                      <a:pPr algn="l"/>
                      <a:r>
                        <a:rPr sz="1600" b="1">
                          <a:solidFill>
                            <a:srgbClr val="111111"/>
                          </a:solidFill>
                          <a:latin typeface="Calibri"/>
                        </a:rPr>
                        <a:t>LR, tuned, no purchase_month (final)</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600" b="1">
                          <a:solidFill>
                            <a:srgbClr val="111111"/>
                          </a:solidFill>
                          <a:latin typeface="Calibri"/>
                        </a:rPr>
                        <a:t>as above</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1">
                          <a:solidFill>
                            <a:srgbClr val="111111"/>
                          </a:solidFill>
                          <a:latin typeface="Calibri"/>
                        </a:rPr>
                        <a:t>0.168</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1">
                          <a:solidFill>
                            <a:srgbClr val="111111"/>
                          </a:solidFill>
                          <a:latin typeface="Calibri"/>
                        </a:rPr>
                        <a:t>1.98</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1">
                          <a:solidFill>
                            <a:srgbClr val="111111"/>
                          </a:solidFill>
                          <a:latin typeface="Calibri"/>
                        </a:rPr>
                        <a:t>23.7%</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3"/>
                  </a:ext>
                </a:extLst>
              </a:tr>
              <a:tr h="621792">
                <a:tc>
                  <a:txBody>
                    <a:bodyPr/>
                    <a:lstStyle/>
                    <a:p>
                      <a:pPr algn="l"/>
                      <a:r>
                        <a:rPr sz="1600" b="0">
                          <a:solidFill>
                            <a:srgbClr val="111111"/>
                          </a:solidFill>
                          <a:latin typeface="Calibri"/>
                        </a:rPr>
                        <a:t>Random forest, tuned, no month</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600" b="0">
                          <a:solidFill>
                            <a:srgbClr val="111111"/>
                          </a:solidFill>
                          <a:latin typeface="Calibri"/>
                        </a:rPr>
                        <a:t>depth 12, ≥ 18 orders per leaf</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0.161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1.80</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20.7%</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4"/>
                  </a:ext>
                </a:extLst>
              </a:tr>
              <a:tr h="621792">
                <a:tc>
                  <a:txBody>
                    <a:bodyPr/>
                    <a:lstStyle/>
                    <a:p>
                      <a:pPr algn="l"/>
                      <a:r>
                        <a:rPr sz="1600" b="0">
                          <a:solidFill>
                            <a:srgbClr val="111111"/>
                          </a:solidFill>
                          <a:latin typeface="Calibri"/>
                        </a:rPr>
                        <a:t>HistGB, tuned, no month</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l"/>
                      <a:r>
                        <a:rPr sz="1600" b="0">
                          <a:solidFill>
                            <a:srgbClr val="111111"/>
                          </a:solidFill>
                          <a:latin typeface="Calibri"/>
                        </a:rPr>
                        <a:t>learning rate 0.014, 395 trees, L2 4.9</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0.157</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1.79</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600" b="0">
                          <a:solidFill>
                            <a:srgbClr val="111111"/>
                          </a:solidFill>
                          <a:latin typeface="Calibri"/>
                        </a:rPr>
                        <a:t>21.5%</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5"/>
                  </a:ext>
                </a:extLst>
              </a:tr>
              <a:tr h="621792">
                <a:tc>
                  <a:txBody>
                    <a:bodyPr/>
                    <a:lstStyle/>
                    <a:p>
                      <a:pPr algn="l"/>
                      <a:r>
                        <a:rPr sz="1600" b="0">
                          <a:solidFill>
                            <a:srgbClr val="111111"/>
                          </a:solidFill>
                          <a:latin typeface="Calibri"/>
                        </a:rPr>
                        <a:t>Best ensemble (weighted vote)</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l"/>
                      <a:r>
                        <a:rPr sz="1600" b="0">
                          <a:solidFill>
                            <a:srgbClr val="111111"/>
                          </a:solidFill>
                          <a:latin typeface="Calibri"/>
                        </a:rPr>
                        <a:t>2×LR + RF + HistGB</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600" b="0">
                          <a:solidFill>
                            <a:srgbClr val="111111"/>
                          </a:solidFill>
                          <a:latin typeface="Calibri"/>
                        </a:rPr>
                        <a:t>0.168</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600" b="0">
                          <a:solidFill>
                            <a:srgbClr val="111111"/>
                          </a:solidFill>
                          <a:latin typeface="Calibri"/>
                        </a:rPr>
                        <a:t>1.94</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600" b="0">
                          <a:solidFill>
                            <a:srgbClr val="111111"/>
                          </a:solidFill>
                          <a:latin typeface="Calibri"/>
                        </a:rPr>
                        <a:t>23.1%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extLst>
                  <a:ext uri="{0D108BD9-81ED-4DB2-BD59-A6C34878D82A}">
                    <a16:rowId xmlns:a16="http://schemas.microsoft.com/office/drawing/2014/main" val="10006"/>
                  </a:ext>
                </a:extLst>
              </a:tr>
            </a:tbl>
          </a:graphicData>
        </a:graphic>
      </p:graphicFrame>
      <p:sp>
        <p:nvSpPr>
          <p:cNvPr id="17" name="Rule text"/>
          <p:cNvSpPr txBox="1"/>
          <p:nvPr/>
        </p:nvSpPr>
        <p:spPr>
          <a:xfrm>
            <a:off x="1005840" y="7406640"/>
            <a:ext cx="16276320" cy="1280160"/>
          </a:xfrm>
          <a:prstGeom prst="rect">
            <a:avLst/>
          </a:prstGeom>
          <a:noFill/>
        </p:spPr>
        <p:txBody>
          <a:bodyPr wrap="square" lIns="0" tIns="0" rIns="0" bIns="0" anchor="t">
            <a:spAutoFit/>
          </a:bodyPr>
          <a:lstStyle/>
          <a:p>
            <a:pPr algn="l">
              <a:spcAft>
                <a:spcPts val="600"/>
              </a:spcAft>
            </a:pPr>
            <a:r>
              <a:rPr sz="1700" b="0" i="0">
                <a:solidFill>
                  <a:srgbClr val="111111"/>
                </a:solidFill>
                <a:latin typeface="Calibri"/>
              </a:rPr>
              <a:t>Rule fixed in advance: a more complex model replaces LR only if it is better on at least 4 of 5 folds and its average gain exceeds one standard error. No ensemble passed. Stacking was not used: time-series folds don't partition the data, so its meta-model would learn from future orders.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BFD1FF"/>
        </a:solidFill>
        <a:effectLst/>
      </p:bgPr>
    </p:bg>
    <p:spTree>
      <p:nvGrpSpPr>
        <p:cNvPr id="1" name=""/>
        <p:cNvGrpSpPr/>
        <p:nvPr/>
      </p:nvGrpSpPr>
      <p:grpSpPr>
        <a:xfrm>
          <a:off x="0" y="0"/>
          <a:ext cx="0" cy="0"/>
          <a:chOff x="0" y="0"/>
          <a:chExt cx="0" cy="0"/>
        </a:xfrm>
      </p:grpSpPr>
      <p:sp>
        <p:nvSpPr>
          <p:cNvPr id="2" name="Freeform 2"/>
          <p:cNvSpPr/>
          <p:nvPr/>
        </p:nvSpPr>
        <p:spPr>
          <a:xfrm flipH="1">
            <a:off x="-128424" y="4136738"/>
            <a:ext cx="21021583" cy="5542054"/>
          </a:xfrm>
          <a:custGeom>
            <a:avLst/>
            <a:gdLst/>
            <a:ahLst/>
            <a:cxnLst/>
            <a:rect l="l" t="t" r="r" b="b"/>
            <a:pathLst>
              <a:path w="21021583" h="5542054">
                <a:moveTo>
                  <a:pt x="21021584" y="0"/>
                </a:moveTo>
                <a:lnTo>
                  <a:pt x="0" y="0"/>
                </a:lnTo>
                <a:lnTo>
                  <a:pt x="0" y="5542054"/>
                </a:lnTo>
                <a:lnTo>
                  <a:pt x="21021584" y="5542054"/>
                </a:lnTo>
                <a:lnTo>
                  <a:pt x="21021584"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a:off x="-128424"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0" name="Freeform 10"/>
          <p:cNvSpPr/>
          <p:nvPr/>
        </p:nvSpPr>
        <p:spPr>
          <a:xfrm>
            <a:off x="4442687"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1" name="Freeform 11"/>
          <p:cNvSpPr/>
          <p:nvPr/>
        </p:nvSpPr>
        <p:spPr>
          <a:xfrm>
            <a:off x="9042011"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2" name="Freeform 12"/>
          <p:cNvSpPr/>
          <p:nvPr/>
        </p:nvSpPr>
        <p:spPr>
          <a:xfrm>
            <a:off x="13641335" y="9420225"/>
            <a:ext cx="4775089" cy="1014706"/>
          </a:xfrm>
          <a:custGeom>
            <a:avLst/>
            <a:gdLst/>
            <a:ahLst/>
            <a:cxnLst/>
            <a:rect l="l" t="t" r="r" b="b"/>
            <a:pathLst>
              <a:path w="4775089" h="1014706">
                <a:moveTo>
                  <a:pt x="0" y="0"/>
                </a:moveTo>
                <a:lnTo>
                  <a:pt x="4775089" y="0"/>
                </a:lnTo>
                <a:lnTo>
                  <a:pt x="4775089" y="1014706"/>
                </a:lnTo>
                <a:lnTo>
                  <a:pt x="0" y="1014706"/>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US"/>
          </a:p>
        </p:txBody>
      </p:sp>
      <p:sp>
        <p:nvSpPr>
          <p:cNvPr id="13" name="Section tag"/>
          <p:cNvSpPr txBox="1"/>
          <p:nvPr/>
        </p:nvSpPr>
        <p:spPr>
          <a:xfrm>
            <a:off x="731520" y="411480"/>
            <a:ext cx="16824960" cy="411480"/>
          </a:xfrm>
          <a:prstGeom prst="rect">
            <a:avLst/>
          </a:prstGeom>
          <a:noFill/>
        </p:spPr>
        <p:txBody>
          <a:bodyPr wrap="square" lIns="0" tIns="0" rIns="0" bIns="0" anchor="t">
            <a:spAutoFit/>
          </a:bodyPr>
          <a:lstStyle/>
          <a:p>
            <a:pPr algn="l">
              <a:spcAft>
                <a:spcPts val="600"/>
              </a:spcAft>
            </a:pPr>
            <a:r>
              <a:rPr sz="1800" b="1" i="0">
                <a:solidFill>
                  <a:srgbClr val="3669E8"/>
                </a:solidFill>
                <a:latin typeface="Calibri"/>
              </a:rPr>
              <a:t>BACKUP · README 5.3–5.4</a:t>
            </a:r>
          </a:p>
        </p:txBody>
      </p:sp>
      <p:sp>
        <p:nvSpPr>
          <p:cNvPr id="14" name="Title"/>
          <p:cNvSpPr txBox="1"/>
          <p:nvPr/>
        </p:nvSpPr>
        <p:spPr>
          <a:xfrm>
            <a:off x="731520" y="804672"/>
            <a:ext cx="16824960" cy="1280160"/>
          </a:xfrm>
          <a:prstGeom prst="rect">
            <a:avLst/>
          </a:prstGeom>
          <a:noFill/>
        </p:spPr>
        <p:txBody>
          <a:bodyPr wrap="square" lIns="0" tIns="0" rIns="0" bIns="0" anchor="t">
            <a:spAutoFit/>
          </a:bodyPr>
          <a:lstStyle/>
          <a:p>
            <a:pPr algn="l">
              <a:lnSpc>
                <a:spcPct val="95000"/>
              </a:lnSpc>
              <a:spcAft>
                <a:spcPts val="600"/>
              </a:spcAft>
            </a:pPr>
            <a:r>
              <a:rPr sz="3600" b="0" i="0">
                <a:solidFill>
                  <a:srgbClr val="111111"/>
                </a:solidFill>
                <a:latin typeface="Arial Black"/>
              </a:rPr>
              <a:t>Test results by month, and why scores are a ranking</a:t>
            </a:r>
          </a:p>
        </p:txBody>
      </p:sp>
      <p:sp>
        <p:nvSpPr>
          <p:cNvPr id="15" name="Monthly card"/>
          <p:cNvSpPr/>
          <p:nvPr/>
        </p:nvSpPr>
        <p:spPr>
          <a:xfrm>
            <a:off x="731520" y="2377440"/>
            <a:ext cx="10058400" cy="6400800"/>
          </a:xfrm>
          <a:prstGeom prst="roundRect">
            <a:avLst>
              <a:gd name="adj" fmla="val 2285"/>
            </a:avLst>
          </a:prstGeom>
          <a:solidFill>
            <a:srgbClr val="FFFFFF"/>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6" name="Monthly title"/>
          <p:cNvSpPr txBox="1"/>
          <p:nvPr/>
        </p:nvSpPr>
        <p:spPr>
          <a:xfrm>
            <a:off x="1097280" y="2606040"/>
            <a:ext cx="9326880" cy="457200"/>
          </a:xfrm>
          <a:prstGeom prst="rect">
            <a:avLst/>
          </a:prstGeom>
          <a:noFill/>
        </p:spPr>
        <p:txBody>
          <a:bodyPr wrap="square" lIns="0" tIns="0" rIns="0" bIns="0" anchor="t">
            <a:spAutoFit/>
          </a:bodyPr>
          <a:lstStyle/>
          <a:p>
            <a:pPr algn="l">
              <a:spcAft>
                <a:spcPts val="600"/>
              </a:spcAft>
            </a:pPr>
            <a:r>
              <a:rPr sz="2100" b="1" i="0">
                <a:solidFill>
                  <a:srgbClr val="111111"/>
                </a:solidFill>
                <a:latin typeface="Calibri"/>
              </a:rPr>
              <a:t>Test set by month: final model vs B1</a:t>
            </a:r>
          </a:p>
        </p:txBody>
      </p:sp>
      <p:graphicFrame>
        <p:nvGraphicFramePr>
          <p:cNvPr id="17" name="Monthly table"/>
          <p:cNvGraphicFramePr>
            <a:graphicFrameLocks noGrp="1"/>
          </p:cNvGraphicFramePr>
          <p:nvPr/>
        </p:nvGraphicFramePr>
        <p:xfrm>
          <a:off x="1097280" y="3246120"/>
          <a:ext cx="9326880" cy="3108960"/>
        </p:xfrm>
        <a:graphic>
          <a:graphicData uri="http://schemas.openxmlformats.org/drawingml/2006/table">
            <a:tbl>
              <a:tblPr>
                <a:tableStyleId>{2D5ABB26-0587-4C30-8999-92F81FD0307C}</a:tableStyleId>
              </a:tblPr>
              <a:tblGrid>
                <a:gridCol w="2926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621792">
                <a:tc>
                  <a:txBody>
                    <a:bodyPr/>
                    <a:lstStyle/>
                    <a:p>
                      <a:pPr algn="l"/>
                      <a:r>
                        <a:rPr sz="1700" b="1">
                          <a:solidFill>
                            <a:srgbClr val="3669E8"/>
                          </a:solidFill>
                          <a:latin typeface="Calibri"/>
                        </a:rPr>
                        <a:t>Month</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Orders</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Late rate</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Lift: final</a:t>
                      </a:r>
                    </a:p>
                  </a:txBody>
                  <a:tcPr marL="109728" marR="109728" marT="54864" marB="54864" anchor="ctr">
                    <a:lnL>
                      <a:noFill/>
                    </a:lnL>
                    <a:lnR>
                      <a:noFill/>
                    </a:lnR>
                    <a:lnT>
                      <a:noFill/>
                    </a:lnT>
                    <a:lnB w="25400">
                      <a:solidFill>
                        <a:srgbClr val="111111"/>
                      </a:solidFill>
                    </a:lnB>
                    <a:noFill/>
                  </a:tcPr>
                </a:tc>
                <a:tc>
                  <a:txBody>
                    <a:bodyPr/>
                    <a:lstStyle/>
                    <a:p>
                      <a:pPr algn="r"/>
                      <a:r>
                        <a:rPr sz="1700" b="1">
                          <a:solidFill>
                            <a:srgbClr val="3669E8"/>
                          </a:solidFill>
                          <a:latin typeface="Calibri"/>
                        </a:rPr>
                        <a:t>Lift: B1</a:t>
                      </a:r>
                    </a:p>
                  </a:txBody>
                  <a:tcPr marL="109728" marR="109728" marT="54864" marB="54864" anchor="ctr">
                    <a:lnL>
                      <a:noFill/>
                    </a:lnL>
                    <a:lnR>
                      <a:noFill/>
                    </a:lnR>
                    <a:lnT>
                      <a:noFill/>
                    </a:lnT>
                    <a:lnB w="25400">
                      <a:solidFill>
                        <a:srgbClr val="111111"/>
                      </a:solidFill>
                    </a:lnB>
                    <a:noFill/>
                  </a:tcPr>
                </a:tc>
                <a:extLst>
                  <a:ext uri="{0D108BD9-81ED-4DB2-BD59-A6C34878D82A}">
                    <a16:rowId xmlns:a16="http://schemas.microsoft.com/office/drawing/2014/main" val="10000"/>
                  </a:ext>
                </a:extLst>
              </a:tr>
              <a:tr h="621792">
                <a:tc>
                  <a:txBody>
                    <a:bodyPr/>
                    <a:lstStyle/>
                    <a:p>
                      <a:pPr algn="l"/>
                      <a:r>
                        <a:rPr sz="1700" b="0">
                          <a:solidFill>
                            <a:srgbClr val="111111"/>
                          </a:solidFill>
                          <a:latin typeface="Calibri"/>
                        </a:rPr>
                        <a:t>Apr 2018</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6,798</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4.5%</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3.85</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3.31</a:t>
                      </a:r>
                    </a:p>
                  </a:txBody>
                  <a:tcPr marL="109728" marR="109728" marT="54864" marB="54864" anchor="ctr">
                    <a:lnL>
                      <a:noFill/>
                    </a:lnL>
                    <a:lnR>
                      <a:noFill/>
                    </a:lnR>
                    <a:lnT w="25400" cap="flat" cmpd="sng" algn="ctr">
                      <a:solidFill>
                        <a:srgbClr val="111111"/>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1"/>
                  </a:ext>
                </a:extLst>
              </a:tr>
              <a:tr h="621792">
                <a:tc>
                  <a:txBody>
                    <a:bodyPr/>
                    <a:lstStyle/>
                    <a:p>
                      <a:pPr algn="l"/>
                      <a:r>
                        <a:rPr sz="1700" b="0">
                          <a:solidFill>
                            <a:srgbClr val="111111"/>
                          </a:solidFill>
                          <a:latin typeface="Calibri"/>
                        </a:rPr>
                        <a:t>May 2018 (strike)</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6,743</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6.6%</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2.32</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1.88</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2"/>
                  </a:ext>
                </a:extLst>
              </a:tr>
              <a:tr h="621792">
                <a:tc>
                  <a:txBody>
                    <a:bodyPr/>
                    <a:lstStyle/>
                    <a:p>
                      <a:pPr algn="l"/>
                      <a:r>
                        <a:rPr sz="1700" b="0">
                          <a:solidFill>
                            <a:srgbClr val="111111"/>
                          </a:solidFill>
                          <a:latin typeface="Calibri"/>
                        </a:rPr>
                        <a:t>Jun 2018</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5,901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1.2%</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5.10</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tc>
                  <a:txBody>
                    <a:bodyPr/>
                    <a:lstStyle/>
                    <a:p>
                      <a:pPr algn="r"/>
                      <a:r>
                        <a:rPr sz="1700" b="0">
                          <a:solidFill>
                            <a:srgbClr val="111111"/>
                          </a:solidFill>
                          <a:latin typeface="Calibri"/>
                        </a:rPr>
                        <a:t>4.19</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w="12700">
                      <a:solidFill>
                        <a:srgbClr val="C9D3EE"/>
                      </a:solidFill>
                    </a:lnB>
                    <a:noFill/>
                  </a:tcPr>
                </a:tc>
                <a:extLst>
                  <a:ext uri="{0D108BD9-81ED-4DB2-BD59-A6C34878D82A}">
                    <a16:rowId xmlns:a16="http://schemas.microsoft.com/office/drawing/2014/main" val="10003"/>
                  </a:ext>
                </a:extLst>
              </a:tr>
              <a:tr h="621792">
                <a:tc>
                  <a:txBody>
                    <a:bodyPr/>
                    <a:lstStyle/>
                    <a:p>
                      <a:pPr algn="l"/>
                      <a:r>
                        <a:rPr sz="1700" b="0">
                          <a:solidFill>
                            <a:srgbClr val="111111"/>
                          </a:solidFill>
                          <a:latin typeface="Calibri"/>
                        </a:rPr>
                        <a:t>Jul 2018</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700" b="0">
                          <a:solidFill>
                            <a:srgbClr val="111111"/>
                          </a:solidFill>
                          <a:latin typeface="Calibri"/>
                        </a:rPr>
                        <a:t>1,891</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700" b="0">
                          <a:solidFill>
                            <a:srgbClr val="111111"/>
                          </a:solidFill>
                          <a:latin typeface="Calibri"/>
                        </a:rPr>
                        <a:t>3.0%</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700" b="0">
                          <a:solidFill>
                            <a:srgbClr val="111111"/>
                          </a:solidFill>
                          <a:latin typeface="Calibri"/>
                        </a:rPr>
                        <a:t>2.18</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tc>
                  <a:txBody>
                    <a:bodyPr/>
                    <a:lstStyle/>
                    <a:p>
                      <a:pPr algn="r"/>
                      <a:r>
                        <a:rPr sz="1700" b="0">
                          <a:solidFill>
                            <a:srgbClr val="111111"/>
                          </a:solidFill>
                          <a:latin typeface="Calibri"/>
                        </a:rPr>
                        <a:t>2.86</a:t>
                      </a:r>
                    </a:p>
                  </a:txBody>
                  <a:tcPr marL="109728" marR="109728" marT="54864" marB="54864" anchor="ctr">
                    <a:lnL>
                      <a:noFill/>
                    </a:lnL>
                    <a:lnR>
                      <a:noFill/>
                    </a:lnR>
                    <a:lnT w="12700" cap="flat" cmpd="sng" algn="ctr">
                      <a:solidFill>
                        <a:srgbClr val="C9D3EE"/>
                      </a:solidFill>
                      <a:prstDash val="solid"/>
                      <a:round/>
                      <a:headEnd type="none" w="med" len="med"/>
                      <a:tailEnd type="none" w="med" len="med"/>
                    </a:lnT>
                    <a:lnB>
                      <a:noFill/>
                    </a:lnB>
                    <a:noFill/>
                  </a:tcPr>
                </a:tc>
                <a:extLst>
                  <a:ext uri="{0D108BD9-81ED-4DB2-BD59-A6C34878D82A}">
                    <a16:rowId xmlns:a16="http://schemas.microsoft.com/office/drawing/2014/main" val="10004"/>
                  </a:ext>
                </a:extLst>
              </a:tr>
            </a:tbl>
          </a:graphicData>
        </a:graphic>
      </p:graphicFrame>
      <p:sp>
        <p:nvSpPr>
          <p:cNvPr id="18" name="Monthly note"/>
          <p:cNvSpPr txBox="1"/>
          <p:nvPr/>
        </p:nvSpPr>
        <p:spPr>
          <a:xfrm>
            <a:off x="1097280" y="6629400"/>
            <a:ext cx="9326880" cy="2011680"/>
          </a:xfrm>
          <a:prstGeom prst="rect">
            <a:avLst/>
          </a:prstGeom>
          <a:noFill/>
        </p:spPr>
        <p:txBody>
          <a:bodyPr wrap="square" lIns="0" tIns="0" rIns="0" bIns="0" anchor="t">
            <a:spAutoFit/>
          </a:bodyPr>
          <a:lstStyle/>
          <a:p>
            <a:pPr algn="l">
              <a:spcAft>
                <a:spcPts val="600"/>
              </a:spcAft>
            </a:pPr>
            <a:r>
              <a:rPr sz="1700" b="0" i="0">
                <a:solidFill>
                  <a:srgbClr val="111111"/>
                </a:solidFill>
                <a:latin typeface="Calibri"/>
              </a:rPr>
              <a:t>The final model beats B1 in April and May. June and July each have fewer than 75 late orders, so those comparisons are noisy. May coincides with Brazil's truck drivers' strike, a shock no feature can see.</a:t>
            </a:r>
          </a:p>
        </p:txBody>
      </p:sp>
      <p:sp>
        <p:nvSpPr>
          <p:cNvPr id="19" name="Calibration"/>
          <p:cNvSpPr/>
          <p:nvPr/>
        </p:nvSpPr>
        <p:spPr>
          <a:xfrm>
            <a:off x="11155680" y="2377440"/>
            <a:ext cx="6400800" cy="3017520"/>
          </a:xfrm>
          <a:prstGeom prst="roundRect">
            <a:avLst>
              <a:gd name="adj" fmla="val 4848"/>
            </a:avLst>
          </a:prstGeom>
          <a:solidFill>
            <a:srgbClr val="3669E8"/>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0" name="Calibration number"/>
          <p:cNvSpPr txBox="1"/>
          <p:nvPr/>
        </p:nvSpPr>
        <p:spPr>
          <a:xfrm>
            <a:off x="11475719" y="2606040"/>
            <a:ext cx="5760720" cy="1357884"/>
          </a:xfrm>
          <a:prstGeom prst="rect">
            <a:avLst/>
          </a:prstGeom>
          <a:noFill/>
        </p:spPr>
        <p:txBody>
          <a:bodyPr wrap="square" lIns="0" tIns="0" rIns="0" bIns="0" anchor="b">
            <a:spAutoFit/>
          </a:bodyPr>
          <a:lstStyle/>
          <a:p>
            <a:pPr algn="l">
              <a:spcAft>
                <a:spcPts val="600"/>
              </a:spcAft>
            </a:pPr>
            <a:r>
              <a:rPr sz="3400" b="0" i="0">
                <a:solidFill>
                  <a:srgbClr val="89EDD0"/>
                </a:solidFill>
                <a:latin typeface="Arial Black"/>
              </a:rPr>
              <a:t>8.1% vs 4.1%</a:t>
            </a:r>
          </a:p>
        </p:txBody>
      </p:sp>
      <p:sp>
        <p:nvSpPr>
          <p:cNvPr id="21" name="Calibration label"/>
          <p:cNvSpPr txBox="1"/>
          <p:nvPr/>
        </p:nvSpPr>
        <p:spPr>
          <a:xfrm>
            <a:off x="11475719" y="4009644"/>
            <a:ext cx="5760720" cy="1202436"/>
          </a:xfrm>
          <a:prstGeom prst="rect">
            <a:avLst/>
          </a:prstGeom>
          <a:noFill/>
        </p:spPr>
        <p:txBody>
          <a:bodyPr wrap="square" lIns="0" tIns="0" rIns="0" bIns="0" anchor="t">
            <a:spAutoFit/>
          </a:bodyPr>
          <a:lstStyle/>
          <a:p>
            <a:pPr algn="l">
              <a:spcAft>
                <a:spcPts val="600"/>
              </a:spcAft>
            </a:pPr>
            <a:r>
              <a:rPr sz="1800" b="0" i="0">
                <a:solidFill>
                  <a:srgbClr val="FFFFFF"/>
                </a:solidFill>
                <a:latin typeface="Calibri"/>
              </a:rPr>
              <a:t>mean predicted risk vs observed late rate on the test set</a:t>
            </a:r>
          </a:p>
        </p:txBody>
      </p:sp>
      <p:sp>
        <p:nvSpPr>
          <p:cNvPr id="22" name="Ranking card"/>
          <p:cNvSpPr/>
          <p:nvPr/>
        </p:nvSpPr>
        <p:spPr>
          <a:xfrm>
            <a:off x="11155680" y="5715000"/>
            <a:ext cx="6400800" cy="3063240"/>
          </a:xfrm>
          <a:prstGeom prst="roundRect">
            <a:avLst>
              <a:gd name="adj" fmla="val 4776"/>
            </a:avLst>
          </a:prstGeom>
          <a:solidFill>
            <a:srgbClr val="69D6B6"/>
          </a:solidFill>
          <a:ln w="57150">
            <a:solidFill>
              <a:srgbClr val="111111"/>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Ranking text"/>
          <p:cNvSpPr txBox="1"/>
          <p:nvPr/>
        </p:nvSpPr>
        <p:spPr>
          <a:xfrm>
            <a:off x="11475720" y="5852160"/>
            <a:ext cx="5760720" cy="2788920"/>
          </a:xfrm>
          <a:prstGeom prst="rect">
            <a:avLst/>
          </a:prstGeom>
          <a:noFill/>
        </p:spPr>
        <p:txBody>
          <a:bodyPr wrap="square" lIns="0" tIns="0" rIns="0" bIns="0" anchor="ctr">
            <a:spAutoFit/>
          </a:bodyPr>
          <a:lstStyle/>
          <a:p>
            <a:pPr algn="l">
              <a:spcAft>
                <a:spcPts val="600"/>
              </a:spcAft>
            </a:pPr>
            <a:r>
              <a:rPr sz="1700" b="1" i="0">
                <a:solidFill>
                  <a:srgbClr val="111111"/>
                </a:solidFill>
                <a:latin typeface="Calibri"/>
              </a:rPr>
              <a:t>Use it as a ranking. </a:t>
            </a:r>
            <a:r>
              <a:rPr sz="1700" b="0" i="0">
                <a:solidFill>
                  <a:srgbClr val="111111"/>
                </a:solidFill>
                <a:latin typeface="Calibri"/>
              </a:rPr>
              <a:t>The model learned from a period with twice the late rate. A cut-off chosen on training data would flag 10.9% of test orders instead of 10%, so flag the top 10% each day and recalibrate if real probabilities are needed.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4062</Words>
  <Application>Microsoft Macintosh PowerPoint</Application>
  <PresentationFormat>Custom</PresentationFormat>
  <Paragraphs>420</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 Black</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Green Flat E-Commerce Presentation</dc:title>
  <cp:lastModifiedBy>Jay  Malhotra</cp:lastModifiedBy>
  <cp:revision>2</cp:revision>
  <dcterms:created xsi:type="dcterms:W3CDTF">2006-08-16T00:00:00Z</dcterms:created>
  <dcterms:modified xsi:type="dcterms:W3CDTF">2026-10-29T19:34:49Z</dcterms:modified>
  <dc:identifier>DAHZJLGY0zw</dc:identifier>
</cp:coreProperties>
</file>